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1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slideMasters/slideMaster29.xml" ContentType="application/vnd.openxmlformats-officedocument.presentationml.slideMaster+xml"/>
  <Override PartName="/ppt/slides/slide29.xml" ContentType="application/vnd.openxmlformats-officedocument.presentationml.slide+xml"/>
  <Override PartName="/ppt/slideMasters/slideMaster30.xml" ContentType="application/vnd.openxmlformats-officedocument.presentationml.slideMaster+xml"/>
  <Override PartName="/ppt/slides/slide30.xml" ContentType="application/vnd.openxmlformats-officedocument.presentationml.slide+xml"/>
  <Override PartName="/ppt/slideMasters/slideMaster31.xml" ContentType="application/vnd.openxmlformats-officedocument.presentationml.slideMaster+xml"/>
  <Override PartName="/ppt/slides/slide31.xml" ContentType="application/vnd.openxmlformats-officedocument.presentationml.slide+xml"/>
  <Override PartName="/ppt/slideMasters/slideMaster32.xml" ContentType="application/vnd.openxmlformats-officedocument.presentationml.slideMaster+xml"/>
  <Override PartName="/ppt/slides/slide32.xml" ContentType="application/vnd.openxmlformats-officedocument.presentationml.slide+xml"/>
  <Override PartName="/ppt/slideMasters/slideMaster33.xml" ContentType="application/vnd.openxmlformats-officedocument.presentationml.slideMaster+xml"/>
  <Override PartName="/ppt/slides/slide33.xml" ContentType="application/vnd.openxmlformats-officedocument.presentationml.slide+xml"/>
  <Override PartName="/ppt/slideMasters/slideMaster34.xml" ContentType="application/vnd.openxmlformats-officedocument.presentationml.slideMaster+xml"/>
  <Override PartName="/ppt/slides/slide34.xml" ContentType="application/vnd.openxmlformats-officedocument.presentationml.slide+xml"/>
  <Override PartName="/ppt/slideMasters/slideMaster35.xml" ContentType="application/vnd.openxmlformats-officedocument.presentationml.slideMaster+xml"/>
  <Override PartName="/ppt/slides/slide35.xml" ContentType="application/vnd.openxmlformats-officedocument.presentationml.slide+xml"/>
  <Override PartName="/ppt/slideMasters/slideMaster36.xml" ContentType="application/vnd.openxmlformats-officedocument.presentationml.slideMaster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</p:sldIdLst>
  <p:notesMasterIdLst>
    <p:notesMasterId r:id="rId3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Обложка" id="{59c31e8d-a2b4-6b88-4000-5b11547e811e}">
          <p14:sldIdLst>
            <p14:sldId id="256"/>
            <p14:sldId id="257"/>
          </p14:sldIdLst>
        </p14:section>
        <p14:section name="Главное" id="{0cff6b53-3587-6490-0fdd-ed851d4c7d13}">
          <p14:sldIdLst>
            <p14:sldId id="258"/>
            <p14:sldId id="259"/>
            <p14:sldId id="260"/>
          </p14:sldIdLst>
        </p14:section>
        <p14:section name="Мир в цифрах" id="{4d5d64f3-be45-3736-c913-ee673437814b}">
          <p14:sldIdLst>
            <p14:sldId id="261"/>
            <p14:sldId id="262"/>
            <p14:sldId id="263"/>
          </p14:sldIdLst>
        </p14:section>
        <p14:section name="Кейсы" id="{e753e5c0-75e6-caf2-2a11-f0c368a33cb7}">
          <p14:sldIdLst>
            <p14:sldId id="264"/>
            <p14:sldId id="265"/>
            <p14:sldId id="266"/>
            <p14:sldId id="267"/>
            <p14:sldId id="268"/>
            <p14:sldId id="269"/>
            <p14:sldId id="270"/>
            <p14:sldId id="271"/>
            <p14:sldId id="272"/>
          </p14:sldIdLst>
        </p14:section>
        <p14:section name="Модель" id="{4986fe81-7321-293c-c290-a5be3f707199}">
          <p14:sldIdLst>
            <p14:sldId id="273"/>
            <p14:sldId id="274"/>
            <p14:sldId id="275"/>
            <p14:sldId id="276"/>
            <p14:sldId id="277"/>
          </p14:sldIdLst>
        </p14:section>
        <p14:section name="Этапы" id="{dafea6b6-7e7d-8f06-750a-eecf3a092912}">
          <p14:sldIdLst>
            <p14:sldId id="278"/>
            <p14:sldId id="279"/>
            <p14:sldId id="280"/>
            <p14:sldId id="281"/>
          </p14:sldIdLst>
        </p14:section>
        <p14:section name="Защита" id="{8dad03ba-7088-8e2c-8ebe-7d3b7f5b6e53}">
          <p14:sldIdLst>
            <p14:sldId id="282"/>
            <p14:sldId id="283"/>
            <p14:sldId id="284"/>
          </p14:sldIdLst>
        </p14:section>
        <p14:section name="Пилоты и партнеры" id="{1e29386c-2e02-4ffb-7250-8d0d67e27d82}">
          <p14:sldIdLst>
            <p14:sldId id="285"/>
            <p14:sldId id="286"/>
          </p14:sldIdLst>
        </p14:section>
        <p14:section name="План" id="{ba5bb7a8-d6e2-d020-8767-31432d3228da}">
          <p14:sldIdLst>
            <p14:sldId id="287"/>
            <p14:sldId id="288"/>
            <p14:sldId id="289"/>
            <p14:sldId id="290"/>
          </p14:sldIdLst>
        </p14:section>
        <p14:section name="Источники" id="{cd8477e6-5316-7fec-4b49-0774ce530b58}">
          <p14:sldIdLst>
            <p14:sldId id="291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slide" Target="slides/slide29.xml"/><Relationship Id="rId31" Type="http://schemas.openxmlformats.org/officeDocument/2006/relationships/slide" Target="slides/slide30.xml"/><Relationship Id="rId32" Type="http://schemas.openxmlformats.org/officeDocument/2006/relationships/slide" Target="slides/slide31.xml"/><Relationship Id="rId33" Type="http://schemas.openxmlformats.org/officeDocument/2006/relationships/slide" Target="slides/slide32.xml"/><Relationship Id="rId34" Type="http://schemas.openxmlformats.org/officeDocument/2006/relationships/slide" Target="slides/slide33.xml"/><Relationship Id="rId35" Type="http://schemas.openxmlformats.org/officeDocument/2006/relationships/slide" Target="slides/slide34.xml"/><Relationship Id="rId36" Type="http://schemas.openxmlformats.org/officeDocument/2006/relationships/slide" Target="slides/slide35.xml"/><Relationship Id="rId37" Type="http://schemas.openxmlformats.org/officeDocument/2006/relationships/slide" Target="slides/slide36.xml"/><Relationship Id="rId38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40" Type="http://schemas.openxmlformats.org/officeDocument/2006/relationships/viewProps" Target="viewProps.xml"/><Relationship Id="rId41" Type="http://schemas.openxmlformats.org/officeDocument/2006/relationships/theme" Target="theme/theme1.xml"/><Relationship Id="rId4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bar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Доля допущенных заявок, %</c:v>
                </c:pt>
              </c:strCache>
            </c:strRef>
          </c:tx>
          <c:spPr>
            <a:solidFill>
              <a:srgbClr val="059669"/>
            </a:solidFill>
            <a:effectLst/>
          </c:spPr>
          <c:invertIfNegative val="0"/>
          <c:dLbls>
            <c:numFmt formatCode="0&quot;%&quot;" sourceLinked="0"/>
            <c:txPr>
              <a:bodyPr/>
              <a:lstStyle/>
              <a:p>
                <a:pPr>
                  <a:defRPr b="1" i="0" strike="noStrike" sz="1100" u="none">
                    <a:solidFill>
                      <a:srgbClr val="0F2925"/>
                    </a:solidFill>
                    <a:latin typeface="+mn-l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52665F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dPt>
            <c:idx val="5"/>
            <c:invertIfNegative val="0"/>
            <c:bubble3D val="0"/>
            <c:spPr>
              <a:solidFill>
                <a:srgbClr val="059669"/>
              </a:solidFill>
              <a:effectLst/>
            </c:spPr>
          </c:dPt>
          <c:cat>
            <c:multiLvlStrRef>
              <c:f>Sheet1!$A$2:$A$7</c:f>
              <c:multiLvlStrCache>
                <c:ptCount val="6"/>
                <c:lvl>
                  <c:pt idx="0">
                    <c:v>Ofgem, окно 1 (только песочницы) · 3/30</c:v>
                  </c:pt>
                  <c:pt idx="1">
                    <c:v>ASIC Enhanced Sandbox (с 2020 г.) · 19/103</c:v>
                  </c:pt>
                  <c:pt idx="2">
                    <c:v>Блокчейн-песочница ЕС, когорта 1 · 20/87</c:v>
                  </c:pt>
                  <c:pt idx="3">
                    <c:v>FCA (2016 — дек. 2023) · 172/629</c:v>
                  </c:pt>
                  <c:pt idx="4">
                    <c:v>ADGM RegLab (по авг. 2019) · 32/83</c:v>
                  </c:pt>
                  <c:pt idx="5">
                    <c:v>DFSA ITL (по июнь 2021) · 51/105</c:v>
                  </c:pt>
                </c:lvl>
              </c:multiLvlStrCache>
            </c:multiLvl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10</c:v>
                </c:pt>
                <c:pt idx="1">
                  <c:v>18.4</c:v>
                </c:pt>
                <c:pt idx="2">
                  <c:v>23</c:v>
                </c:pt>
                <c:pt idx="3">
                  <c:v>27.3</c:v>
                </c:pt>
                <c:pt idx="4">
                  <c:v>38.6</c:v>
                </c:pt>
                <c:pt idx="5">
                  <c:v>48.6</c:v>
                </c:pt>
              </c:numCache>
            </c:numRef>
          </c:val>
        </c:ser>
        <c:dLbls>
          <c:numFmt formatCode="0&quot;%&quot;" sourceLinked="0"/>
          <c:txPr>
            <a:bodyPr/>
            <a:lstStyle/>
            <a:p>
              <a:pPr>
                <a:defRPr b="1" i="0" strike="noStrike" sz="1100" u="none">
                  <a:solidFill>
                    <a:srgbClr val="0F2925"/>
                  </a:solidFill>
                  <a:latin typeface="+mn-lt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5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l"/>
        <c:numFmt formatCode="General" sourceLinked="1"/>
        <c:majorTickMark val="out"/>
        <c:minorTickMark val="none"/>
        <c:tickLblPos val="nextTo"/>
        <c:spPr>
          <a:ln w="12700" cap="flat">
            <a:noFill/>
            <a:prstDash val="solid"/>
            <a:round/>
          </a:ln>
        </c:spPr>
        <c:txPr>
          <a:bodyPr/>
          <a:lstStyle/>
          <a:p>
            <a:pPr>
              <a:defRPr sz="1050" b="0" i="0" u="none" strike="noStrike">
                <a:solidFill>
                  <a:srgbClr val="0F2925"/>
                </a:solidFill>
                <a:latin typeface="+mn-lt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60"/>
          <c:min val="0"/>
        </c:scaling>
        <c:delete val="1"/>
        <c:axPos val="b"/>
        <c:numFmt formatCode="General" sourceLinked="0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_rels/notesSlide2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9.xml"/>
		</Relationships>
</file>

<file path=ppt/notesSlides/_rels/notesSlide3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0.xml"/>
		</Relationships>
</file>

<file path=ppt/notesSlides/_rels/notesSlide3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1.xml"/>
		</Relationships>
</file>

<file path=ppt/notesSlides/_rels/notesSlide3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2.xml"/>
		</Relationships>
</file>

<file path=ppt/notesSlides/_rels/notesSlide3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3.xml"/>
		</Relationships>
</file>

<file path=ppt/notesSlides/_rels/notesSlide3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4.xml"/>
		</Relationships>
</file>

<file path=ppt/notesSlides/_rels/notesSlide3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5.xml"/>
		</Relationships>
</file>

<file path=ppt/notesSlides/_rels/notesSlide3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Интерактивная презентация к стратегическому отчету о регуляторной песочнице МЦЦТ (Enterprise Uzbekistan). Основа — отчет на русском и английском языках и рабочая модель МЦЦТ из презентации «EU_Sandbox_10102026». Навигация: вкладки вверху каждого слайда, кликабельные карточки и элементы схем, вкладка «Меню» возвращает к навигатору. Ссылки работают в режиме показа слайдов (F5); в режиме редактирования — по Ctrl+щелчку.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Восемь разделов повторяют логику отчета: от международных данных к модели МЦЦТ, защите пользователей, пилотам и плану запуска. Каждая карточка кликабельна; номера слайдов указаны внизу карточки.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Пять выводов главы 1 отчета. Метки: R — данные регулятора, I — независимая оценка, P — по данным организатора, T — цель, а не результат. Цифры не сверены с полными текстами первоисточников (Приложение D отчета). Дополнительно: тестирование ИИ расширяется — у HKMA с 15 сценариев (дек. 2024) до 36 в Sandbox++ (авг. 2026, R); ни одна песочница для ИИ еще не опубликовала независимой оценки итогов. Карточки кликабельны.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Десять рекомендаций главы 1. Сроки отсчитываются от Дня 0 — принятия отчета Советом; День запуска намечен на День 90 (около М3). Строки кликабельны и ведут к подробным слайдам.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Постановления Совета требуются по D1, D2, D3, D4b, D5, D8, D9 и D12; Председатель дает поручение по D4a и утверждает D11. Для сведения: D7 (цифровая платформа) и D10 (система KPI). Если День 0 наступит позже, День запуска сдвинется вместе с ним. До вступления закона в силу действующей основой, предположительно, остается нормативная база на уровне указов (подлежит подтверждению юрисконсультами).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Иллюстрация 1 отчета. Определения различаются по программам: цифры нельзя ранжировать. Ни одна из четырнадцати программ сравнительного анализа не публикует прошедших аудит данных об экономии времени или затрат на соблюдение требований. Плитки кликабельны.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Иллюстрация 2 отчета. Корейская песочница ИКТ 2019 г. исключена: нет источника для цифр 278/195. Зеленый — данные регулятора (R); серый — изложение обзора в прессе (S). Вывод: допуск в песочницу ценен как сигнал только при строгом отборе.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Иллюстрация 3a отчета. Свою роль могли сыграть критерии допуска, координация и порядок выхода, однако сокращение числа заявок указывает и на слабый спрос — поэтому МЦЦТ следует проверить спрос, а не исходить из его наличия. Строки кликабельны.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Восемь избранных примеров главы 3 отчета. В каждом кейсе блоки «Что ввели» и «Опубликованные результаты» — данные источников с метками; вывод и проектное решение — анализ и рекомендация (A). Ни одна цифра пока не сверена с полным текстом первичного документа.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FCA (Великобритания): допуск — сигнал для инвесторов. Вывод для МЦЦТ: Место в песочнице ценно как знак строгой проверки. Сила сигнала МЦЦТ определяется качеством отбора и опубликованными обоснованиями решений. Проектное решение: В каждом соглашении о тестировании — отслеживание итогов (финансирование, лицензия, выживаемость): при допуске, при выходе, через 12 и 24 месяца. Первые данные — около М18. Изменений законодательства не нужно: достаточно договорного условия. Источники: [S1] FCA, 2017; [S2] BIS WP 901; [S3] FCA FOI, май 2026; [S39]; [S40]; [S41]. Метки: R — данные регулятора, I — независимая оценка, P — по данным участника или организатора, S — вторичный источник, T — цель, D — расчет. Строки «Вывод» и «Решение» — анализ и рекомендация (A).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MAS (Сингапур): лицензии есть, гранты не сработали. Вывод для МЦЦТ: Заимствовать заранее определенные условия Express в узком объеме; не вводить грантовый трек без подтвержденного спроса; публиковать достигнутые результаты, а не только цели. Проектное решение: По данным мониторинга когорты 1 (М9–М12) подготовить две низкорисковые категории со стандартными условиями; пилот Экспресс-трека — примерно с М13–М14. Решение — в течение 21 календарного дня после полной заявки (плановое допущение), ежеквартальный отчет о соблюдении. Источники: [S7] MAS, ответ парламенту 14.10.2025; [S8] Sandbox Express; [S9] Sandbox Plus. Метки: R — данные регулятора, I — независимая оценка, P — по данным участника или организатора, S — вторичный источник, T — цель, D — расчет. Строки «Вывод» и «Решение» — анализ и рекомендация (A).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FCA Digital Sandbox: данные ускоряют разработку. Вывод для МЦЦТ: Синтетические данные и защищенная тестовая среда — базовая услуга с первых допусков; спецификацию качества данных согласовать с участниками. Проектное решение: М2–М6: минимальная тестовая среда; запуск в М6 для первых пилотов — отдельный контур для каждого участника, синтетические данные для P1 и P3, API-шлюз, журналирование. Эксплуатацию можно поручить внешнему оператору под контролем МЦЦТ. Источники: [S4] FCA Digital Sandbox; [S42]; [S43]; [S33]; [S44]. Метки: R — данные регулятора, I — независимая оценка, P — по данным участника или организатора, S — вторичный источник, T — цель, D — расчет. Строки «Вывод» и «Решение» — анализ и рекомендация (A).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ICO (Великобритания): разъяснения без права освобождать. Вывод для МЦЦТ: Трек разъяснений не требует полномочий на освобождение и может работать до окончательных правил. Позиции по национальным нормам — совместно с компетентным регулятором или как мнение МЦЦТ без обязательной силы. Проектное решение: Каждое дело в Треке разъяснений завершается письменной позицией в течение 30 рабочих дней после полного запроса (плановое допущение); позиция публикуется в обезличенном виде. Результат — публичная библиотека позиций. Источники: [S5] ICO; [S46] ICO, 2024; [S47]. Метки: R — данные регулятора, I — независимая оценка, P — по данным участника или организатора, S — вторичный источник, T — цель, D — расчет. Строки «Вывод» и «Решение» — анализ и рекомендация (A).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ADGM и DFSA (ОАЭ): заявителей много, выходов мало. Вывод для МЦЦТ: Регион уже привлекает заявителей. МЦЦТ должен выделиться специализацией на новых технологиях вне финансового сектора, опубликованными сроками с отчетом о соблюдении и критериями выхода с самого начала. Проектное решение: В каждом плане тестирования при допуске фиксируются доказательства для перехода на постоянный режим (лицензия, действующие правила или обновленный режим); переход отслеживается. С лицензирующим органом консультируются при проектировании теста — без обязательств для него. Источники: [S13]; [S14] DFSA; [S49] ADGM; [S50]. Метки: R — данные регулятора, I — независимая оценка, P — по данным участника или организатора, S — вторичный источник, T — цель, D — расчет. Строки «Вывод» и «Решение» — анализ и рекомендация (A).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TradeTech (WEF и ОАЭ): межрегуляторный тест осуществим. Вывод для МЦЦТ: Организатор диалога снижает издержки координации в пилотах с несколькими органами — если итоги раскрываются по каждому участнику, а нерешенные вопросы публикуются. Проектное решение: Пилот P2 (электронные торговые документы с проверкой на основе ИИ) — по единому плану тестирования с одним ведущим органом. Любой партнер, включая WEF, отчитывается по каждому участнику; рецензия WEF факультативна и вне критического пути. Источники: [S10]; [S11] WEF, окт. 2025; [S32]. Метки: R — данные регулятора, I — независимая оценка, P — по данным участника или организатора, S — вторичный источник, T — цель, D — расчет. Строки «Вывод» и «Решение» — анализ и рекомендация (A).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HKMA GenAI Sandbox: с 15 до 36 сценариев за два года. Вывод для МЦЦТ: Начать с одной тематической когорты и расширяться следующими раундами по итогам анализа; рассмотреть пары участников с технологическими партнерами. Проектное решение: Первый раунд полноформатной песочницы — единый набор пилотов ИИ и данных (не более 3–4): объявление — не позднее Дня 90, открытие — с принятием Правил (М4), первые допуски — М6. Решение о раунде 2 — на обзоре в М9. Источники: [S21] HKMA. Метки: R — данные регулятора, I — независимая оценка, P — по данным участника или организатора, S — вторичный источник, T — цель, D — расчет. Строки «Вывод» и «Решение» — анализ и рекомендация (A).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Песочницы ЕС: разъяснения вместо освобождений. Вывод для МЦЦТ: Отчет о лучших практиках по каждой когорте превращает диалог в разъяснения для всех и укрепляет авторитет организатора как нормотворца в сфере новых технологий. Проектное решение: Отчет о регуляторных выводах — в течение 60 календарных дней после завершения каждой когорты (для когорты 1 — около М14); утверждает Совет; выводы используются в Треке прототипирования регулирования. Источники: [S17] Европейская блокчейн-песочница; [S19] Испания; [S51]–[S54]. Метки: R — данные регулятора, I — независимая оценка, P — по данным участника или организатора, S — вторичный источник, T — цель, D — расчет. Строки «Вывод» и «Решение» — анализ и рекомендация (A).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Основа — схема из презентации МЦЦТ (семь этапов, Data Lake и фокус-группы при необходимости, правовые пределы на всем цикле). Из отчета добавлены нормативные сроки: девять этапов пути участника сведены к семи этапам МЦЦТ без изменения сроков. Сроки — плановые допущения, а не эталонные значения. Срок предоставления согласия регулятором устанавливается меморандумом. Элементы схемы кликабельны.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Сопоставление форматов модели МЦЦТ (техническое тестирование и регуляторный эксперимент) с треками отчета. На старте: Трек разъяснений (с Дня запуска) и полноформатная песочница (набор после принятия Правил — М4; первые допуски — М6). Экспресс-трек и трек прототипирования — пилотно после оценки когорты 1 (примерно М13–М14); трансграничный — во 2-й год при выполнении условия раздела 8.3. Грантовый трек не вводится без подтвержденного спроса.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Иллюстрации 11 и 11a отчета. Цифры — по опубликованным данным каждой программы; определения различаются, столбцы напрямую не сопоставимы. Межотраслевые песочницы есть и в других странах (Япония, Корея), поэтому ценность предложения МЦЦТ — в сочетании охвата, сроков и сервиса, а не в одном охвате. Сведения о судебном и налоговом режиме расходятся и в продвижении не используются.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Положения о песочнице известны по сообщениям прессы и юридических фирм, записям в официальных базах данных (lex.uz) и рабочим материалам МЦЦТ (W). Официальные тексты Указа УП-233 и ЗРУ-1169 еще не изучены, поэтому первый шаг плана — правовой спринт (Дни 20–25). Номера статей 39–43, 41 и 43 приведены по материалам МЦЦТ и не сверены с текстом закона. Матрица соответствия и пробелов в отчете — контрольный перечень для юристов, а не юридическое заключение.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Иллюстрации 7, 7a, 15 и 15a отчета. Модель МЦЦТ относит допуск к Администрации; отчет предлагает, чтобы решения о допуске, условиях и выходе принимал Комитет по песочнице при Администрации по делегированию Совета (запасной вариант — решения Совета в заочном порядке). Состав Комитета — рекомендация аналитика (A); аналогов с внешними экспертами, имеющими право голоса, не найдено. Распределение ролей подлежит сверке с полномочиями Совета (ст. 15–17 по рабочим материалам, W).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Семь этапов модели МЦЦТ с ответственными, решениями и нормативными сроками из отчета (Иллюстрации 8 и 9). Сквозной срок от полной заявки до решения о допуске — 50 р. д. (этапы 2–4). *Срок предоставления согласия регулятором устанавливается меморандумом о взаимопонимании. Решения об отказе, условиях, приостановлении, прекращении, продлении и варианте выхода можно оспорить (коллегия Совета из трех членов).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Расширенный вид семи этапов — по презентации МЦЦТ «EU_Sandbox_10102026». Строка «Ориентир» приведена по модели МЦЦТ; В отчете AFSA (FinTech Lab МФЦА) упоминается лишь справочно (Прил. A, Илл. 20), без анализа по этапам. Реальные операции — только после этапа 4. Существенные изменения плана оцениваются до внедрения; ожидание решения не продлевает право на тест.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Механизм — по модели МЦЦТ. Data Lake не является восьмым этапом и не обязателен для участия; применим и в техническом тестировании, и в регуляторном эксперименте. Компания вправе тестировать решение на собственных данных; МЦЦТ не гарантирует предоставление любых запрошенных данных; передача данных одной компанией не создает автоматического права доступа для других. Сотрудничество с IT Park — предлагаемая возможность, а не заключенное соглашение. Из отчета добавлены требования к обработке данных (Иллюстрация 14), ориентир FCA Digital Sandbox и пилот P3.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Маршрут фокус-группы — по модели МЦЦТ; меры защиты пользователей — по Иллюстрации 14 отчета (базовый набор мер защиты, ответственности и комплаенса для Решения D5). Ответственность перед пользователями несет только участник песочницы; компенсационный фонд за счет МЦЦТ не создается. Форму и сумму обеспечения определяет руководитель по рискам, кибербезопасности и комплаенсу на этапе проектирования теста.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Иллюстрация 14 отчета: критерии допуска и стандартные меры защиты рекомендуется включить в Правила песочницы (о наличии таких норм в законе не сообщалось); вместе они образуют базовый набор для Решения D5. Перечень требований, не подлежащих освобождению, согласуется с юрисконсультами и каждым регулятором. Санкционные списки — те, обязательность которых в Узбекистане подтвердят юрисконсульты, и те, что Совет решит применять.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Левая часть — границы программы по модели МЦЦТ. Правая — основные риски из Иллюстрации 17 отчета: качественное суждение аналитика без балльной оценки. Высокие риски — неподтвержденная правовая основа и неполучение согласия регуляторов (пилот GFIN: ни одна из 8 отобранных компаний не приступила к тестированию). Ответственные: главный юрисконсульт, руководитель песочницы, руководитель по рискам, кибербезопасности и комплаенсу, подразделения развития бизнеса и международного сотрудничества, Комитет.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Структура — по модели МЦЦТ (дальнейший режим проекта и нормативная база). Из отчета добавлены: отчет Комитета о выходе, Отчет о регуляторных выводах по каждой когорте, отслеживание итогов и порядок пересмотра и апелляции (раздел 5.5). Продление или дополнительное тестирование — решение Комитета в пределах срока, установленного Советом (по опубликованным данным — до 12 месяцев, если Совет не установит иной). Отчет МЦЦТ о выходе служит обоснованием, но для лицензирующего органа не обязателен.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Глава 7 отчета (Иллюстрации 21 и 21a). Оценки по пяти критериям — суждение аналитика, а не баллы; ни одна из названных компаний и ни один регулятор не брали на себя обязательств. P4 — внутренний пилот МЦЦТ: поставщиков выбирают открытым тендером, статуса участника песочницы они не получают. По P1–P3 решение в контрольной точке М6 принимает Комитет при допуске, по P4 — Исполнительный директор.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Глава 6 отчета (Иллюстрации 18–20 и 19a). Сведения о WEF получены из поисковых сводок по страницам WEF, правительства ОАЭ и поставщиков; итоги известны по данным организатора (P). Публичной информации о вознаграждении WEF или условиях партнерства не найдено. Альтернативы: национальные органы и операторы песочниц (ЦБ, NAPP), напрямую регуляторы (FCA, MAS, ADGM FSRA, DFSA, HKMA; FinTech Lab МФЦА как региональный аналог), GFIN, профильные консультанты, Всемирный банк, ОЭСР, МВФ, UNCITRAL, поставщики технологий.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Пятнадцать мер плана на 90 дней (раздел 8.1, Иллюстрация 22). Критический путь: правовая верификация (День 20) → заключение о полномочиях (День 25) → решения Совета D1 и D2 (День 30) → проект Правил (День 75) → принятие Правил (М4) → первые допуски (М6). До назначения руководителя песочницы его функции выполняет исполняющий обязанности. Если День 0 сдвигается, День запуска сдвигается вместе с ним. Если официальные тексты не получены к Дню 20, Трек разъяснений все равно открывается в День запуска (мнения без обязательной силы); набор в полноформатную песочницу откладывается до выполнения мер 1–2.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8.2 отчета (Иллюстрация 23). Месяц 0 — День 0. После М12: отчеты об оценке результатов (через 30 р. д. после каждого теста, около М13–М14), Отчет о регуляторных выводах (около М14), первый опрос об итогах через 12 месяцев после допуска (около М18). Трансграничные пилоты и расширенная инфраструктура запускаются, только если ежегодный обзор подтвердит выполнение условий (раздел 8.3).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Карта показателей раздела 8.4 (Иллюстрация 24). Определения и методы измерения, источники данных и ответственные — в отчете. В годовом отчете за 12 месяцев могут быть представлены KPI по срокам, пилотам, неопределенностям, охвату иностранных компаний и инцидентам; данные об итогах тестов поступают примерно с М14.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Раздел 8.5 отчета (Иллюстрация 25). Зеленым выделены вопросы, вносимые на данном заседании (D1, D2 — одобрение в принципе; D3 — штатная численность; D4a — поручение; D6 — критерии отбора; D8 — поручение о проработке; D11 — условие выпуска). Распределение ролей в столбце «Кто решает» носит рекомендательный характер и подлежит подтверждению в рамках меры 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Ключевые источники отчета: [S1] FCA, отчет об извлеченных уроках (окт. 2017); [S2] BIS Working Paper 901 (Review of Finance, 2024); [S3] FCA, ответ на запрос (май 2026); [S5] ICO; [S6] Ofgem; [S7] MAS, ответ парламенту (14.10.2025); [S8] MAS Sandbox Express; [S14] DFSA; [S15] GFIN (янв. 2020); [S17] Европейская блокчейн-песочница; [S21] HKMA; [S27] Gazeta.uz; [S28] lex.uz, УП-233; [S31] рабочие материалы МЦЦТ (W); [S57] lex.uz, ЗРУ-1169. Полный список с веб-адресами — Приложение E отчета; план верификации — Приложение 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">
    <p:bg>
      <p:bgPr>
        <a:solidFill>
          <a:schemeClr val="bg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Enterprise Uzbekist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2336" y="155448"/>
            <a:ext cx="1472184" cy="566928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11430000" y="640080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chemeClr val="tx2"/>
                </a:solidFill>
              </a:rPr>
              <a:t>/ 36</a:t>
            </a:r>
            <a:endParaRPr lang="en-US" sz="1000" dirty="0"/>
          </a:p>
        </p:txBody>
      </p:sp>
      <p:sp>
        <p:nvSpPr>
          <p:cNvPr id="4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tx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400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1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3" Type="http://schemas.openxmlformats.org/officeDocument/2006/relationships/slide" Target="slide28.xml"/><Relationship Id="rId5" Type="http://schemas.openxmlformats.org/officeDocument/2006/relationships/slide" Target="slide25.xml"/><Relationship Id="rId6" Type="http://schemas.openxmlformats.org/officeDocument/2006/relationships/slide" Target="slide24.xml"/><Relationship Id="rId8" Type="http://schemas.openxmlformats.org/officeDocument/2006/relationships/slide" Target="slide26.xml"/><Relationship Id="rId9" Type="http://schemas.openxmlformats.org/officeDocument/2006/relationships/slide" Target="slide29.xml"/><Relationship Id="rId1" Type="http://schemas.openxmlformats.org/officeDocument/2006/relationships/image" Target="../media/image-1-1.png"/><Relationship Id="rId4" Type="http://schemas.openxmlformats.org/officeDocument/2006/relationships/image" Target="../media/image-1-2.png"/><Relationship Id="rId7" Type="http://schemas.openxmlformats.org/officeDocument/2006/relationships/image" Target="../media/image-1-3.png"/><Relationship Id="rId10" Type="http://schemas.openxmlformats.org/officeDocument/2006/relationships/slideLayout" Target="../slideLayouts/slideLayout2.xml"/><Relationship Id="rId11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slide" Target="slide3.xml"/><Relationship Id="rId4" Type="http://schemas.openxmlformats.org/officeDocument/2006/relationships/slide" Target="slide6.xml"/><Relationship Id="rId6" Type="http://schemas.openxmlformats.org/officeDocument/2006/relationships/slide" Target="slide9.xml"/><Relationship Id="rId8" Type="http://schemas.openxmlformats.org/officeDocument/2006/relationships/slide" Target="slide18.xml"/><Relationship Id="rId10" Type="http://schemas.openxmlformats.org/officeDocument/2006/relationships/slide" Target="slide23.xml"/><Relationship Id="rId12" Type="http://schemas.openxmlformats.org/officeDocument/2006/relationships/slide" Target="slide27.xml"/><Relationship Id="rId14" Type="http://schemas.openxmlformats.org/officeDocument/2006/relationships/slide" Target="slide30.xml"/><Relationship Id="rId16" Type="http://schemas.openxmlformats.org/officeDocument/2006/relationships/slide" Target="slide32.xml"/><Relationship Id="rId17" Type="http://schemas.openxmlformats.org/officeDocument/2006/relationships/slide" Target="slide36.xml"/><Relationship Id="rId18" Type="http://schemas.openxmlformats.org/officeDocument/2006/relationships/slide" Target="slide2.xml"/><Relationship Id="rId19" Type="http://schemas.openxmlformats.org/officeDocument/2006/relationships/slide" Target="slide3.xml"/><Relationship Id="rId20" Type="http://schemas.openxmlformats.org/officeDocument/2006/relationships/slide" Target="slide6.xml"/><Relationship Id="rId21" Type="http://schemas.openxmlformats.org/officeDocument/2006/relationships/slide" Target="slide9.xml"/><Relationship Id="rId22" Type="http://schemas.openxmlformats.org/officeDocument/2006/relationships/slide" Target="slide18.xml"/><Relationship Id="rId23" Type="http://schemas.openxmlformats.org/officeDocument/2006/relationships/slide" Target="slide23.xml"/><Relationship Id="rId24" Type="http://schemas.openxmlformats.org/officeDocument/2006/relationships/slide" Target="slide27.xml"/><Relationship Id="rId25" Type="http://schemas.openxmlformats.org/officeDocument/2006/relationships/slide" Target="slide30.xml"/><Relationship Id="rId26" Type="http://schemas.openxmlformats.org/officeDocument/2006/relationships/slide" Target="slide32.xml"/><Relationship Id="rId1" Type="http://schemas.openxmlformats.org/officeDocument/2006/relationships/image" Target="../media/image-2-1.png"/><Relationship Id="rId3" Type="http://schemas.openxmlformats.org/officeDocument/2006/relationships/image" Target="../media/image-2-2.png"/><Relationship Id="rId5" Type="http://schemas.openxmlformats.org/officeDocument/2006/relationships/image" Target="../media/image-2-3.png"/><Relationship Id="rId7" Type="http://schemas.openxmlformats.org/officeDocument/2006/relationships/image" Target="../media/image-2-4.png"/><Relationship Id="rId9" Type="http://schemas.openxmlformats.org/officeDocument/2006/relationships/image" Target="../media/image-2-5.png"/><Relationship Id="rId11" Type="http://schemas.openxmlformats.org/officeDocument/2006/relationships/image" Target="../media/image-2-6.png"/><Relationship Id="rId13" Type="http://schemas.openxmlformats.org/officeDocument/2006/relationships/image" Target="../media/image-2-7.png"/><Relationship Id="rId15" Type="http://schemas.openxmlformats.org/officeDocument/2006/relationships/image" Target="../media/image-2-8.png"/><Relationship Id="rId27" Type="http://schemas.openxmlformats.org/officeDocument/2006/relationships/slideLayout" Target="../slideLayouts/slideLayout3.xml"/><Relationship Id="rId28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" Target="slide11.xml"/><Relationship Id="rId2" Type="http://schemas.openxmlformats.org/officeDocument/2006/relationships/slide" Target="slide10.xml"/><Relationship Id="rId3" Type="http://schemas.openxmlformats.org/officeDocument/2006/relationships/slide" Target="slide19.xml"/><Relationship Id="rId4" Type="http://schemas.openxmlformats.org/officeDocument/2006/relationships/slide" Target="slide19.xml"/><Relationship Id="rId5" Type="http://schemas.openxmlformats.org/officeDocument/2006/relationships/slide" Target="slide8.xml"/><Relationship Id="rId6" Type="http://schemas.openxmlformats.org/officeDocument/2006/relationships/slide" Target="slide4.xml"/><Relationship Id="rId7" Type="http://schemas.openxmlformats.org/officeDocument/2006/relationships/slide" Target="slide2.xml"/><Relationship Id="rId8" Type="http://schemas.openxmlformats.org/officeDocument/2006/relationships/slide" Target="slide3.xml"/><Relationship Id="rId9" Type="http://schemas.openxmlformats.org/officeDocument/2006/relationships/slide" Target="slide6.xml"/><Relationship Id="rId10" Type="http://schemas.openxmlformats.org/officeDocument/2006/relationships/slide" Target="slide9.xml"/><Relationship Id="rId11" Type="http://schemas.openxmlformats.org/officeDocument/2006/relationships/slide" Target="slide18.xml"/><Relationship Id="rId12" Type="http://schemas.openxmlformats.org/officeDocument/2006/relationships/slide" Target="slide23.xml"/><Relationship Id="rId13" Type="http://schemas.openxmlformats.org/officeDocument/2006/relationships/slide" Target="slide27.xml"/><Relationship Id="rId14" Type="http://schemas.openxmlformats.org/officeDocument/2006/relationships/slide" Target="slide30.xml"/><Relationship Id="rId15" Type="http://schemas.openxmlformats.org/officeDocument/2006/relationships/slide" Target="slide32.xml"/><Relationship Id="rId16" Type="http://schemas.openxmlformats.org/officeDocument/2006/relationships/slideLayout" Target="../slideLayouts/slideLayout3.xml"/><Relationship Id="rId17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" Target="slide19.xml"/><Relationship Id="rId2" Type="http://schemas.openxmlformats.org/officeDocument/2006/relationships/slide" Target="slide22.xml"/><Relationship Id="rId3" Type="http://schemas.openxmlformats.org/officeDocument/2006/relationships/slide" Target="slide23.xml"/><Relationship Id="rId4" Type="http://schemas.openxmlformats.org/officeDocument/2006/relationships/slide" Target="slide23.xml"/><Relationship Id="rId5" Type="http://schemas.openxmlformats.org/officeDocument/2006/relationships/slide" Target="slide29.xml"/><Relationship Id="rId6" Type="http://schemas.openxmlformats.org/officeDocument/2006/relationships/slide" Target="slide25.xml"/><Relationship Id="rId7" Type="http://schemas.openxmlformats.org/officeDocument/2006/relationships/slide" Target="slide30.xml"/><Relationship Id="rId8" Type="http://schemas.openxmlformats.org/officeDocument/2006/relationships/slide" Target="slide19.xml"/><Relationship Id="rId9" Type="http://schemas.openxmlformats.org/officeDocument/2006/relationships/slide" Target="slide31.xml"/><Relationship Id="rId10" Type="http://schemas.openxmlformats.org/officeDocument/2006/relationships/slide" Target="slide21.xml"/><Relationship Id="rId11" Type="http://schemas.openxmlformats.org/officeDocument/2006/relationships/slide" Target="slide2.xml"/><Relationship Id="rId12" Type="http://schemas.openxmlformats.org/officeDocument/2006/relationships/slide" Target="slide3.xml"/><Relationship Id="rId13" Type="http://schemas.openxmlformats.org/officeDocument/2006/relationships/slide" Target="slide6.xml"/><Relationship Id="rId14" Type="http://schemas.openxmlformats.org/officeDocument/2006/relationships/slide" Target="slide9.xml"/><Relationship Id="rId15" Type="http://schemas.openxmlformats.org/officeDocument/2006/relationships/slide" Target="slide18.xml"/><Relationship Id="rId16" Type="http://schemas.openxmlformats.org/officeDocument/2006/relationships/slide" Target="slide23.xml"/><Relationship Id="rId17" Type="http://schemas.openxmlformats.org/officeDocument/2006/relationships/slide" Target="slide27.xml"/><Relationship Id="rId18" Type="http://schemas.openxmlformats.org/officeDocument/2006/relationships/slide" Target="slide30.xml"/><Relationship Id="rId19" Type="http://schemas.openxmlformats.org/officeDocument/2006/relationships/slide" Target="slide32.xml"/><Relationship Id="rId20" Type="http://schemas.openxmlformats.org/officeDocument/2006/relationships/slideLayout" Target="../slideLayouts/slideLayout3.xml"/><Relationship Id="rId21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" Target="slide35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6.xml"/><Relationship Id="rId5" Type="http://schemas.openxmlformats.org/officeDocument/2006/relationships/slide" Target="slide9.xml"/><Relationship Id="rId6" Type="http://schemas.openxmlformats.org/officeDocument/2006/relationships/slide" Target="slide18.xml"/><Relationship Id="rId7" Type="http://schemas.openxmlformats.org/officeDocument/2006/relationships/slide" Target="slide23.xml"/><Relationship Id="rId8" Type="http://schemas.openxmlformats.org/officeDocument/2006/relationships/slide" Target="slide27.xml"/><Relationship Id="rId9" Type="http://schemas.openxmlformats.org/officeDocument/2006/relationships/slide" Target="slide30.xml"/><Relationship Id="rId10" Type="http://schemas.openxmlformats.org/officeDocument/2006/relationships/slide" Target="slide32.xml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" Target="slide11.xml"/><Relationship Id="rId2" Type="http://schemas.openxmlformats.org/officeDocument/2006/relationships/slide" Target="slide10.xml"/><Relationship Id="rId3" Type="http://schemas.openxmlformats.org/officeDocument/2006/relationships/slide" Target="slide10.xml"/><Relationship Id="rId4" Type="http://schemas.openxmlformats.org/officeDocument/2006/relationships/slide" Target="slide11.xml"/><Relationship Id="rId5" Type="http://schemas.openxmlformats.org/officeDocument/2006/relationships/slide" Target="slide11.xml"/><Relationship Id="rId6" Type="http://schemas.openxmlformats.org/officeDocument/2006/relationships/slide" Target="slide8.xml"/><Relationship Id="rId7" Type="http://schemas.openxmlformats.org/officeDocument/2006/relationships/slide" Target="slide19.xml"/><Relationship Id="rId8" Type="http://schemas.openxmlformats.org/officeDocument/2006/relationships/slide" Target="slide34.xml"/><Relationship Id="rId9" Type="http://schemas.openxmlformats.org/officeDocument/2006/relationships/slide" Target="slide7.xml"/><Relationship Id="rId10" Type="http://schemas.openxmlformats.org/officeDocument/2006/relationships/slide" Target="slide2.xml"/><Relationship Id="rId11" Type="http://schemas.openxmlformats.org/officeDocument/2006/relationships/slide" Target="slide3.xml"/><Relationship Id="rId12" Type="http://schemas.openxmlformats.org/officeDocument/2006/relationships/slide" Target="slide6.xml"/><Relationship Id="rId13" Type="http://schemas.openxmlformats.org/officeDocument/2006/relationships/slide" Target="slide9.xml"/><Relationship Id="rId14" Type="http://schemas.openxmlformats.org/officeDocument/2006/relationships/slide" Target="slide18.xml"/><Relationship Id="rId15" Type="http://schemas.openxmlformats.org/officeDocument/2006/relationships/slide" Target="slide23.xml"/><Relationship Id="rId16" Type="http://schemas.openxmlformats.org/officeDocument/2006/relationships/slide" Target="slide27.xml"/><Relationship Id="rId17" Type="http://schemas.openxmlformats.org/officeDocument/2006/relationships/slide" Target="slide30.xml"/><Relationship Id="rId18" Type="http://schemas.openxmlformats.org/officeDocument/2006/relationships/slide" Target="slide32.xml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6.xml"/><Relationship Id="rId5" Type="http://schemas.openxmlformats.org/officeDocument/2006/relationships/slide" Target="slide9.xml"/><Relationship Id="rId6" Type="http://schemas.openxmlformats.org/officeDocument/2006/relationships/slide" Target="slide18.xml"/><Relationship Id="rId7" Type="http://schemas.openxmlformats.org/officeDocument/2006/relationships/slide" Target="slide23.xml"/><Relationship Id="rId8" Type="http://schemas.openxmlformats.org/officeDocument/2006/relationships/slide" Target="slide27.xml"/><Relationship Id="rId9" Type="http://schemas.openxmlformats.org/officeDocument/2006/relationships/slide" Target="slide30.xml"/><Relationship Id="rId10" Type="http://schemas.openxmlformats.org/officeDocument/2006/relationships/slide" Target="slide32.xml"/><Relationship Id="rId1" Type="http://schemas.openxmlformats.org/officeDocument/2006/relationships/chart" Target="/ppt/charts/chart1.xml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" Target="slide19.xml"/><Relationship Id="rId2" Type="http://schemas.openxmlformats.org/officeDocument/2006/relationships/slide" Target="slide19.xml"/><Relationship Id="rId3" Type="http://schemas.openxmlformats.org/officeDocument/2006/relationships/slide" Target="slide29.xml"/><Relationship Id="rId4" Type="http://schemas.openxmlformats.org/officeDocument/2006/relationships/slide" Target="slide29.xml"/><Relationship Id="rId5" Type="http://schemas.openxmlformats.org/officeDocument/2006/relationships/slide" Target="slide28.xml"/><Relationship Id="rId6" Type="http://schemas.openxmlformats.org/officeDocument/2006/relationships/slide" Target="slide34.xml"/><Relationship Id="rId7" Type="http://schemas.openxmlformats.org/officeDocument/2006/relationships/slide" Target="slide2.xml"/><Relationship Id="rId8" Type="http://schemas.openxmlformats.org/officeDocument/2006/relationships/slide" Target="slide3.xml"/><Relationship Id="rId9" Type="http://schemas.openxmlformats.org/officeDocument/2006/relationships/slide" Target="slide6.xml"/><Relationship Id="rId10" Type="http://schemas.openxmlformats.org/officeDocument/2006/relationships/slide" Target="slide9.xml"/><Relationship Id="rId11" Type="http://schemas.openxmlformats.org/officeDocument/2006/relationships/slide" Target="slide18.xml"/><Relationship Id="rId12" Type="http://schemas.openxmlformats.org/officeDocument/2006/relationships/slide" Target="slide23.xml"/><Relationship Id="rId13" Type="http://schemas.openxmlformats.org/officeDocument/2006/relationships/slide" Target="slide27.xml"/><Relationship Id="rId14" Type="http://schemas.openxmlformats.org/officeDocument/2006/relationships/slide" Target="slide30.xml"/><Relationship Id="rId15" Type="http://schemas.openxmlformats.org/officeDocument/2006/relationships/slide" Target="slide32.xml"/><Relationship Id="rId16" Type="http://schemas.openxmlformats.org/officeDocument/2006/relationships/slideLayout" Target="../slideLayouts/slideLayout3.xml"/><Relationship Id="rId17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" Target="slide10.xml"/><Relationship Id="rId2" Type="http://schemas.openxmlformats.org/officeDocument/2006/relationships/slide" Target="slide11.xml"/><Relationship Id="rId3" Type="http://schemas.openxmlformats.org/officeDocument/2006/relationships/slide" Target="slide12.xml"/><Relationship Id="rId4" Type="http://schemas.openxmlformats.org/officeDocument/2006/relationships/slide" Target="slide13.xml"/><Relationship Id="rId5" Type="http://schemas.openxmlformats.org/officeDocument/2006/relationships/slide" Target="slide14.xml"/><Relationship Id="rId6" Type="http://schemas.openxmlformats.org/officeDocument/2006/relationships/slide" Target="slide15.xml"/><Relationship Id="rId7" Type="http://schemas.openxmlformats.org/officeDocument/2006/relationships/slide" Target="slide16.xml"/><Relationship Id="rId8" Type="http://schemas.openxmlformats.org/officeDocument/2006/relationships/slide" Target="slide17.xml"/><Relationship Id="rId9" Type="http://schemas.openxmlformats.org/officeDocument/2006/relationships/slide" Target="slide8.xml"/><Relationship Id="rId10" Type="http://schemas.openxmlformats.org/officeDocument/2006/relationships/slide" Target="slide2.xml"/><Relationship Id="rId11" Type="http://schemas.openxmlformats.org/officeDocument/2006/relationships/slide" Target="slide3.xml"/><Relationship Id="rId12" Type="http://schemas.openxmlformats.org/officeDocument/2006/relationships/slide" Target="slide6.xml"/><Relationship Id="rId13" Type="http://schemas.openxmlformats.org/officeDocument/2006/relationships/slide" Target="slide9.xml"/><Relationship Id="rId14" Type="http://schemas.openxmlformats.org/officeDocument/2006/relationships/slide" Target="slide18.xml"/><Relationship Id="rId15" Type="http://schemas.openxmlformats.org/officeDocument/2006/relationships/slide" Target="slide23.xml"/><Relationship Id="rId16" Type="http://schemas.openxmlformats.org/officeDocument/2006/relationships/slide" Target="slide27.xml"/><Relationship Id="rId17" Type="http://schemas.openxmlformats.org/officeDocument/2006/relationships/slide" Target="slide30.xml"/><Relationship Id="rId18" Type="http://schemas.openxmlformats.org/officeDocument/2006/relationships/slide" Target="slide32.xml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" Target="slide9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6.xml"/><Relationship Id="rId5" Type="http://schemas.openxmlformats.org/officeDocument/2006/relationships/slide" Target="slide9.xml"/><Relationship Id="rId6" Type="http://schemas.openxmlformats.org/officeDocument/2006/relationships/slide" Target="slide18.xml"/><Relationship Id="rId7" Type="http://schemas.openxmlformats.org/officeDocument/2006/relationships/slide" Target="slide23.xml"/><Relationship Id="rId8" Type="http://schemas.openxmlformats.org/officeDocument/2006/relationships/slide" Target="slide27.xml"/><Relationship Id="rId9" Type="http://schemas.openxmlformats.org/officeDocument/2006/relationships/slide" Target="slide30.xml"/><Relationship Id="rId10" Type="http://schemas.openxmlformats.org/officeDocument/2006/relationships/slide" Target="slide32.xml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" Target="slide9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6.xml"/><Relationship Id="rId5" Type="http://schemas.openxmlformats.org/officeDocument/2006/relationships/slide" Target="slide9.xml"/><Relationship Id="rId6" Type="http://schemas.openxmlformats.org/officeDocument/2006/relationships/slide" Target="slide18.xml"/><Relationship Id="rId7" Type="http://schemas.openxmlformats.org/officeDocument/2006/relationships/slide" Target="slide23.xml"/><Relationship Id="rId8" Type="http://schemas.openxmlformats.org/officeDocument/2006/relationships/slide" Target="slide27.xml"/><Relationship Id="rId9" Type="http://schemas.openxmlformats.org/officeDocument/2006/relationships/slide" Target="slide30.xml"/><Relationship Id="rId10" Type="http://schemas.openxmlformats.org/officeDocument/2006/relationships/slide" Target="slide32.xml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" Target="slide25.xml"/><Relationship Id="rId2" Type="http://schemas.openxmlformats.org/officeDocument/2006/relationships/slide" Target="slide9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6.xml"/><Relationship Id="rId6" Type="http://schemas.openxmlformats.org/officeDocument/2006/relationships/slide" Target="slide9.xml"/><Relationship Id="rId7" Type="http://schemas.openxmlformats.org/officeDocument/2006/relationships/slide" Target="slide18.xml"/><Relationship Id="rId8" Type="http://schemas.openxmlformats.org/officeDocument/2006/relationships/slide" Target="slide23.xml"/><Relationship Id="rId9" Type="http://schemas.openxmlformats.org/officeDocument/2006/relationships/slide" Target="slide27.xml"/><Relationship Id="rId10" Type="http://schemas.openxmlformats.org/officeDocument/2006/relationships/slide" Target="slide30.xml"/><Relationship Id="rId11" Type="http://schemas.openxmlformats.org/officeDocument/2006/relationships/slide" Target="slide32.xml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" Target="slide19.xml"/><Relationship Id="rId2" Type="http://schemas.openxmlformats.org/officeDocument/2006/relationships/slide" Target="slide9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6.xml"/><Relationship Id="rId6" Type="http://schemas.openxmlformats.org/officeDocument/2006/relationships/slide" Target="slide9.xml"/><Relationship Id="rId7" Type="http://schemas.openxmlformats.org/officeDocument/2006/relationships/slide" Target="slide18.xml"/><Relationship Id="rId8" Type="http://schemas.openxmlformats.org/officeDocument/2006/relationships/slide" Target="slide23.xml"/><Relationship Id="rId9" Type="http://schemas.openxmlformats.org/officeDocument/2006/relationships/slide" Target="slide27.xml"/><Relationship Id="rId10" Type="http://schemas.openxmlformats.org/officeDocument/2006/relationships/slide" Target="slide30.xml"/><Relationship Id="rId11" Type="http://schemas.openxmlformats.org/officeDocument/2006/relationships/slide" Target="slide32.xml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" Target="slide9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6.xml"/><Relationship Id="rId6" Type="http://schemas.openxmlformats.org/officeDocument/2006/relationships/slide" Target="slide9.xml"/><Relationship Id="rId7" Type="http://schemas.openxmlformats.org/officeDocument/2006/relationships/slide" Target="slide18.xml"/><Relationship Id="rId8" Type="http://schemas.openxmlformats.org/officeDocument/2006/relationships/slide" Target="slide23.xml"/><Relationship Id="rId9" Type="http://schemas.openxmlformats.org/officeDocument/2006/relationships/slide" Target="slide27.xml"/><Relationship Id="rId10" Type="http://schemas.openxmlformats.org/officeDocument/2006/relationships/slide" Target="slide30.xml"/><Relationship Id="rId11" Type="http://schemas.openxmlformats.org/officeDocument/2006/relationships/slide" Target="slide32.xml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" Target="slide30.xml"/><Relationship Id="rId2" Type="http://schemas.openxmlformats.org/officeDocument/2006/relationships/slide" Target="slide31.xml"/><Relationship Id="rId3" Type="http://schemas.openxmlformats.org/officeDocument/2006/relationships/slide" Target="slide9.xml"/><Relationship Id="rId4" Type="http://schemas.openxmlformats.org/officeDocument/2006/relationships/slide" Target="slide2.xml"/><Relationship Id="rId5" Type="http://schemas.openxmlformats.org/officeDocument/2006/relationships/slide" Target="slide3.xml"/><Relationship Id="rId6" Type="http://schemas.openxmlformats.org/officeDocument/2006/relationships/slide" Target="slide6.xml"/><Relationship Id="rId7" Type="http://schemas.openxmlformats.org/officeDocument/2006/relationships/slide" Target="slide9.xml"/><Relationship Id="rId8" Type="http://schemas.openxmlformats.org/officeDocument/2006/relationships/slide" Target="slide18.xml"/><Relationship Id="rId9" Type="http://schemas.openxmlformats.org/officeDocument/2006/relationships/slide" Target="slide23.xml"/><Relationship Id="rId10" Type="http://schemas.openxmlformats.org/officeDocument/2006/relationships/slide" Target="slide27.xml"/><Relationship Id="rId11" Type="http://schemas.openxmlformats.org/officeDocument/2006/relationships/slide" Target="slide30.xml"/><Relationship Id="rId12" Type="http://schemas.openxmlformats.org/officeDocument/2006/relationships/slide" Target="slide32.xml"/><Relationship Id="rId13" Type="http://schemas.openxmlformats.org/officeDocument/2006/relationships/slideLayout" Target="../slideLayouts/slideLayout3.xml"/><Relationship Id="rId14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" Target="slide30.xml"/><Relationship Id="rId2" Type="http://schemas.openxmlformats.org/officeDocument/2006/relationships/slide" Target="slide9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6.xml"/><Relationship Id="rId6" Type="http://schemas.openxmlformats.org/officeDocument/2006/relationships/slide" Target="slide9.xml"/><Relationship Id="rId7" Type="http://schemas.openxmlformats.org/officeDocument/2006/relationships/slide" Target="slide18.xml"/><Relationship Id="rId8" Type="http://schemas.openxmlformats.org/officeDocument/2006/relationships/slide" Target="slide23.xml"/><Relationship Id="rId9" Type="http://schemas.openxmlformats.org/officeDocument/2006/relationships/slide" Target="slide27.xml"/><Relationship Id="rId10" Type="http://schemas.openxmlformats.org/officeDocument/2006/relationships/slide" Target="slide30.xml"/><Relationship Id="rId11" Type="http://schemas.openxmlformats.org/officeDocument/2006/relationships/slide" Target="slide32.xml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" Target="slide29.xml"/><Relationship Id="rId2" Type="http://schemas.openxmlformats.org/officeDocument/2006/relationships/slide" Target="slide9.xml"/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6.xml"/><Relationship Id="rId6" Type="http://schemas.openxmlformats.org/officeDocument/2006/relationships/slide" Target="slide9.xml"/><Relationship Id="rId7" Type="http://schemas.openxmlformats.org/officeDocument/2006/relationships/slide" Target="slide18.xml"/><Relationship Id="rId8" Type="http://schemas.openxmlformats.org/officeDocument/2006/relationships/slide" Target="slide23.xml"/><Relationship Id="rId9" Type="http://schemas.openxmlformats.org/officeDocument/2006/relationships/slide" Target="slide27.xml"/><Relationship Id="rId10" Type="http://schemas.openxmlformats.org/officeDocument/2006/relationships/slide" Target="slide30.xml"/><Relationship Id="rId11" Type="http://schemas.openxmlformats.org/officeDocument/2006/relationships/slide" Target="slide32.xml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slide" Target="slide25.xml"/><Relationship Id="rId4" Type="http://schemas.openxmlformats.org/officeDocument/2006/relationships/slide" Target="slide23.xml"/><Relationship Id="rId6" Type="http://schemas.openxmlformats.org/officeDocument/2006/relationships/slide" Target="slide26.xml"/><Relationship Id="rId8" Type="http://schemas.openxmlformats.org/officeDocument/2006/relationships/slide" Target="slide28.xml"/><Relationship Id="rId9" Type="http://schemas.openxmlformats.org/officeDocument/2006/relationships/slide" Target="slide25.xml"/><Relationship Id="rId10" Type="http://schemas.openxmlformats.org/officeDocument/2006/relationships/slide" Target="slide24.xml"/><Relationship Id="rId11" Type="http://schemas.openxmlformats.org/officeDocument/2006/relationships/slide" Target="slide23.xml"/><Relationship Id="rId12" Type="http://schemas.openxmlformats.org/officeDocument/2006/relationships/slide" Target="slide26.xml"/><Relationship Id="rId13" Type="http://schemas.openxmlformats.org/officeDocument/2006/relationships/slide" Target="slide28.xml"/><Relationship Id="rId14" Type="http://schemas.openxmlformats.org/officeDocument/2006/relationships/slide" Target="slide29.xml"/><Relationship Id="rId15" Type="http://schemas.openxmlformats.org/officeDocument/2006/relationships/slide" Target="slide20.xml"/><Relationship Id="rId16" Type="http://schemas.openxmlformats.org/officeDocument/2006/relationships/slide" Target="slide2.xml"/><Relationship Id="rId17" Type="http://schemas.openxmlformats.org/officeDocument/2006/relationships/slide" Target="slide3.xml"/><Relationship Id="rId18" Type="http://schemas.openxmlformats.org/officeDocument/2006/relationships/slide" Target="slide6.xml"/><Relationship Id="rId19" Type="http://schemas.openxmlformats.org/officeDocument/2006/relationships/slide" Target="slide9.xml"/><Relationship Id="rId20" Type="http://schemas.openxmlformats.org/officeDocument/2006/relationships/slide" Target="slide18.xml"/><Relationship Id="rId21" Type="http://schemas.openxmlformats.org/officeDocument/2006/relationships/slide" Target="slide23.xml"/><Relationship Id="rId22" Type="http://schemas.openxmlformats.org/officeDocument/2006/relationships/slide" Target="slide27.xml"/><Relationship Id="rId23" Type="http://schemas.openxmlformats.org/officeDocument/2006/relationships/slide" Target="slide30.xml"/><Relationship Id="rId24" Type="http://schemas.openxmlformats.org/officeDocument/2006/relationships/slide" Target="slide32.xml"/><Relationship Id="rId1" Type="http://schemas.openxmlformats.org/officeDocument/2006/relationships/image" Target="../media/image-18-1.png"/><Relationship Id="rId3" Type="http://schemas.openxmlformats.org/officeDocument/2006/relationships/image" Target="../media/image-18-2.png"/><Relationship Id="rId5" Type="http://schemas.openxmlformats.org/officeDocument/2006/relationships/image" Target="../media/image-18-3.png"/><Relationship Id="rId7" Type="http://schemas.openxmlformats.org/officeDocument/2006/relationships/image" Target="../media/image-18-4.png"/><Relationship Id="rId25" Type="http://schemas.openxmlformats.org/officeDocument/2006/relationships/slideLayout" Target="../slideLayouts/slideLayout3.xml"/><Relationship Id="rId26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" Target="slide13.xml"/><Relationship Id="rId4" Type="http://schemas.openxmlformats.org/officeDocument/2006/relationships/slide" Target="slide12.xml"/><Relationship Id="rId6" Type="http://schemas.openxmlformats.org/officeDocument/2006/relationships/slide" Target="slide11.xml"/><Relationship Id="rId7" Type="http://schemas.openxmlformats.org/officeDocument/2006/relationships/slide" Target="slide2.xml"/><Relationship Id="rId8" Type="http://schemas.openxmlformats.org/officeDocument/2006/relationships/slide" Target="slide3.xml"/><Relationship Id="rId9" Type="http://schemas.openxmlformats.org/officeDocument/2006/relationships/slide" Target="slide6.xml"/><Relationship Id="rId10" Type="http://schemas.openxmlformats.org/officeDocument/2006/relationships/slide" Target="slide9.xml"/><Relationship Id="rId11" Type="http://schemas.openxmlformats.org/officeDocument/2006/relationships/slide" Target="slide18.xml"/><Relationship Id="rId12" Type="http://schemas.openxmlformats.org/officeDocument/2006/relationships/slide" Target="slide23.xml"/><Relationship Id="rId13" Type="http://schemas.openxmlformats.org/officeDocument/2006/relationships/slide" Target="slide27.xml"/><Relationship Id="rId14" Type="http://schemas.openxmlformats.org/officeDocument/2006/relationships/slide" Target="slide30.xml"/><Relationship Id="rId15" Type="http://schemas.openxmlformats.org/officeDocument/2006/relationships/slide" Target="slide32.xml"/><Relationship Id="rId1" Type="http://schemas.openxmlformats.org/officeDocument/2006/relationships/image" Target="../media/image-19-1.png"/><Relationship Id="rId3" Type="http://schemas.openxmlformats.org/officeDocument/2006/relationships/image" Target="../media/image-19-2.png"/><Relationship Id="rId5" Type="http://schemas.openxmlformats.org/officeDocument/2006/relationships/image" Target="../media/image-19-3.png"/><Relationship Id="rId16" Type="http://schemas.openxmlformats.org/officeDocument/2006/relationships/slideLayout" Target="../slideLayouts/slideLayout3.xml"/><Relationship Id="rId17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slide" Target="slide2.xml"/><Relationship Id="rId9" Type="http://schemas.openxmlformats.org/officeDocument/2006/relationships/slide" Target="slide3.xml"/><Relationship Id="rId10" Type="http://schemas.openxmlformats.org/officeDocument/2006/relationships/slide" Target="slide6.xml"/><Relationship Id="rId11" Type="http://schemas.openxmlformats.org/officeDocument/2006/relationships/slide" Target="slide9.xml"/><Relationship Id="rId12" Type="http://schemas.openxmlformats.org/officeDocument/2006/relationships/slide" Target="slide18.xml"/><Relationship Id="rId13" Type="http://schemas.openxmlformats.org/officeDocument/2006/relationships/slide" Target="slide23.xml"/><Relationship Id="rId14" Type="http://schemas.openxmlformats.org/officeDocument/2006/relationships/slide" Target="slide27.xml"/><Relationship Id="rId15" Type="http://schemas.openxmlformats.org/officeDocument/2006/relationships/slide" Target="slide30.xml"/><Relationship Id="rId16" Type="http://schemas.openxmlformats.org/officeDocument/2006/relationships/slide" Target="slide32.xml"/><Relationship Id="rId1" Type="http://schemas.openxmlformats.org/officeDocument/2006/relationships/image" Target="../media/image-20-1.png"/><Relationship Id="rId2" Type="http://schemas.openxmlformats.org/officeDocument/2006/relationships/image" Target="../media/image-20-2.png"/><Relationship Id="rId3" Type="http://schemas.openxmlformats.org/officeDocument/2006/relationships/image" Target="../media/image-20-3.png"/><Relationship Id="rId4" Type="http://schemas.openxmlformats.org/officeDocument/2006/relationships/image" Target="../media/image-20-4.png"/><Relationship Id="rId5" Type="http://schemas.openxmlformats.org/officeDocument/2006/relationships/image" Target="../media/image-20-5.png"/><Relationship Id="rId6" Type="http://schemas.openxmlformats.org/officeDocument/2006/relationships/image" Target="../media/image-20-6.png"/><Relationship Id="rId7" Type="http://schemas.openxmlformats.org/officeDocument/2006/relationships/image" Target="../media/image-20-7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" Target="slide32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6.xml"/><Relationship Id="rId5" Type="http://schemas.openxmlformats.org/officeDocument/2006/relationships/slide" Target="slide9.xml"/><Relationship Id="rId6" Type="http://schemas.openxmlformats.org/officeDocument/2006/relationships/slide" Target="slide18.xml"/><Relationship Id="rId7" Type="http://schemas.openxmlformats.org/officeDocument/2006/relationships/slide" Target="slide23.xml"/><Relationship Id="rId8" Type="http://schemas.openxmlformats.org/officeDocument/2006/relationships/slide" Target="slide27.xml"/><Relationship Id="rId9" Type="http://schemas.openxmlformats.org/officeDocument/2006/relationships/slide" Target="slide30.xml"/><Relationship Id="rId10" Type="http://schemas.openxmlformats.org/officeDocument/2006/relationships/slide" Target="slide32.xml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5" Type="http://schemas.openxmlformats.org/officeDocument/2006/relationships/slide" Target="slide2.xml"/><Relationship Id="rId6" Type="http://schemas.openxmlformats.org/officeDocument/2006/relationships/slide" Target="slide3.xml"/><Relationship Id="rId7" Type="http://schemas.openxmlformats.org/officeDocument/2006/relationships/slide" Target="slide6.xml"/><Relationship Id="rId8" Type="http://schemas.openxmlformats.org/officeDocument/2006/relationships/slide" Target="slide9.xml"/><Relationship Id="rId9" Type="http://schemas.openxmlformats.org/officeDocument/2006/relationships/slide" Target="slide18.xml"/><Relationship Id="rId10" Type="http://schemas.openxmlformats.org/officeDocument/2006/relationships/slide" Target="slide23.xml"/><Relationship Id="rId11" Type="http://schemas.openxmlformats.org/officeDocument/2006/relationships/slide" Target="slide27.xml"/><Relationship Id="rId12" Type="http://schemas.openxmlformats.org/officeDocument/2006/relationships/slide" Target="slide30.xml"/><Relationship Id="rId13" Type="http://schemas.openxmlformats.org/officeDocument/2006/relationships/slide" Target="slide32.xml"/><Relationship Id="rId1" Type="http://schemas.openxmlformats.org/officeDocument/2006/relationships/image" Target="../media/image-22-1.png"/><Relationship Id="rId2" Type="http://schemas.openxmlformats.org/officeDocument/2006/relationships/image" Target="../media/image-22-2.png"/><Relationship Id="rId3" Type="http://schemas.openxmlformats.org/officeDocument/2006/relationships/image" Target="../media/image-22-3.png"/><Relationship Id="rId4" Type="http://schemas.openxmlformats.org/officeDocument/2006/relationships/image" Target="../media/image-22-4.png"/><Relationship Id="rId14" Type="http://schemas.openxmlformats.org/officeDocument/2006/relationships/slideLayout" Target="../slideLayouts/slideLayout3.xml"/><Relationship Id="rId15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" Target="slide24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6.xml"/><Relationship Id="rId5" Type="http://schemas.openxmlformats.org/officeDocument/2006/relationships/slide" Target="slide9.xml"/><Relationship Id="rId6" Type="http://schemas.openxmlformats.org/officeDocument/2006/relationships/slide" Target="slide18.xml"/><Relationship Id="rId7" Type="http://schemas.openxmlformats.org/officeDocument/2006/relationships/slide" Target="slide23.xml"/><Relationship Id="rId8" Type="http://schemas.openxmlformats.org/officeDocument/2006/relationships/slide" Target="slide27.xml"/><Relationship Id="rId9" Type="http://schemas.openxmlformats.org/officeDocument/2006/relationships/slide" Target="slide30.xml"/><Relationship Id="rId10" Type="http://schemas.openxmlformats.org/officeDocument/2006/relationships/slide" Target="slide32.xml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slide" Target="slide25.xml"/><Relationship Id="rId5" Type="http://schemas.openxmlformats.org/officeDocument/2006/relationships/slide" Target="slide26.xml"/><Relationship Id="rId7" Type="http://schemas.openxmlformats.org/officeDocument/2006/relationships/slide" Target="slide23.xml"/><Relationship Id="rId8" Type="http://schemas.openxmlformats.org/officeDocument/2006/relationships/slide" Target="slide2.xml"/><Relationship Id="rId9" Type="http://schemas.openxmlformats.org/officeDocument/2006/relationships/slide" Target="slide3.xml"/><Relationship Id="rId10" Type="http://schemas.openxmlformats.org/officeDocument/2006/relationships/slide" Target="slide6.xml"/><Relationship Id="rId11" Type="http://schemas.openxmlformats.org/officeDocument/2006/relationships/slide" Target="slide9.xml"/><Relationship Id="rId12" Type="http://schemas.openxmlformats.org/officeDocument/2006/relationships/slide" Target="slide18.xml"/><Relationship Id="rId13" Type="http://schemas.openxmlformats.org/officeDocument/2006/relationships/slide" Target="slide23.xml"/><Relationship Id="rId14" Type="http://schemas.openxmlformats.org/officeDocument/2006/relationships/slide" Target="slide27.xml"/><Relationship Id="rId15" Type="http://schemas.openxmlformats.org/officeDocument/2006/relationships/slide" Target="slide30.xml"/><Relationship Id="rId16" Type="http://schemas.openxmlformats.org/officeDocument/2006/relationships/slide" Target="slide32.xml"/><Relationship Id="rId1" Type="http://schemas.openxmlformats.org/officeDocument/2006/relationships/image" Target="../media/image-24-1.png"/><Relationship Id="rId2" Type="http://schemas.openxmlformats.org/officeDocument/2006/relationships/image" Target="../media/image-24-2.png"/><Relationship Id="rId4" Type="http://schemas.openxmlformats.org/officeDocument/2006/relationships/image" Target="../media/image-24-3.png"/><Relationship Id="rId6" Type="http://schemas.openxmlformats.org/officeDocument/2006/relationships/image" Target="../media/image-24-4.png"/><Relationship Id="rId17" Type="http://schemas.openxmlformats.org/officeDocument/2006/relationships/slideLayout" Target="../slideLayouts/slideLayout3.xml"/><Relationship Id="rId18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slide" Target="slide12.xml"/><Relationship Id="rId9" Type="http://schemas.openxmlformats.org/officeDocument/2006/relationships/slide" Target="slide30.xml"/><Relationship Id="rId10" Type="http://schemas.openxmlformats.org/officeDocument/2006/relationships/slide" Target="slide2.xml"/><Relationship Id="rId11" Type="http://schemas.openxmlformats.org/officeDocument/2006/relationships/slide" Target="slide3.xml"/><Relationship Id="rId12" Type="http://schemas.openxmlformats.org/officeDocument/2006/relationships/slide" Target="slide6.xml"/><Relationship Id="rId13" Type="http://schemas.openxmlformats.org/officeDocument/2006/relationships/slide" Target="slide9.xml"/><Relationship Id="rId14" Type="http://schemas.openxmlformats.org/officeDocument/2006/relationships/slide" Target="slide18.xml"/><Relationship Id="rId15" Type="http://schemas.openxmlformats.org/officeDocument/2006/relationships/slide" Target="slide23.xml"/><Relationship Id="rId16" Type="http://schemas.openxmlformats.org/officeDocument/2006/relationships/slide" Target="slide27.xml"/><Relationship Id="rId17" Type="http://schemas.openxmlformats.org/officeDocument/2006/relationships/slide" Target="slide30.xml"/><Relationship Id="rId18" Type="http://schemas.openxmlformats.org/officeDocument/2006/relationships/slide" Target="slide32.xml"/><Relationship Id="rId1" Type="http://schemas.openxmlformats.org/officeDocument/2006/relationships/image" Target="../media/image-25-1.png"/><Relationship Id="rId2" Type="http://schemas.openxmlformats.org/officeDocument/2006/relationships/image" Target="../media/image-25-2.png"/><Relationship Id="rId3" Type="http://schemas.openxmlformats.org/officeDocument/2006/relationships/image" Target="../media/image-25-3.png"/><Relationship Id="rId4" Type="http://schemas.openxmlformats.org/officeDocument/2006/relationships/image" Target="../media/image-25-4.png"/><Relationship Id="rId5" Type="http://schemas.openxmlformats.org/officeDocument/2006/relationships/image" Target="../media/image-25-5.png"/><Relationship Id="rId6" Type="http://schemas.openxmlformats.org/officeDocument/2006/relationships/image" Target="../media/image-25-6.png"/><Relationship Id="rId7" Type="http://schemas.openxmlformats.org/officeDocument/2006/relationships/image" Target="../media/image-25-7.png"/><Relationship Id="rId19" Type="http://schemas.openxmlformats.org/officeDocument/2006/relationships/slideLayout" Target="../slideLayouts/slideLayout3.xml"/><Relationship Id="rId20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6" Type="http://schemas.openxmlformats.org/officeDocument/2006/relationships/slide" Target="slide34.xml"/><Relationship Id="rId7" Type="http://schemas.openxmlformats.org/officeDocument/2006/relationships/slide" Target="slide2.xml"/><Relationship Id="rId8" Type="http://schemas.openxmlformats.org/officeDocument/2006/relationships/slide" Target="slide3.xml"/><Relationship Id="rId9" Type="http://schemas.openxmlformats.org/officeDocument/2006/relationships/slide" Target="slide6.xml"/><Relationship Id="rId10" Type="http://schemas.openxmlformats.org/officeDocument/2006/relationships/slide" Target="slide9.xml"/><Relationship Id="rId11" Type="http://schemas.openxmlformats.org/officeDocument/2006/relationships/slide" Target="slide18.xml"/><Relationship Id="rId12" Type="http://schemas.openxmlformats.org/officeDocument/2006/relationships/slide" Target="slide23.xml"/><Relationship Id="rId13" Type="http://schemas.openxmlformats.org/officeDocument/2006/relationships/slide" Target="slide27.xml"/><Relationship Id="rId14" Type="http://schemas.openxmlformats.org/officeDocument/2006/relationships/slide" Target="slide30.xml"/><Relationship Id="rId15" Type="http://schemas.openxmlformats.org/officeDocument/2006/relationships/slide" Target="slide32.xml"/><Relationship Id="rId1" Type="http://schemas.openxmlformats.org/officeDocument/2006/relationships/image" Target="../media/image-26-1.png"/><Relationship Id="rId2" Type="http://schemas.openxmlformats.org/officeDocument/2006/relationships/image" Target="../media/image-26-2.png"/><Relationship Id="rId3" Type="http://schemas.openxmlformats.org/officeDocument/2006/relationships/image" Target="../media/image-26-3.png"/><Relationship Id="rId4" Type="http://schemas.openxmlformats.org/officeDocument/2006/relationships/image" Target="../media/image-26-4.png"/><Relationship Id="rId5" Type="http://schemas.openxmlformats.org/officeDocument/2006/relationships/image" Target="../media/image-26-5.png"/><Relationship Id="rId16" Type="http://schemas.openxmlformats.org/officeDocument/2006/relationships/slideLayout" Target="../slideLayouts/slideLayout3.xml"/><Relationship Id="rId17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3" Type="http://schemas.openxmlformats.org/officeDocument/2006/relationships/slide" Target="slide2.xml"/><Relationship Id="rId14" Type="http://schemas.openxmlformats.org/officeDocument/2006/relationships/slide" Target="slide3.xml"/><Relationship Id="rId15" Type="http://schemas.openxmlformats.org/officeDocument/2006/relationships/slide" Target="slide6.xml"/><Relationship Id="rId16" Type="http://schemas.openxmlformats.org/officeDocument/2006/relationships/slide" Target="slide9.xml"/><Relationship Id="rId17" Type="http://schemas.openxmlformats.org/officeDocument/2006/relationships/slide" Target="slide18.xml"/><Relationship Id="rId18" Type="http://schemas.openxmlformats.org/officeDocument/2006/relationships/slide" Target="slide23.xml"/><Relationship Id="rId19" Type="http://schemas.openxmlformats.org/officeDocument/2006/relationships/slide" Target="slide27.xml"/><Relationship Id="rId20" Type="http://schemas.openxmlformats.org/officeDocument/2006/relationships/slide" Target="slide30.xml"/><Relationship Id="rId21" Type="http://schemas.openxmlformats.org/officeDocument/2006/relationships/slide" Target="slide32.xml"/><Relationship Id="rId1" Type="http://schemas.openxmlformats.org/officeDocument/2006/relationships/image" Target="../media/image-27-1.png"/><Relationship Id="rId2" Type="http://schemas.openxmlformats.org/officeDocument/2006/relationships/image" Target="../media/image-27-2.png"/><Relationship Id="rId3" Type="http://schemas.openxmlformats.org/officeDocument/2006/relationships/image" Target="../media/image-27-3.png"/><Relationship Id="rId4" Type="http://schemas.openxmlformats.org/officeDocument/2006/relationships/image" Target="../media/image-27-4.png"/><Relationship Id="rId5" Type="http://schemas.openxmlformats.org/officeDocument/2006/relationships/image" Target="../media/image-27-5.png"/><Relationship Id="rId6" Type="http://schemas.openxmlformats.org/officeDocument/2006/relationships/image" Target="../media/image-27-6.png"/><Relationship Id="rId7" Type="http://schemas.openxmlformats.org/officeDocument/2006/relationships/image" Target="../media/image-27-7.png"/><Relationship Id="rId8" Type="http://schemas.openxmlformats.org/officeDocument/2006/relationships/image" Target="../media/image-27-8.png"/><Relationship Id="rId9" Type="http://schemas.openxmlformats.org/officeDocument/2006/relationships/image" Target="../media/image-27-9.png"/><Relationship Id="rId10" Type="http://schemas.openxmlformats.org/officeDocument/2006/relationships/image" Target="../media/image-27-10.png"/><Relationship Id="rId11" Type="http://schemas.openxmlformats.org/officeDocument/2006/relationships/image" Target="../media/image-27-11.png"/><Relationship Id="rId12" Type="http://schemas.openxmlformats.org/officeDocument/2006/relationships/image" Target="../media/image-27-12.png"/><Relationship Id="rId22" Type="http://schemas.openxmlformats.org/officeDocument/2006/relationships/slideLayout" Target="../slideLayouts/slideLayout3.xml"/><Relationship Id="rId23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4" Type="http://schemas.openxmlformats.org/officeDocument/2006/relationships/slide" Target="slide2.xml"/><Relationship Id="rId15" Type="http://schemas.openxmlformats.org/officeDocument/2006/relationships/slide" Target="slide3.xml"/><Relationship Id="rId16" Type="http://schemas.openxmlformats.org/officeDocument/2006/relationships/slide" Target="slide6.xml"/><Relationship Id="rId17" Type="http://schemas.openxmlformats.org/officeDocument/2006/relationships/slide" Target="slide9.xml"/><Relationship Id="rId18" Type="http://schemas.openxmlformats.org/officeDocument/2006/relationships/slide" Target="slide18.xml"/><Relationship Id="rId19" Type="http://schemas.openxmlformats.org/officeDocument/2006/relationships/slide" Target="slide23.xml"/><Relationship Id="rId20" Type="http://schemas.openxmlformats.org/officeDocument/2006/relationships/slide" Target="slide27.xml"/><Relationship Id="rId21" Type="http://schemas.openxmlformats.org/officeDocument/2006/relationships/slide" Target="slide30.xml"/><Relationship Id="rId22" Type="http://schemas.openxmlformats.org/officeDocument/2006/relationships/slide" Target="slide32.xml"/><Relationship Id="rId1" Type="http://schemas.openxmlformats.org/officeDocument/2006/relationships/image" Target="../media/image-28-1.png"/><Relationship Id="rId2" Type="http://schemas.openxmlformats.org/officeDocument/2006/relationships/image" Target="../media/image-28-2.png"/><Relationship Id="rId3" Type="http://schemas.openxmlformats.org/officeDocument/2006/relationships/image" Target="../media/image-28-3.png"/><Relationship Id="rId4" Type="http://schemas.openxmlformats.org/officeDocument/2006/relationships/image" Target="../media/image-28-4.png"/><Relationship Id="rId5" Type="http://schemas.openxmlformats.org/officeDocument/2006/relationships/image" Target="../media/image-28-5.png"/><Relationship Id="rId6" Type="http://schemas.openxmlformats.org/officeDocument/2006/relationships/image" Target="../media/image-28-6.png"/><Relationship Id="rId7" Type="http://schemas.openxmlformats.org/officeDocument/2006/relationships/image" Target="../media/image-28-7.png"/><Relationship Id="rId8" Type="http://schemas.openxmlformats.org/officeDocument/2006/relationships/image" Target="../media/image-28-8.png"/><Relationship Id="rId9" Type="http://schemas.openxmlformats.org/officeDocument/2006/relationships/image" Target="../media/image-28-9.png"/><Relationship Id="rId10" Type="http://schemas.openxmlformats.org/officeDocument/2006/relationships/image" Target="../media/image-28-10.png"/><Relationship Id="rId11" Type="http://schemas.openxmlformats.org/officeDocument/2006/relationships/image" Target="../media/image-28-11.png"/><Relationship Id="rId12" Type="http://schemas.openxmlformats.org/officeDocument/2006/relationships/image" Target="../media/image-28-12.png"/><Relationship Id="rId13" Type="http://schemas.openxmlformats.org/officeDocument/2006/relationships/image" Target="../media/image-28-13.png"/><Relationship Id="rId23" Type="http://schemas.openxmlformats.org/officeDocument/2006/relationships/slideLayout" Target="../slideLayouts/slideLayout3.xml"/><Relationship Id="rId24" Type="http://schemas.openxmlformats.org/officeDocument/2006/relationships/notesSlide" Target="../notesSlides/notesSlide28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slide" Target="slide2.xml"/><Relationship Id="rId4" Type="http://schemas.openxmlformats.org/officeDocument/2006/relationships/slide" Target="slide3.xml"/><Relationship Id="rId5" Type="http://schemas.openxmlformats.org/officeDocument/2006/relationships/slide" Target="slide6.xml"/><Relationship Id="rId6" Type="http://schemas.openxmlformats.org/officeDocument/2006/relationships/slide" Target="slide9.xml"/><Relationship Id="rId7" Type="http://schemas.openxmlformats.org/officeDocument/2006/relationships/slide" Target="slide18.xml"/><Relationship Id="rId8" Type="http://schemas.openxmlformats.org/officeDocument/2006/relationships/slide" Target="slide23.xml"/><Relationship Id="rId9" Type="http://schemas.openxmlformats.org/officeDocument/2006/relationships/slide" Target="slide27.xml"/><Relationship Id="rId10" Type="http://schemas.openxmlformats.org/officeDocument/2006/relationships/slide" Target="slide30.xml"/><Relationship Id="rId11" Type="http://schemas.openxmlformats.org/officeDocument/2006/relationships/slide" Target="slide32.xml"/><Relationship Id="rId1" Type="http://schemas.openxmlformats.org/officeDocument/2006/relationships/image" Target="../media/image-29-1.png"/><Relationship Id="rId2" Type="http://schemas.openxmlformats.org/officeDocument/2006/relationships/image" Target="../media/image-29-2.png"/><Relationship Id="rId12" Type="http://schemas.openxmlformats.org/officeDocument/2006/relationships/slideLayout" Target="../slideLayouts/slideLayout3.xml"/><Relationship Id="rId13" Type="http://schemas.openxmlformats.org/officeDocument/2006/relationships/notesSlide" Target="../notesSlides/notesSlide29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3.xml"/><Relationship Id="rId3" Type="http://schemas.openxmlformats.org/officeDocument/2006/relationships/slide" Target="slide6.xml"/><Relationship Id="rId4" Type="http://schemas.openxmlformats.org/officeDocument/2006/relationships/slide" Target="slide9.xml"/><Relationship Id="rId5" Type="http://schemas.openxmlformats.org/officeDocument/2006/relationships/slide" Target="slide18.xml"/><Relationship Id="rId6" Type="http://schemas.openxmlformats.org/officeDocument/2006/relationships/slide" Target="slide23.xml"/><Relationship Id="rId7" Type="http://schemas.openxmlformats.org/officeDocument/2006/relationships/slide" Target="slide27.xml"/><Relationship Id="rId8" Type="http://schemas.openxmlformats.org/officeDocument/2006/relationships/slide" Target="slide30.xml"/><Relationship Id="rId9" Type="http://schemas.openxmlformats.org/officeDocument/2006/relationships/slide" Target="slide32.xml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30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3.xml"/><Relationship Id="rId3" Type="http://schemas.openxmlformats.org/officeDocument/2006/relationships/slide" Target="slide6.xml"/><Relationship Id="rId4" Type="http://schemas.openxmlformats.org/officeDocument/2006/relationships/slide" Target="slide9.xml"/><Relationship Id="rId5" Type="http://schemas.openxmlformats.org/officeDocument/2006/relationships/slide" Target="slide18.xml"/><Relationship Id="rId6" Type="http://schemas.openxmlformats.org/officeDocument/2006/relationships/slide" Target="slide23.xml"/><Relationship Id="rId7" Type="http://schemas.openxmlformats.org/officeDocument/2006/relationships/slide" Target="slide27.xml"/><Relationship Id="rId8" Type="http://schemas.openxmlformats.org/officeDocument/2006/relationships/slide" Target="slide30.xml"/><Relationship Id="rId9" Type="http://schemas.openxmlformats.org/officeDocument/2006/relationships/slide" Target="slide32.xml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31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" Target="slide33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6.xml"/><Relationship Id="rId5" Type="http://schemas.openxmlformats.org/officeDocument/2006/relationships/slide" Target="slide9.xml"/><Relationship Id="rId6" Type="http://schemas.openxmlformats.org/officeDocument/2006/relationships/slide" Target="slide18.xml"/><Relationship Id="rId7" Type="http://schemas.openxmlformats.org/officeDocument/2006/relationships/slide" Target="slide23.xml"/><Relationship Id="rId8" Type="http://schemas.openxmlformats.org/officeDocument/2006/relationships/slide" Target="slide27.xml"/><Relationship Id="rId9" Type="http://schemas.openxmlformats.org/officeDocument/2006/relationships/slide" Target="slide30.xml"/><Relationship Id="rId10" Type="http://schemas.openxmlformats.org/officeDocument/2006/relationships/slide" Target="slide32.xml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3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3.xml"/><Relationship Id="rId3" Type="http://schemas.openxmlformats.org/officeDocument/2006/relationships/slide" Target="slide6.xml"/><Relationship Id="rId4" Type="http://schemas.openxmlformats.org/officeDocument/2006/relationships/slide" Target="slide9.xml"/><Relationship Id="rId5" Type="http://schemas.openxmlformats.org/officeDocument/2006/relationships/slide" Target="slide18.xml"/><Relationship Id="rId6" Type="http://schemas.openxmlformats.org/officeDocument/2006/relationships/slide" Target="slide23.xml"/><Relationship Id="rId7" Type="http://schemas.openxmlformats.org/officeDocument/2006/relationships/slide" Target="slide27.xml"/><Relationship Id="rId8" Type="http://schemas.openxmlformats.org/officeDocument/2006/relationships/slide" Target="slide30.xml"/><Relationship Id="rId9" Type="http://schemas.openxmlformats.org/officeDocument/2006/relationships/slide" Target="slide32.xml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33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3.xml"/><Relationship Id="rId3" Type="http://schemas.openxmlformats.org/officeDocument/2006/relationships/slide" Target="slide6.xml"/><Relationship Id="rId4" Type="http://schemas.openxmlformats.org/officeDocument/2006/relationships/slide" Target="slide9.xml"/><Relationship Id="rId5" Type="http://schemas.openxmlformats.org/officeDocument/2006/relationships/slide" Target="slide18.xml"/><Relationship Id="rId6" Type="http://schemas.openxmlformats.org/officeDocument/2006/relationships/slide" Target="slide23.xml"/><Relationship Id="rId7" Type="http://schemas.openxmlformats.org/officeDocument/2006/relationships/slide" Target="slide27.xml"/><Relationship Id="rId8" Type="http://schemas.openxmlformats.org/officeDocument/2006/relationships/slide" Target="slide30.xml"/><Relationship Id="rId9" Type="http://schemas.openxmlformats.org/officeDocument/2006/relationships/slide" Target="slide32.xml"/><Relationship Id="rId10" Type="http://schemas.openxmlformats.org/officeDocument/2006/relationships/slideLayout" Target="../slideLayouts/slideLayout3.xml"/><Relationship Id="rId11" Type="http://schemas.openxmlformats.org/officeDocument/2006/relationships/notesSlide" Target="../notesSlides/notesSlide34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" Target="slide5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6.xml"/><Relationship Id="rId5" Type="http://schemas.openxmlformats.org/officeDocument/2006/relationships/slide" Target="slide9.xml"/><Relationship Id="rId6" Type="http://schemas.openxmlformats.org/officeDocument/2006/relationships/slide" Target="slide18.xml"/><Relationship Id="rId7" Type="http://schemas.openxmlformats.org/officeDocument/2006/relationships/slide" Target="slide23.xml"/><Relationship Id="rId8" Type="http://schemas.openxmlformats.org/officeDocument/2006/relationships/slide" Target="slide27.xml"/><Relationship Id="rId9" Type="http://schemas.openxmlformats.org/officeDocument/2006/relationships/slide" Target="slide30.xml"/><Relationship Id="rId10" Type="http://schemas.openxmlformats.org/officeDocument/2006/relationships/slide" Target="slide32.xml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35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" Target="slide2.xml"/><Relationship Id="rId2" Type="http://schemas.openxmlformats.org/officeDocument/2006/relationships/slide" Target="slide2.xml"/><Relationship Id="rId3" Type="http://schemas.openxmlformats.org/officeDocument/2006/relationships/slide" Target="slide3.xml"/><Relationship Id="rId4" Type="http://schemas.openxmlformats.org/officeDocument/2006/relationships/slide" Target="slide6.xml"/><Relationship Id="rId5" Type="http://schemas.openxmlformats.org/officeDocument/2006/relationships/slide" Target="slide9.xml"/><Relationship Id="rId6" Type="http://schemas.openxmlformats.org/officeDocument/2006/relationships/slide" Target="slide18.xml"/><Relationship Id="rId7" Type="http://schemas.openxmlformats.org/officeDocument/2006/relationships/slide" Target="slide23.xml"/><Relationship Id="rId8" Type="http://schemas.openxmlformats.org/officeDocument/2006/relationships/slide" Target="slide27.xml"/><Relationship Id="rId9" Type="http://schemas.openxmlformats.org/officeDocument/2006/relationships/slide" Target="slide30.xml"/><Relationship Id="rId10" Type="http://schemas.openxmlformats.org/officeDocument/2006/relationships/slide" Target="slide32.xml"/><Relationship Id="rId11" Type="http://schemas.openxmlformats.org/officeDocument/2006/relationships/slideLayout" Target="../slideLayouts/slideLayout3.xml"/><Relationship Id="rId12" Type="http://schemas.openxmlformats.org/officeDocument/2006/relationships/notesSlide" Target="../notesSlides/notesSlide3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03720" y="0"/>
            <a:ext cx="5287975" cy="6858000"/>
          </a:xfrm>
          <a:prstGeom prst="rect">
            <a:avLst/>
          </a:prstGeom>
          <a:solidFill>
            <a:schemeClr val="accent1">
              <a:alpha val="9000"/>
            </a:schemeClr>
          </a:solidFill>
          <a:ln/>
        </p:spPr>
      </p:sp>
      <p:pic>
        <p:nvPicPr>
          <p:cNvPr id="3" name="Image 0" descr="Enterprise Uzbekistan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594360"/>
            <a:ext cx="2395728" cy="914400"/>
          </a:xfrm>
          <a:prstGeom prst="rect">
            <a:avLst/>
          </a:prstGeom>
        </p:spPr>
      </p:pic>
      <p:sp>
        <p:nvSpPr>
          <p:cNvPr id="4" name="Text 1"/>
          <p:cNvSpPr txBox="1"/>
          <p:nvPr/>
        </p:nvSpPr>
        <p:spPr>
          <a:xfrm>
            <a:off x="685800" y="21488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200" kern="0" dirty="0">
                <a:solidFill>
                  <a:schemeClr val="accent1"/>
                </a:solidFill>
              </a:rPr>
              <a:t>REGULATORY</a:t>
            </a:r>
            <a:endParaRPr lang="en-US" sz="4400" dirty="0"/>
          </a:p>
        </p:txBody>
      </p:sp>
      <p:sp>
        <p:nvSpPr>
          <p:cNvPr id="5" name="Text 2"/>
          <p:cNvSpPr txBox="1"/>
          <p:nvPr/>
        </p:nvSpPr>
        <p:spPr>
          <a:xfrm>
            <a:off x="685800" y="2834640"/>
            <a:ext cx="60350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4400" b="1" spc="200" kern="0" dirty="0">
                <a:solidFill>
                  <a:schemeClr val="tx1"/>
                </a:solidFill>
              </a:rPr>
              <a:t>SANDBOX</a:t>
            </a:r>
            <a:endParaRPr lang="en-US" sz="4400" dirty="0"/>
          </a:p>
        </p:txBody>
      </p:sp>
      <p:sp>
        <p:nvSpPr>
          <p:cNvPr id="6" name="Text 3"/>
          <p:cNvSpPr txBox="1"/>
          <p:nvPr/>
        </p:nvSpPr>
        <p:spPr>
          <a:xfrm>
            <a:off x="685800" y="3794760"/>
            <a:ext cx="57607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dirty="0">
                <a:solidFill>
                  <a:schemeClr val="tx1"/>
                </a:solidFill>
              </a:rPr>
              <a:t>Международный опыт и модель запуска песочницы МЦЦТ</a:t>
            </a:r>
            <a:endParaRPr lang="en-US" sz="20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4572000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chemeClr val="tx2"/>
                </a:solidFill>
              </a:rPr>
              <a:t>Интерактивная версия стратегического отчета: разделы, кейсы и этапы открываются по щелчку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685800" y="5303520"/>
            <a:ext cx="2743200" cy="457200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685800" y="5303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Открыть навигатор  ›</a:t>
            </a:r>
            <a:endParaRPr lang="en-US" sz="1300" dirty="0"/>
          </a:p>
        </p:txBody>
      </p:sp>
      <p:sp>
        <p:nvSpPr>
          <p:cNvPr id="10" name="go:nav">
            <a:hlinkClick r:id="rId2" tooltip="Навигатор" action="ppaction://hlinksldjump"/>
          </p:cNvPr>
          <p:cNvSpPr/>
          <p:nvPr/>
        </p:nvSpPr>
        <p:spPr>
          <a:xfrm>
            <a:off x="685800" y="5303520"/>
            <a:ext cx="2743200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5800" y="5833872"/>
            <a:ext cx="4114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Ссылки активны в режиме показа слайдов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6217920"/>
            <a:ext cx="5760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Материалы к заседанию Управляющего совета · Октябрь 2026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7360920" y="1143000"/>
            <a:ext cx="4370832" cy="4206240"/>
          </a:xfrm>
          <a:prstGeom prst="roundRect">
            <a:avLst>
              <a:gd name="adj" fmla="val 3043"/>
            </a:avLst>
          </a:prstGeom>
          <a:solidFill>
            <a:schemeClr val="bg1"/>
          </a:solidFill>
          <a:ln w="19050">
            <a:solidFill>
              <a:schemeClr val="accent4"/>
            </a:solidFill>
            <a:prstDash val="solid"/>
          </a:ln>
        </p:spPr>
      </p:sp>
      <p:sp>
        <p:nvSpPr>
          <p:cNvPr id="14" name="Shape 11"/>
          <p:cNvSpPr/>
          <p:nvPr/>
        </p:nvSpPr>
        <p:spPr>
          <a:xfrm>
            <a:off x="8220456" y="1024128"/>
            <a:ext cx="2651760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5" name="Text 12"/>
          <p:cNvSpPr txBox="1"/>
          <p:nvPr/>
        </p:nvSpPr>
        <p:spPr>
          <a:xfrm>
            <a:off x="8220456" y="1024128"/>
            <a:ext cx="26517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4"/>
                </a:solidFill>
              </a:rPr>
              <a:t>ПРАВОВЫЕ ПРЕДЕЛЫ И ЗАЩИТА</a:t>
            </a:r>
            <a:endParaRPr lang="en-US" sz="850" dirty="0"/>
          </a:p>
        </p:txBody>
      </p:sp>
      <p:sp>
        <p:nvSpPr>
          <p:cNvPr id="16" name="go:boundaries">
            <a:hlinkClick r:id="rId3" tooltip="Границы и риски" action="ppaction://hlinksldjump"/>
          </p:cNvPr>
          <p:cNvSpPr/>
          <p:nvPr/>
        </p:nvSpPr>
        <p:spPr>
          <a:xfrm>
            <a:off x="8220456" y="1024128"/>
            <a:ext cx="2651760" cy="23774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7" name="Shape 14"/>
          <p:cNvSpPr/>
          <p:nvPr/>
        </p:nvSpPr>
        <p:spPr>
          <a:xfrm>
            <a:off x="7635240" y="1508760"/>
            <a:ext cx="3822192" cy="685800"/>
          </a:xfrm>
          <a:prstGeom prst="roundRect">
            <a:avLst>
              <a:gd name="adj" fmla="val 13333"/>
            </a:avLst>
          </a:prstGeom>
          <a:solidFill>
            <a:schemeClr val="accent2">
              <a:alpha val="6000"/>
            </a:schemeClr>
          </a:solidFill>
          <a:ln w="9525">
            <a:solidFill>
              <a:schemeClr val="accent2"/>
            </a:solidFill>
            <a:prstDash val="dash"/>
          </a:ln>
        </p:spPr>
      </p:sp>
      <p:pic>
        <p:nvPicPr>
          <p:cNvPr id="18" name="Image 1" descr="Databas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18120" y="1664208"/>
            <a:ext cx="365760" cy="365760"/>
          </a:xfrm>
          <a:prstGeom prst="rect">
            <a:avLst/>
          </a:prstGeom>
        </p:spPr>
      </p:pic>
      <p:sp>
        <p:nvSpPr>
          <p:cNvPr id="19" name="Text 15"/>
          <p:cNvSpPr txBox="1"/>
          <p:nvPr/>
        </p:nvSpPr>
        <p:spPr>
          <a:xfrm>
            <a:off x="8321040" y="166420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2"/>
                </a:solidFill>
              </a:rPr>
              <a:t>Data Lake</a:t>
            </a:r>
            <a:endParaRPr lang="en-US" sz="1400" dirty="0"/>
          </a:p>
        </p:txBody>
      </p:sp>
      <p:sp>
        <p:nvSpPr>
          <p:cNvPr id="20" name="Text 16"/>
          <p:cNvSpPr txBox="1"/>
          <p:nvPr/>
        </p:nvSpPr>
        <p:spPr>
          <a:xfrm>
            <a:off x="9921240" y="166420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при необходимости</a:t>
            </a:r>
            <a:endParaRPr lang="en-US" sz="900" dirty="0"/>
          </a:p>
        </p:txBody>
      </p:sp>
      <p:sp>
        <p:nvSpPr>
          <p:cNvPr id="21" name="go:datalake">
            <a:hlinkClick r:id="rId5" tooltip="Data Lake" action="ppaction://hlinksldjump"/>
          </p:cNvPr>
          <p:cNvSpPr/>
          <p:nvPr/>
        </p:nvSpPr>
        <p:spPr>
          <a:xfrm>
            <a:off x="7635240" y="1508760"/>
            <a:ext cx="3822192" cy="6858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7909560" y="3035808"/>
            <a:ext cx="3275381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23" name="Shape 19"/>
          <p:cNvSpPr/>
          <p:nvPr/>
        </p:nvSpPr>
        <p:spPr>
          <a:xfrm>
            <a:off x="7635240" y="2761488"/>
            <a:ext cx="548640" cy="548640"/>
          </a:xfrm>
          <a:prstGeom prst="ellipse">
            <a:avLst/>
          </a:prstGeom>
          <a:ln w="15875">
            <a:solidFill>
              <a:schemeClr val="accent1"/>
            </a:solidFill>
            <a:prstDash val="solid"/>
          </a:ln>
        </p:spPr>
      </p:sp>
      <p:sp>
        <p:nvSpPr>
          <p:cNvPr id="24" name="Shape 20"/>
          <p:cNvSpPr/>
          <p:nvPr/>
        </p:nvSpPr>
        <p:spPr>
          <a:xfrm>
            <a:off x="7708392" y="283464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5" name="Text 21"/>
          <p:cNvSpPr txBox="1"/>
          <p:nvPr/>
        </p:nvSpPr>
        <p:spPr>
          <a:xfrm>
            <a:off x="7708392" y="2834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26" name="Shape 22"/>
          <p:cNvSpPr/>
          <p:nvPr/>
        </p:nvSpPr>
        <p:spPr>
          <a:xfrm>
            <a:off x="8254289" y="283464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3"/>
          <p:cNvSpPr txBox="1"/>
          <p:nvPr/>
        </p:nvSpPr>
        <p:spPr>
          <a:xfrm>
            <a:off x="8254289" y="2834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28" name="Shape 24"/>
          <p:cNvSpPr/>
          <p:nvPr/>
        </p:nvSpPr>
        <p:spPr>
          <a:xfrm>
            <a:off x="8800186" y="283464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9" name="Text 25"/>
          <p:cNvSpPr txBox="1"/>
          <p:nvPr/>
        </p:nvSpPr>
        <p:spPr>
          <a:xfrm>
            <a:off x="8800186" y="2834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30" name="Shape 26"/>
          <p:cNvSpPr/>
          <p:nvPr/>
        </p:nvSpPr>
        <p:spPr>
          <a:xfrm>
            <a:off x="9346082" y="283464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1" name="Text 27"/>
          <p:cNvSpPr txBox="1"/>
          <p:nvPr/>
        </p:nvSpPr>
        <p:spPr>
          <a:xfrm>
            <a:off x="9346082" y="2834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2" name="Shape 28"/>
          <p:cNvSpPr/>
          <p:nvPr/>
        </p:nvSpPr>
        <p:spPr>
          <a:xfrm>
            <a:off x="9891979" y="283464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ext 29"/>
          <p:cNvSpPr txBox="1"/>
          <p:nvPr/>
        </p:nvSpPr>
        <p:spPr>
          <a:xfrm>
            <a:off x="9891979" y="2834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4" name="Shape 30"/>
          <p:cNvSpPr/>
          <p:nvPr/>
        </p:nvSpPr>
        <p:spPr>
          <a:xfrm>
            <a:off x="10437876" y="283464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10437876" y="2834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36" name="Shape 32"/>
          <p:cNvSpPr/>
          <p:nvPr/>
        </p:nvSpPr>
        <p:spPr>
          <a:xfrm>
            <a:off x="10983773" y="2834640"/>
            <a:ext cx="402336" cy="402336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7" name="Text 33"/>
          <p:cNvSpPr txBox="1"/>
          <p:nvPr/>
        </p:nvSpPr>
        <p:spPr>
          <a:xfrm>
            <a:off x="10983773" y="2834640"/>
            <a:ext cx="40233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38" name="Text 34"/>
          <p:cNvSpPr txBox="1"/>
          <p:nvPr/>
        </p:nvSpPr>
        <p:spPr>
          <a:xfrm>
            <a:off x="7635240" y="3337560"/>
            <a:ext cx="382219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семь этапов · единая точка входа</a:t>
            </a:r>
            <a:endParaRPr lang="en-US" sz="950" dirty="0"/>
          </a:p>
        </p:txBody>
      </p:sp>
      <p:sp>
        <p:nvSpPr>
          <p:cNvPr id="39" name="go:stages7">
            <a:hlinkClick r:id="rId6" tooltip="Семь этапов" action="ppaction://hlinksldjump"/>
          </p:cNvPr>
          <p:cNvSpPr/>
          <p:nvPr/>
        </p:nvSpPr>
        <p:spPr>
          <a:xfrm>
            <a:off x="7635240" y="2697480"/>
            <a:ext cx="3822192" cy="8686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0" name="Shape 36"/>
          <p:cNvSpPr/>
          <p:nvPr/>
        </p:nvSpPr>
        <p:spPr>
          <a:xfrm>
            <a:off x="7635240" y="3703320"/>
            <a:ext cx="3822192" cy="685800"/>
          </a:xfrm>
          <a:prstGeom prst="roundRect">
            <a:avLst>
              <a:gd name="adj" fmla="val 13333"/>
            </a:avLst>
          </a:prstGeom>
          <a:solidFill>
            <a:schemeClr val="accent3">
              <a:alpha val="6000"/>
            </a:schemeClr>
          </a:solidFill>
          <a:ln w="9525">
            <a:solidFill>
              <a:schemeClr val="accent3"/>
            </a:solidFill>
            <a:prstDash val="dash"/>
          </a:ln>
        </p:spPr>
      </p:sp>
      <p:pic>
        <p:nvPicPr>
          <p:cNvPr id="41" name="Image 2" descr="User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818120" y="3858768"/>
            <a:ext cx="365760" cy="365760"/>
          </a:xfrm>
          <a:prstGeom prst="rect">
            <a:avLst/>
          </a:prstGeom>
        </p:spPr>
      </p:pic>
      <p:sp>
        <p:nvSpPr>
          <p:cNvPr id="42" name="Text 37"/>
          <p:cNvSpPr txBox="1"/>
          <p:nvPr/>
        </p:nvSpPr>
        <p:spPr>
          <a:xfrm>
            <a:off x="8321040" y="3858768"/>
            <a:ext cx="1828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accent3"/>
                </a:solidFill>
              </a:rPr>
              <a:t>Фокус-группы</a:t>
            </a:r>
            <a:endParaRPr lang="en-US" sz="1400" dirty="0"/>
          </a:p>
        </p:txBody>
      </p:sp>
      <p:sp>
        <p:nvSpPr>
          <p:cNvPr id="43" name="Text 38"/>
          <p:cNvSpPr txBox="1"/>
          <p:nvPr/>
        </p:nvSpPr>
        <p:spPr>
          <a:xfrm>
            <a:off x="9921240" y="3858768"/>
            <a:ext cx="1417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при необходимости</a:t>
            </a:r>
            <a:endParaRPr lang="en-US" sz="900" dirty="0"/>
          </a:p>
        </p:txBody>
      </p:sp>
      <p:sp>
        <p:nvSpPr>
          <p:cNvPr id="44" name="go:focus">
            <a:hlinkClick r:id="rId8" tooltip="Фокус-группы" action="ppaction://hlinksldjump"/>
          </p:cNvPr>
          <p:cNvSpPr/>
          <p:nvPr/>
        </p:nvSpPr>
        <p:spPr>
          <a:xfrm>
            <a:off x="7635240" y="3703320"/>
            <a:ext cx="3822192" cy="6858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5" name="Shape 40"/>
          <p:cNvSpPr/>
          <p:nvPr/>
        </p:nvSpPr>
        <p:spPr>
          <a:xfrm>
            <a:off x="7635240" y="4572000"/>
            <a:ext cx="1847088" cy="54864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46" name="Text 41"/>
          <p:cNvSpPr txBox="1"/>
          <p:nvPr/>
        </p:nvSpPr>
        <p:spPr>
          <a:xfrm>
            <a:off x="7726680" y="457200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Вывод по проекту</a:t>
            </a:r>
            <a:endParaRPr lang="en-US" sz="1050" dirty="0"/>
          </a:p>
        </p:txBody>
      </p:sp>
      <p:sp>
        <p:nvSpPr>
          <p:cNvPr id="47" name="Shape 42"/>
          <p:cNvSpPr/>
          <p:nvPr/>
        </p:nvSpPr>
        <p:spPr>
          <a:xfrm>
            <a:off x="9610344" y="4572000"/>
            <a:ext cx="1847088" cy="548640"/>
          </a:xfrm>
          <a:prstGeom prst="roundRect">
            <a:avLst>
              <a:gd name="adj" fmla="val 13333"/>
            </a:avLst>
          </a:prstGeom>
          <a:solidFill>
            <a:schemeClr val="accent5"/>
          </a:solidFill>
          <a:ln/>
        </p:spPr>
      </p:sp>
      <p:sp>
        <p:nvSpPr>
          <p:cNvPr id="48" name="Text 43"/>
          <p:cNvSpPr txBox="1"/>
          <p:nvPr/>
        </p:nvSpPr>
        <p:spPr>
          <a:xfrm>
            <a:off x="9701784" y="4572000"/>
            <a:ext cx="1664208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Вывод по регулированию</a:t>
            </a:r>
            <a:endParaRPr lang="en-US" sz="1050" dirty="0"/>
          </a:p>
        </p:txBody>
      </p:sp>
      <p:sp>
        <p:nvSpPr>
          <p:cNvPr id="49" name="go:after">
            <a:hlinkClick r:id="rId9" tooltip="Что происходит после теста" action="ppaction://hlinksldjump"/>
          </p:cNvPr>
          <p:cNvSpPr/>
          <p:nvPr/>
        </p:nvSpPr>
        <p:spPr>
          <a:xfrm>
            <a:off x="7635240" y="4572000"/>
            <a:ext cx="3822192" cy="5486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0" name="Text 45"/>
          <p:cNvSpPr txBox="1"/>
          <p:nvPr/>
        </p:nvSpPr>
        <p:spPr>
          <a:xfrm>
            <a:off x="7360920" y="5532120"/>
            <a:ext cx="437083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Нажмите на элемент схемы, чтобы перейти к разделу</a:t>
            </a:r>
            <a:endParaRPr lang="en-US" sz="9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Навигатор по презентации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Нажмите на раздел. Вкладки вверху каждого слайда ведут к разделам, «Меню» возвращает сюда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10512"/>
            <a:ext cx="2679192" cy="1938528"/>
          </a:xfrm>
          <a:prstGeom prst="roundRect">
            <a:avLst>
              <a:gd name="adj" fmla="val 4717"/>
            </a:avLst>
          </a:prstGeom>
          <a:solidFill>
            <a:schemeClr val="bg2"/>
          </a:solidFill>
          <a:ln w="9525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685800" y="1993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2523744" y="1947672"/>
            <a:ext cx="475488" cy="475488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7" name="Image 0" descr="Targe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28351" y="2052279"/>
            <a:ext cx="266273" cy="266273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685800" y="2414016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Главное</a:t>
            </a:r>
            <a:endParaRPr lang="en-US" sz="150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779776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Пять выводов, десять рекомендаций и решения Совета</a:t>
            </a:r>
            <a:endParaRPr lang="en-US" sz="1050" dirty="0"/>
          </a:p>
        </p:txBody>
      </p:sp>
      <p:sp>
        <p:nvSpPr>
          <p:cNvPr id="10" name="Text 7"/>
          <p:cNvSpPr txBox="1"/>
          <p:nvPr/>
        </p:nvSpPr>
        <p:spPr>
          <a:xfrm>
            <a:off x="685800" y="338328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Слайды 3–5  ›</a:t>
            </a:r>
            <a:endParaRPr lang="en-US" sz="1000" dirty="0"/>
          </a:p>
        </p:txBody>
      </p:sp>
      <p:sp>
        <p:nvSpPr>
          <p:cNvPr id="11" name="go:key5">
            <a:hlinkClick r:id="rId2" tooltip="Главное" action="ppaction://hlinksldjump"/>
          </p:cNvPr>
          <p:cNvSpPr/>
          <p:nvPr/>
        </p:nvSpPr>
        <p:spPr>
          <a:xfrm>
            <a:off x="502920" y="1810512"/>
            <a:ext cx="2679192" cy="193852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Shape 9"/>
          <p:cNvSpPr/>
          <p:nvPr/>
        </p:nvSpPr>
        <p:spPr>
          <a:xfrm>
            <a:off x="3337560" y="1810512"/>
            <a:ext cx="2679192" cy="1938528"/>
          </a:xfrm>
          <a:prstGeom prst="roundRect">
            <a:avLst>
              <a:gd name="adj" fmla="val 4717"/>
            </a:avLst>
          </a:prstGeom>
          <a:solidFill>
            <a:schemeClr val="bg2"/>
          </a:solidFill>
          <a:ln w="9525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13" name="Text 10"/>
          <p:cNvSpPr txBox="1"/>
          <p:nvPr/>
        </p:nvSpPr>
        <p:spPr>
          <a:xfrm>
            <a:off x="3520440" y="1993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02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5358384" y="1947672"/>
            <a:ext cx="475488" cy="475488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5" name="Image 1" descr="Glob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462991" y="2052279"/>
            <a:ext cx="266273" cy="266273"/>
          </a:xfrm>
          <a:prstGeom prst="rect">
            <a:avLst/>
          </a:prstGeom>
        </p:spPr>
      </p:pic>
      <p:sp>
        <p:nvSpPr>
          <p:cNvPr id="16" name="Text 12"/>
          <p:cNvSpPr txBox="1"/>
          <p:nvPr/>
        </p:nvSpPr>
        <p:spPr>
          <a:xfrm>
            <a:off x="3520440" y="2414016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Мир в цифрах</a:t>
            </a:r>
            <a:endParaRPr lang="en-US" sz="1500" dirty="0"/>
          </a:p>
        </p:txBody>
      </p:sp>
      <p:sp>
        <p:nvSpPr>
          <p:cNvPr id="17" name="Text 13"/>
          <p:cNvSpPr txBox="1"/>
          <p:nvPr/>
        </p:nvSpPr>
        <p:spPr>
          <a:xfrm>
            <a:off x="3520440" y="2779776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Результаты песочниц, избирательность и неудачи</a:t>
            </a:r>
            <a:endParaRPr lang="en-US" sz="1050" dirty="0"/>
          </a:p>
        </p:txBody>
      </p:sp>
      <p:sp>
        <p:nvSpPr>
          <p:cNvPr id="18" name="Text 14"/>
          <p:cNvSpPr txBox="1"/>
          <p:nvPr/>
        </p:nvSpPr>
        <p:spPr>
          <a:xfrm>
            <a:off x="3520440" y="338328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Слайды 6–8  ›</a:t>
            </a:r>
            <a:endParaRPr lang="en-US" sz="1000" dirty="0"/>
          </a:p>
        </p:txBody>
      </p:sp>
      <p:sp>
        <p:nvSpPr>
          <p:cNvPr id="19" name="go:numbers">
            <a:hlinkClick r:id="rId4" tooltip="Мир в цифрах" action="ppaction://hlinksldjump"/>
          </p:cNvPr>
          <p:cNvSpPr/>
          <p:nvPr/>
        </p:nvSpPr>
        <p:spPr>
          <a:xfrm>
            <a:off x="3337560" y="1810512"/>
            <a:ext cx="2679192" cy="193852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Shape 16"/>
          <p:cNvSpPr/>
          <p:nvPr/>
        </p:nvSpPr>
        <p:spPr>
          <a:xfrm>
            <a:off x="6172200" y="1810512"/>
            <a:ext cx="2679192" cy="1938528"/>
          </a:xfrm>
          <a:prstGeom prst="roundRect">
            <a:avLst>
              <a:gd name="adj" fmla="val 4717"/>
            </a:avLst>
          </a:prstGeom>
          <a:solidFill>
            <a:schemeClr val="bg2"/>
          </a:solidFill>
          <a:ln w="9525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21" name="Text 17"/>
          <p:cNvSpPr txBox="1"/>
          <p:nvPr/>
        </p:nvSpPr>
        <p:spPr>
          <a:xfrm>
            <a:off x="6355080" y="1993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03</a:t>
            </a:r>
            <a:endParaRPr lang="en-US" sz="1100" dirty="0"/>
          </a:p>
        </p:txBody>
      </p:sp>
      <p:sp>
        <p:nvSpPr>
          <p:cNvPr id="22" name="Shape 18"/>
          <p:cNvSpPr/>
          <p:nvPr/>
        </p:nvSpPr>
        <p:spPr>
          <a:xfrm>
            <a:off x="8193024" y="1947672"/>
            <a:ext cx="475488" cy="475488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3" name="Image 2" descr="BookOpe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297631" y="2052279"/>
            <a:ext cx="266273" cy="266273"/>
          </a:xfrm>
          <a:prstGeom prst="rect">
            <a:avLst/>
          </a:prstGeom>
        </p:spPr>
      </p:pic>
      <p:sp>
        <p:nvSpPr>
          <p:cNvPr id="24" name="Text 19"/>
          <p:cNvSpPr txBox="1"/>
          <p:nvPr/>
        </p:nvSpPr>
        <p:spPr>
          <a:xfrm>
            <a:off x="6355080" y="2414016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Кейсы</a:t>
            </a:r>
            <a:endParaRPr lang="en-US" sz="1500" dirty="0"/>
          </a:p>
        </p:txBody>
      </p:sp>
      <p:sp>
        <p:nvSpPr>
          <p:cNvPr id="25" name="Text 20"/>
          <p:cNvSpPr txBox="1"/>
          <p:nvPr/>
        </p:nvSpPr>
        <p:spPr>
          <a:xfrm>
            <a:off x="6355080" y="2779776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Восемь программ: что измеряли и что берет МЦЦТ</a:t>
            </a:r>
            <a:endParaRPr lang="en-US" sz="1050" dirty="0"/>
          </a:p>
        </p:txBody>
      </p:sp>
      <p:sp>
        <p:nvSpPr>
          <p:cNvPr id="26" name="Text 21"/>
          <p:cNvSpPr txBox="1"/>
          <p:nvPr/>
        </p:nvSpPr>
        <p:spPr>
          <a:xfrm>
            <a:off x="6355080" y="338328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Слайды 9–17  ›</a:t>
            </a:r>
            <a:endParaRPr lang="en-US" sz="1000" dirty="0"/>
          </a:p>
        </p:txBody>
      </p:sp>
      <p:sp>
        <p:nvSpPr>
          <p:cNvPr id="27" name="go:casemap">
            <a:hlinkClick r:id="rId6" tooltip="Кейсы" action="ppaction://hlinksldjump"/>
          </p:cNvPr>
          <p:cNvSpPr/>
          <p:nvPr/>
        </p:nvSpPr>
        <p:spPr>
          <a:xfrm>
            <a:off x="6172200" y="1810512"/>
            <a:ext cx="2679192" cy="193852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Shape 23"/>
          <p:cNvSpPr/>
          <p:nvPr/>
        </p:nvSpPr>
        <p:spPr>
          <a:xfrm>
            <a:off x="9006840" y="1810512"/>
            <a:ext cx="2679192" cy="1938528"/>
          </a:xfrm>
          <a:prstGeom prst="roundRect">
            <a:avLst>
              <a:gd name="adj" fmla="val 4717"/>
            </a:avLst>
          </a:prstGeom>
          <a:solidFill>
            <a:schemeClr val="bg2"/>
          </a:solidFill>
          <a:ln w="9525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29" name="Text 24"/>
          <p:cNvSpPr txBox="1"/>
          <p:nvPr/>
        </p:nvSpPr>
        <p:spPr>
          <a:xfrm>
            <a:off x="9189720" y="199339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04</a:t>
            </a:r>
            <a:endParaRPr lang="en-US" sz="1100" dirty="0"/>
          </a:p>
        </p:txBody>
      </p:sp>
      <p:sp>
        <p:nvSpPr>
          <p:cNvPr id="30" name="Shape 25"/>
          <p:cNvSpPr/>
          <p:nvPr/>
        </p:nvSpPr>
        <p:spPr>
          <a:xfrm>
            <a:off x="11027664" y="1947672"/>
            <a:ext cx="475488" cy="475488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1" name="Image 3" descr="Landmar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1132271" y="2052279"/>
            <a:ext cx="266273" cy="266273"/>
          </a:xfrm>
          <a:prstGeom prst="rect">
            <a:avLst/>
          </a:prstGeom>
        </p:spPr>
      </p:pic>
      <p:sp>
        <p:nvSpPr>
          <p:cNvPr id="32" name="Text 26"/>
          <p:cNvSpPr txBox="1"/>
          <p:nvPr/>
        </p:nvSpPr>
        <p:spPr>
          <a:xfrm>
            <a:off x="9189720" y="2414016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Модель МЦЦТ</a:t>
            </a:r>
            <a:endParaRPr lang="en-US" sz="1500" dirty="0"/>
          </a:p>
        </p:txBody>
      </p:sp>
      <p:sp>
        <p:nvSpPr>
          <p:cNvPr id="33" name="Text 27"/>
          <p:cNvSpPr txBox="1"/>
          <p:nvPr/>
        </p:nvSpPr>
        <p:spPr>
          <a:xfrm>
            <a:off x="9189720" y="2779776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Экосистема, форматы, правовая основа, кто решает</a:t>
            </a:r>
            <a:endParaRPr lang="en-US" sz="1050" dirty="0"/>
          </a:p>
        </p:txBody>
      </p:sp>
      <p:sp>
        <p:nvSpPr>
          <p:cNvPr id="34" name="Text 28"/>
          <p:cNvSpPr txBox="1"/>
          <p:nvPr/>
        </p:nvSpPr>
        <p:spPr>
          <a:xfrm>
            <a:off x="9189720" y="338328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Слайды 18–22  ›</a:t>
            </a:r>
            <a:endParaRPr lang="en-US" sz="1000" dirty="0"/>
          </a:p>
        </p:txBody>
      </p:sp>
      <p:sp>
        <p:nvSpPr>
          <p:cNvPr id="35" name="go:ecosystem">
            <a:hlinkClick r:id="rId8" tooltip="Модель МЦЦТ" action="ppaction://hlinksldjump"/>
          </p:cNvPr>
          <p:cNvSpPr/>
          <p:nvPr/>
        </p:nvSpPr>
        <p:spPr>
          <a:xfrm>
            <a:off x="9006840" y="1810512"/>
            <a:ext cx="2679192" cy="193852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6" name="Shape 30"/>
          <p:cNvSpPr/>
          <p:nvPr/>
        </p:nvSpPr>
        <p:spPr>
          <a:xfrm>
            <a:off x="502920" y="3913632"/>
            <a:ext cx="2679192" cy="1938528"/>
          </a:xfrm>
          <a:prstGeom prst="roundRect">
            <a:avLst>
              <a:gd name="adj" fmla="val 4717"/>
            </a:avLst>
          </a:prstGeom>
          <a:solidFill>
            <a:schemeClr val="bg2"/>
          </a:solidFill>
          <a:ln w="9525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37" name="Text 31"/>
          <p:cNvSpPr txBox="1"/>
          <p:nvPr/>
        </p:nvSpPr>
        <p:spPr>
          <a:xfrm>
            <a:off x="685800" y="4096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05</a:t>
            </a:r>
            <a:endParaRPr lang="en-US" sz="1100" dirty="0"/>
          </a:p>
        </p:txBody>
      </p:sp>
      <p:sp>
        <p:nvSpPr>
          <p:cNvPr id="38" name="Shape 32"/>
          <p:cNvSpPr/>
          <p:nvPr/>
        </p:nvSpPr>
        <p:spPr>
          <a:xfrm>
            <a:off x="2523744" y="4050792"/>
            <a:ext cx="475488" cy="475488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9" name="Image 4" descr="Route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2628351" y="4155399"/>
            <a:ext cx="266273" cy="266273"/>
          </a:xfrm>
          <a:prstGeom prst="rect">
            <a:avLst/>
          </a:prstGeom>
        </p:spPr>
      </p:pic>
      <p:sp>
        <p:nvSpPr>
          <p:cNvPr id="40" name="Text 33"/>
          <p:cNvSpPr txBox="1"/>
          <p:nvPr/>
        </p:nvSpPr>
        <p:spPr>
          <a:xfrm>
            <a:off x="685800" y="4517136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Этапы и механизмы</a:t>
            </a:r>
            <a:endParaRPr lang="en-US" sz="1500" dirty="0"/>
          </a:p>
        </p:txBody>
      </p:sp>
      <p:sp>
        <p:nvSpPr>
          <p:cNvPr id="41" name="Text 34"/>
          <p:cNvSpPr txBox="1"/>
          <p:nvPr/>
        </p:nvSpPr>
        <p:spPr>
          <a:xfrm>
            <a:off x="685800" y="4882896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Путь заявки, семь этапов, Data Lake, фокус-группы</a:t>
            </a:r>
            <a:endParaRPr lang="en-US" sz="1050" dirty="0"/>
          </a:p>
        </p:txBody>
      </p:sp>
      <p:sp>
        <p:nvSpPr>
          <p:cNvPr id="42" name="Text 35"/>
          <p:cNvSpPr txBox="1"/>
          <p:nvPr/>
        </p:nvSpPr>
        <p:spPr>
          <a:xfrm>
            <a:off x="685800" y="54864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Слайды 23–26  ›</a:t>
            </a:r>
            <a:endParaRPr lang="en-US" sz="1000" dirty="0"/>
          </a:p>
        </p:txBody>
      </p:sp>
      <p:sp>
        <p:nvSpPr>
          <p:cNvPr id="43" name="go:path">
            <a:hlinkClick r:id="rId10" tooltip="Этапы и механизмы" action="ppaction://hlinksldjump"/>
          </p:cNvPr>
          <p:cNvSpPr/>
          <p:nvPr/>
        </p:nvSpPr>
        <p:spPr>
          <a:xfrm>
            <a:off x="502920" y="3913632"/>
            <a:ext cx="2679192" cy="193852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4" name="Shape 37"/>
          <p:cNvSpPr/>
          <p:nvPr/>
        </p:nvSpPr>
        <p:spPr>
          <a:xfrm>
            <a:off x="3337560" y="3913632"/>
            <a:ext cx="2679192" cy="1938528"/>
          </a:xfrm>
          <a:prstGeom prst="roundRect">
            <a:avLst>
              <a:gd name="adj" fmla="val 4717"/>
            </a:avLst>
          </a:prstGeom>
          <a:solidFill>
            <a:schemeClr val="bg2"/>
          </a:solidFill>
          <a:ln w="9525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45" name="Text 38"/>
          <p:cNvSpPr txBox="1"/>
          <p:nvPr/>
        </p:nvSpPr>
        <p:spPr>
          <a:xfrm>
            <a:off x="3520440" y="4096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06</a:t>
            </a:r>
            <a:endParaRPr lang="en-US" sz="1100" dirty="0"/>
          </a:p>
        </p:txBody>
      </p:sp>
      <p:sp>
        <p:nvSpPr>
          <p:cNvPr id="46" name="Shape 39"/>
          <p:cNvSpPr/>
          <p:nvPr/>
        </p:nvSpPr>
        <p:spPr>
          <a:xfrm>
            <a:off x="5358384" y="4050792"/>
            <a:ext cx="475488" cy="475488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47" name="Image 5" descr="ShieldCheck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62991" y="4155399"/>
            <a:ext cx="266273" cy="266273"/>
          </a:xfrm>
          <a:prstGeom prst="rect">
            <a:avLst/>
          </a:prstGeom>
        </p:spPr>
      </p:pic>
      <p:sp>
        <p:nvSpPr>
          <p:cNvPr id="48" name="Text 40"/>
          <p:cNvSpPr txBox="1"/>
          <p:nvPr/>
        </p:nvSpPr>
        <p:spPr>
          <a:xfrm>
            <a:off x="3520440" y="4517136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Защита и границы</a:t>
            </a:r>
            <a:endParaRPr lang="en-US" sz="1500" dirty="0"/>
          </a:p>
        </p:txBody>
      </p:sp>
      <p:sp>
        <p:nvSpPr>
          <p:cNvPr id="49" name="Text 41"/>
          <p:cNvSpPr txBox="1"/>
          <p:nvPr/>
        </p:nvSpPr>
        <p:spPr>
          <a:xfrm>
            <a:off x="3520440" y="4882896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Критерии допуска, пределы теста, риски, выход</a:t>
            </a:r>
            <a:endParaRPr lang="en-US" sz="1050" dirty="0"/>
          </a:p>
        </p:txBody>
      </p:sp>
      <p:sp>
        <p:nvSpPr>
          <p:cNvPr id="50" name="Text 42"/>
          <p:cNvSpPr txBox="1"/>
          <p:nvPr/>
        </p:nvSpPr>
        <p:spPr>
          <a:xfrm>
            <a:off x="3520440" y="54864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Слайды 27–29  ›</a:t>
            </a:r>
            <a:endParaRPr lang="en-US" sz="1000" dirty="0"/>
          </a:p>
        </p:txBody>
      </p:sp>
      <p:sp>
        <p:nvSpPr>
          <p:cNvPr id="51" name="go:criteria">
            <a:hlinkClick r:id="rId12" tooltip="Защита и границы" action="ppaction://hlinksldjump"/>
          </p:cNvPr>
          <p:cNvSpPr/>
          <p:nvPr/>
        </p:nvSpPr>
        <p:spPr>
          <a:xfrm>
            <a:off x="3337560" y="3913632"/>
            <a:ext cx="2679192" cy="193852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2" name="Shape 44"/>
          <p:cNvSpPr/>
          <p:nvPr/>
        </p:nvSpPr>
        <p:spPr>
          <a:xfrm>
            <a:off x="6172200" y="3913632"/>
            <a:ext cx="2679192" cy="1938528"/>
          </a:xfrm>
          <a:prstGeom prst="roundRect">
            <a:avLst>
              <a:gd name="adj" fmla="val 4717"/>
            </a:avLst>
          </a:prstGeom>
          <a:solidFill>
            <a:schemeClr val="bg2"/>
          </a:solidFill>
          <a:ln w="9525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53" name="Text 45"/>
          <p:cNvSpPr txBox="1"/>
          <p:nvPr/>
        </p:nvSpPr>
        <p:spPr>
          <a:xfrm>
            <a:off x="6355080" y="4096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07</a:t>
            </a:r>
            <a:endParaRPr lang="en-US" sz="1100" dirty="0"/>
          </a:p>
        </p:txBody>
      </p:sp>
      <p:sp>
        <p:nvSpPr>
          <p:cNvPr id="54" name="Shape 46"/>
          <p:cNvSpPr/>
          <p:nvPr/>
        </p:nvSpPr>
        <p:spPr>
          <a:xfrm>
            <a:off x="8193024" y="4050792"/>
            <a:ext cx="475488" cy="475488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55" name="Image 6" descr="FlaskConical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8297631" y="4155399"/>
            <a:ext cx="266273" cy="266273"/>
          </a:xfrm>
          <a:prstGeom prst="rect">
            <a:avLst/>
          </a:prstGeom>
        </p:spPr>
      </p:pic>
      <p:sp>
        <p:nvSpPr>
          <p:cNvPr id="56" name="Text 47"/>
          <p:cNvSpPr txBox="1"/>
          <p:nvPr/>
        </p:nvSpPr>
        <p:spPr>
          <a:xfrm>
            <a:off x="6355080" y="4517136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Пилоты и партнеры</a:t>
            </a:r>
            <a:endParaRPr lang="en-US" sz="1500" dirty="0"/>
          </a:p>
        </p:txBody>
      </p:sp>
      <p:sp>
        <p:nvSpPr>
          <p:cNvPr id="57" name="Text 48"/>
          <p:cNvSpPr txBox="1"/>
          <p:nvPr/>
        </p:nvSpPr>
        <p:spPr>
          <a:xfrm>
            <a:off x="6355080" y="4882896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Портфель P1–P4 и роль WEF</a:t>
            </a:r>
            <a:endParaRPr lang="en-US" sz="1050" dirty="0"/>
          </a:p>
        </p:txBody>
      </p:sp>
      <p:sp>
        <p:nvSpPr>
          <p:cNvPr id="58" name="Text 49"/>
          <p:cNvSpPr txBox="1"/>
          <p:nvPr/>
        </p:nvSpPr>
        <p:spPr>
          <a:xfrm>
            <a:off x="6355080" y="54864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Слайды 30–31  ›</a:t>
            </a:r>
            <a:endParaRPr lang="en-US" sz="1000" dirty="0"/>
          </a:p>
        </p:txBody>
      </p:sp>
      <p:sp>
        <p:nvSpPr>
          <p:cNvPr id="59" name="go:pilots">
            <a:hlinkClick r:id="rId14" tooltip="Пилоты и партнеры" action="ppaction://hlinksldjump"/>
          </p:cNvPr>
          <p:cNvSpPr/>
          <p:nvPr/>
        </p:nvSpPr>
        <p:spPr>
          <a:xfrm>
            <a:off x="6172200" y="3913632"/>
            <a:ext cx="2679192" cy="193852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0" name="Shape 51"/>
          <p:cNvSpPr/>
          <p:nvPr/>
        </p:nvSpPr>
        <p:spPr>
          <a:xfrm>
            <a:off x="9006840" y="3913632"/>
            <a:ext cx="2679192" cy="1938528"/>
          </a:xfrm>
          <a:prstGeom prst="roundRect">
            <a:avLst>
              <a:gd name="adj" fmla="val 4717"/>
            </a:avLst>
          </a:prstGeom>
          <a:solidFill>
            <a:schemeClr val="bg2"/>
          </a:solidFill>
          <a:ln w="9525">
            <a:solidFill>
              <a:schemeClr val="tx2">
                <a:alpha val="25000"/>
              </a:schemeClr>
            </a:solidFill>
            <a:prstDash val="solid"/>
          </a:ln>
        </p:spPr>
      </p:sp>
      <p:sp>
        <p:nvSpPr>
          <p:cNvPr id="61" name="Text 52"/>
          <p:cNvSpPr txBox="1"/>
          <p:nvPr/>
        </p:nvSpPr>
        <p:spPr>
          <a:xfrm>
            <a:off x="9189720" y="4096512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08</a:t>
            </a:r>
            <a:endParaRPr lang="en-US" sz="1100" dirty="0"/>
          </a:p>
        </p:txBody>
      </p:sp>
      <p:sp>
        <p:nvSpPr>
          <p:cNvPr id="62" name="Shape 53"/>
          <p:cNvSpPr/>
          <p:nvPr/>
        </p:nvSpPr>
        <p:spPr>
          <a:xfrm>
            <a:off x="11027664" y="4050792"/>
            <a:ext cx="475488" cy="475488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63" name="Image 7" descr="CalendarDays">    </p:cNvPr>
          <p:cNvPicPr>
            <a:picLocks noChangeAspect="1"/>
          </p:cNvPicPr>
          <p:nvPr/>
        </p:nvPicPr>
        <p:blipFill>
          <a:blip r:embed="rId15"/>
          <a:stretch>
            <a:fillRect/>
          </a:stretch>
        </p:blipFill>
        <p:spPr>
          <a:xfrm>
            <a:off x="11132271" y="4155399"/>
            <a:ext cx="266273" cy="266273"/>
          </a:xfrm>
          <a:prstGeom prst="rect">
            <a:avLst/>
          </a:prstGeom>
        </p:spPr>
      </p:pic>
      <p:sp>
        <p:nvSpPr>
          <p:cNvPr id="64" name="Text 54"/>
          <p:cNvSpPr txBox="1"/>
          <p:nvPr/>
        </p:nvSpPr>
        <p:spPr>
          <a:xfrm>
            <a:off x="9189720" y="4517136"/>
            <a:ext cx="2313432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tx1"/>
                </a:solidFill>
              </a:rPr>
              <a:t>План и решения</a:t>
            </a:r>
            <a:endParaRPr lang="en-US" sz="1500" dirty="0"/>
          </a:p>
        </p:txBody>
      </p:sp>
      <p:sp>
        <p:nvSpPr>
          <p:cNvPr id="65" name="Text 55"/>
          <p:cNvSpPr txBox="1"/>
          <p:nvPr/>
        </p:nvSpPr>
        <p:spPr>
          <a:xfrm>
            <a:off x="9189720" y="4882896"/>
            <a:ext cx="231343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2"/>
                </a:solidFill>
              </a:rPr>
              <a:t>90 дней, 12 месяцев, KPI, матрица решений</a:t>
            </a:r>
            <a:endParaRPr lang="en-US" sz="1050" dirty="0"/>
          </a:p>
        </p:txBody>
      </p:sp>
      <p:sp>
        <p:nvSpPr>
          <p:cNvPr id="66" name="Text 56"/>
          <p:cNvSpPr txBox="1"/>
          <p:nvPr/>
        </p:nvSpPr>
        <p:spPr>
          <a:xfrm>
            <a:off x="9189720" y="5486400"/>
            <a:ext cx="23134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Слайды 32–35  ›</a:t>
            </a:r>
            <a:endParaRPr lang="en-US" sz="1000" dirty="0"/>
          </a:p>
        </p:txBody>
      </p:sp>
      <p:sp>
        <p:nvSpPr>
          <p:cNvPr id="67" name="go:plan90">
            <a:hlinkClick r:id="rId16" tooltip="План и решения" action="ppaction://hlinksldjump"/>
          </p:cNvPr>
          <p:cNvSpPr/>
          <p:nvPr/>
        </p:nvSpPr>
        <p:spPr>
          <a:xfrm>
            <a:off x="9006840" y="3913632"/>
            <a:ext cx="2679192" cy="193852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8" name="Text 58"/>
          <p:cNvSpPr txBox="1"/>
          <p:nvPr/>
        </p:nvSpPr>
        <p:spPr>
          <a:xfrm>
            <a:off x="502920" y="6035040"/>
            <a:ext cx="5669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Статус данных, источники и расхождения с моделью МЦЦТ  ›</a:t>
            </a:r>
            <a:endParaRPr lang="en-US" sz="1050" dirty="0"/>
          </a:p>
        </p:txBody>
      </p:sp>
      <p:sp>
        <p:nvSpPr>
          <p:cNvPr id="69" name="go:sources">
            <a:hlinkClick r:id="rId17" tooltip="Статус данных и источники" action="ppaction://hlinksldjump"/>
          </p:cNvPr>
          <p:cNvSpPr/>
          <p:nvPr/>
        </p:nvSpPr>
        <p:spPr>
          <a:xfrm>
            <a:off x="502920" y="6035040"/>
            <a:ext cx="566928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0" name="Shape 60"/>
          <p:cNvSpPr/>
          <p:nvPr/>
        </p:nvSpPr>
        <p:spPr>
          <a:xfrm>
            <a:off x="6295331" y="219456"/>
            <a:ext cx="621547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71" name="Text 61"/>
          <p:cNvSpPr txBox="1"/>
          <p:nvPr/>
        </p:nvSpPr>
        <p:spPr>
          <a:xfrm>
            <a:off x="6295331" y="219456"/>
            <a:ext cx="62154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Меню</a:t>
            </a:r>
            <a:endParaRPr lang="en-US" sz="950" dirty="0"/>
          </a:p>
        </p:txBody>
      </p:sp>
      <p:sp>
        <p:nvSpPr>
          <p:cNvPr id="72" name="go:nav">
            <a:hlinkClick r:id="rId18" tooltip="Раздел: Меню" action="ppaction://hlinksldjump"/>
          </p:cNvPr>
          <p:cNvSpPr/>
          <p:nvPr/>
        </p:nvSpPr>
        <p:spPr>
          <a:xfrm>
            <a:off x="6295331" y="219456"/>
            <a:ext cx="62154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3" name="Text 63"/>
          <p:cNvSpPr txBox="1"/>
          <p:nvPr/>
        </p:nvSpPr>
        <p:spPr>
          <a:xfrm>
            <a:off x="6953453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74" name="go:key5">
            <a:hlinkClick r:id="rId19" tooltip="Раздел: Главное" action="ppaction://hlinksldjump"/>
          </p:cNvPr>
          <p:cNvSpPr/>
          <p:nvPr/>
        </p:nvSpPr>
        <p:spPr>
          <a:xfrm>
            <a:off x="6953453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5" name="Text 65"/>
          <p:cNvSpPr txBox="1"/>
          <p:nvPr/>
        </p:nvSpPr>
        <p:spPr>
          <a:xfrm>
            <a:off x="7648270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76" name="go:numbers">
            <a:hlinkClick r:id="rId20" tooltip="Раздел: Мир" action="ppaction://hlinksldjump"/>
          </p:cNvPr>
          <p:cNvSpPr/>
          <p:nvPr/>
        </p:nvSpPr>
        <p:spPr>
          <a:xfrm>
            <a:off x="7648270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7" name="Text 67"/>
          <p:cNvSpPr txBox="1"/>
          <p:nvPr/>
        </p:nvSpPr>
        <p:spPr>
          <a:xfrm>
            <a:off x="808248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Кейсы</a:t>
            </a:r>
            <a:endParaRPr lang="en-US" sz="950" dirty="0"/>
          </a:p>
        </p:txBody>
      </p:sp>
      <p:sp>
        <p:nvSpPr>
          <p:cNvPr id="78" name="go:casemap">
            <a:hlinkClick r:id="rId21" tooltip="Раздел: Кейсы" action="ppaction://hlinksldjump"/>
          </p:cNvPr>
          <p:cNvSpPr/>
          <p:nvPr/>
        </p:nvSpPr>
        <p:spPr>
          <a:xfrm>
            <a:off x="808248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9" name="Text 69"/>
          <p:cNvSpPr txBox="1"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80" name="go:ecosystem">
            <a:hlinkClick r:id="rId22" tooltip="Раздел: Модель" action="ppaction://hlinksldjump"/>
          </p:cNvPr>
          <p:cNvSpPr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1" name="Text 71"/>
          <p:cNvSpPr txBox="1"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82" name="go:path">
            <a:hlinkClick r:id="rId23" tooltip="Раздел: Этапы" action="ppaction://hlinksldjump"/>
          </p:cNvPr>
          <p:cNvSpPr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3" name="Text 73"/>
          <p:cNvSpPr txBox="1"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84" name="go:criteria">
            <a:hlinkClick r:id="rId24" tooltip="Раздел: Защита" action="ppaction://hlinksldjump"/>
          </p:cNvPr>
          <p:cNvSpPr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5" name="Text 75"/>
          <p:cNvSpPr txBox="1"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86" name="go:pilots">
            <a:hlinkClick r:id="rId25" tooltip="Раздел: Пилоты" action="ppaction://hlinksldjump"/>
          </p:cNvPr>
          <p:cNvSpPr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7" name="Text 77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88" name="go:plan90">
            <a:hlinkClick r:id="rId26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Главное: пять выводов из международного опыта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Результаты песочниц реальны, но скромны — это обосновывает компактный запуск песочницы МЦЦТ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10512"/>
            <a:ext cx="2126894" cy="4261104"/>
          </a:xfrm>
          <a:prstGeom prst="roundRect">
            <a:avLst>
              <a:gd name="adj" fmla="val 4299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667512" y="1975104"/>
            <a:ext cx="829789" cy="237744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" y="1975104"/>
            <a:ext cx="82978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ВЫВОД 1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67512" y="2267712"/>
            <a:ext cx="17977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15 из 19</a:t>
            </a:r>
            <a:endParaRPr lang="en-US" sz="28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788920"/>
            <a:ext cx="17977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MAS: вышли с лицензией (R)</a:t>
            </a:r>
            <a:endParaRPr lang="en-US" sz="9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3108960"/>
            <a:ext cx="17977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Лицензия по итогам теста — самый частый результат, но считают его по-разному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4050792"/>
            <a:ext cx="179771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MAS: 15 из 19 (на конец сент. 2025, R); SAMA: 18 из 45 (май 2023, R); DFSA: 3 из 51 (срез июня 2021, R)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594360" y="5157216"/>
            <a:ext cx="1944014" cy="804672"/>
          </a:xfrm>
          <a:prstGeom prst="roundRect">
            <a:avLst>
              <a:gd name="adj" fmla="val 9091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704088" y="5221224"/>
            <a:ext cx="17245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chemeClr val="accent1"/>
                </a:solidFill>
              </a:rPr>
              <a:t>ДЛЯ МЦЦТ</a:t>
            </a:r>
            <a:endParaRPr lang="en-US" sz="850" dirty="0"/>
          </a:p>
        </p:txBody>
      </p:sp>
      <p:sp>
        <p:nvSpPr>
          <p:cNvPr id="13" name="Text 11"/>
          <p:cNvSpPr txBox="1"/>
          <p:nvPr/>
        </p:nvSpPr>
        <p:spPr>
          <a:xfrm>
            <a:off x="704088" y="5431536"/>
            <a:ext cx="17245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Варианты выхода — при допуске</a:t>
            </a:r>
            <a:endParaRPr lang="en-US" sz="1000" dirty="0"/>
          </a:p>
        </p:txBody>
      </p:sp>
      <p:sp>
        <p:nvSpPr>
          <p:cNvPr id="14" name="go:case_mas">
            <a:hlinkClick r:id="rId1" tooltip="Подробнее" action="ppaction://hlinksldjump"/>
          </p:cNvPr>
          <p:cNvSpPr/>
          <p:nvPr/>
        </p:nvSpPr>
        <p:spPr>
          <a:xfrm>
            <a:off x="502920" y="1810512"/>
            <a:ext cx="2126894" cy="426110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5" name="Shape 13"/>
          <p:cNvSpPr/>
          <p:nvPr/>
        </p:nvSpPr>
        <p:spPr>
          <a:xfrm>
            <a:off x="2766974" y="1810512"/>
            <a:ext cx="2126894" cy="4261104"/>
          </a:xfrm>
          <a:prstGeom prst="roundRect">
            <a:avLst>
              <a:gd name="adj" fmla="val 4299"/>
            </a:avLst>
          </a:prstGeom>
          <a:solidFill>
            <a:schemeClr val="bg2"/>
          </a:solidFill>
          <a:ln/>
        </p:spPr>
      </p:sp>
      <p:sp>
        <p:nvSpPr>
          <p:cNvPr id="16" name="Shape 14"/>
          <p:cNvSpPr/>
          <p:nvPr/>
        </p:nvSpPr>
        <p:spPr>
          <a:xfrm>
            <a:off x="2931566" y="1975104"/>
            <a:ext cx="829789" cy="237744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2931566" y="1975104"/>
            <a:ext cx="82978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ВЫВОД 2</a:t>
            </a:r>
            <a:endParaRPr lang="en-US" sz="850" dirty="0"/>
          </a:p>
        </p:txBody>
      </p:sp>
      <p:sp>
        <p:nvSpPr>
          <p:cNvPr id="18" name="Text 16"/>
          <p:cNvSpPr txBox="1"/>
          <p:nvPr/>
        </p:nvSpPr>
        <p:spPr>
          <a:xfrm>
            <a:off x="2931566" y="2267712"/>
            <a:ext cx="17977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+15%</a:t>
            </a:r>
            <a:endParaRPr lang="en-US" sz="2800" dirty="0"/>
          </a:p>
        </p:txBody>
      </p:sp>
      <p:sp>
        <p:nvSpPr>
          <p:cNvPr id="19" name="Text 17"/>
          <p:cNvSpPr txBox="1"/>
          <p:nvPr/>
        </p:nvSpPr>
        <p:spPr>
          <a:xfrm>
            <a:off x="2931566" y="2788920"/>
            <a:ext cx="17977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капитал после допуска (I)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2931566" y="3108960"/>
            <a:ext cx="17977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Коммерческий эффект независимо подтвержден лишь по одной программе</a:t>
            </a:r>
            <a:endParaRPr lang="en-US" sz="1150" dirty="0"/>
          </a:p>
        </p:txBody>
      </p:sp>
      <p:sp>
        <p:nvSpPr>
          <p:cNvPr id="21" name="Text 19"/>
          <p:cNvSpPr txBox="1"/>
          <p:nvPr/>
        </p:nvSpPr>
        <p:spPr>
          <a:xfrm>
            <a:off x="2931566" y="4050792"/>
            <a:ext cx="179771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BIS: допуск в песочницу FCA — около +15% к привлеченному капиталу и +50% к вероятности привлечения (2014–2019, I)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2858414" y="5157216"/>
            <a:ext cx="1944014" cy="804672"/>
          </a:xfrm>
          <a:prstGeom prst="roundRect">
            <a:avLst>
              <a:gd name="adj" fmla="val 9091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2968142" y="5221224"/>
            <a:ext cx="17245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chemeClr val="accent1"/>
                </a:solidFill>
              </a:rPr>
              <a:t>ДЛЯ МЦЦТ</a:t>
            </a:r>
            <a:endParaRPr lang="en-US" sz="850" dirty="0"/>
          </a:p>
        </p:txBody>
      </p:sp>
      <p:sp>
        <p:nvSpPr>
          <p:cNvPr id="24" name="Text 22"/>
          <p:cNvSpPr txBox="1"/>
          <p:nvPr/>
        </p:nvSpPr>
        <p:spPr>
          <a:xfrm>
            <a:off x="2968142" y="5431536"/>
            <a:ext cx="17245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Строгий отбор и учет итогов с первого допуска</a:t>
            </a:r>
            <a:endParaRPr lang="en-US" sz="1000" dirty="0"/>
          </a:p>
        </p:txBody>
      </p:sp>
      <p:sp>
        <p:nvSpPr>
          <p:cNvPr id="25" name="go:case_fca">
            <a:hlinkClick r:id="rId2" tooltip="Подробнее" action="ppaction://hlinksldjump"/>
          </p:cNvPr>
          <p:cNvSpPr/>
          <p:nvPr/>
        </p:nvSpPr>
        <p:spPr>
          <a:xfrm>
            <a:off x="2766974" y="1810512"/>
            <a:ext cx="2126894" cy="426110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Shape 24"/>
          <p:cNvSpPr/>
          <p:nvPr/>
        </p:nvSpPr>
        <p:spPr>
          <a:xfrm>
            <a:off x="5031029" y="1810512"/>
            <a:ext cx="2126894" cy="4261104"/>
          </a:xfrm>
          <a:prstGeom prst="roundRect">
            <a:avLst>
              <a:gd name="adj" fmla="val 4299"/>
            </a:avLst>
          </a:prstGeom>
          <a:solidFill>
            <a:schemeClr val="bg2"/>
          </a:solidFill>
          <a:ln/>
        </p:spPr>
      </p:sp>
      <p:sp>
        <p:nvSpPr>
          <p:cNvPr id="27" name="Shape 25"/>
          <p:cNvSpPr/>
          <p:nvPr/>
        </p:nvSpPr>
        <p:spPr>
          <a:xfrm>
            <a:off x="5195621" y="1975104"/>
            <a:ext cx="829789" cy="237744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5195621" y="1975104"/>
            <a:ext cx="82978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ВЫВОД 3</a:t>
            </a:r>
            <a:endParaRPr lang="en-US" sz="850" dirty="0"/>
          </a:p>
        </p:txBody>
      </p:sp>
      <p:sp>
        <p:nvSpPr>
          <p:cNvPr id="29" name="Text 27"/>
          <p:cNvSpPr txBox="1"/>
          <p:nvPr/>
        </p:nvSpPr>
        <p:spPr>
          <a:xfrm>
            <a:off x="5195621" y="2267712"/>
            <a:ext cx="17977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1"/>
                </a:solidFill>
              </a:rPr>
              <a:t>22 из 30</a:t>
            </a:r>
            <a:endParaRPr lang="en-US" sz="2800" dirty="0"/>
          </a:p>
        </p:txBody>
      </p:sp>
      <p:sp>
        <p:nvSpPr>
          <p:cNvPr id="30" name="Text 28"/>
          <p:cNvSpPr txBox="1"/>
          <p:nvPr/>
        </p:nvSpPr>
        <p:spPr>
          <a:xfrm>
            <a:off x="5195621" y="2788920"/>
            <a:ext cx="17977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Ofgem: лишь обратная связь (R)</a:t>
            </a:r>
            <a:endParaRPr lang="en-US" sz="900" dirty="0"/>
          </a:p>
        </p:txBody>
      </p:sp>
      <p:sp>
        <p:nvSpPr>
          <p:cNvPr id="31" name="Text 29"/>
          <p:cNvSpPr txBox="1"/>
          <p:nvPr/>
        </p:nvSpPr>
        <p:spPr>
          <a:xfrm>
            <a:off x="5195621" y="3108960"/>
            <a:ext cx="17977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Большинству заявителей нужны разъяснения, а не освобождения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5195621" y="4050792"/>
            <a:ext cx="179771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Ofgem, окно 1: 22 из 30 — только обратная связь, открыто 3 песочницы (R). ICO публикует отчеты о выходе, не имея права освобождать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5122469" y="5157216"/>
            <a:ext cx="1944014" cy="804672"/>
          </a:xfrm>
          <a:prstGeom prst="roundRect">
            <a:avLst>
              <a:gd name="adj" fmla="val 9091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5232197" y="5221224"/>
            <a:ext cx="17245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chemeClr val="accent1"/>
                </a:solidFill>
              </a:rPr>
              <a:t>ДЛЯ МЦЦТ</a:t>
            </a:r>
            <a:endParaRPr lang="en-US" sz="850" dirty="0"/>
          </a:p>
        </p:txBody>
      </p:sp>
      <p:sp>
        <p:nvSpPr>
          <p:cNvPr id="35" name="Text 33"/>
          <p:cNvSpPr txBox="1"/>
          <p:nvPr/>
        </p:nvSpPr>
        <p:spPr>
          <a:xfrm>
            <a:off x="5232197" y="5431536"/>
            <a:ext cx="17245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Трек разъяснений — с Дня запуска</a:t>
            </a:r>
            <a:endParaRPr lang="en-US" sz="1000" dirty="0"/>
          </a:p>
        </p:txBody>
      </p:sp>
      <p:sp>
        <p:nvSpPr>
          <p:cNvPr id="36" name="go:formats">
            <a:hlinkClick r:id="rId3" tooltip="Подробнее" action="ppaction://hlinksldjump"/>
          </p:cNvPr>
          <p:cNvSpPr/>
          <p:nvPr/>
        </p:nvSpPr>
        <p:spPr>
          <a:xfrm>
            <a:off x="5031029" y="1810512"/>
            <a:ext cx="2126894" cy="426110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295083" y="1810512"/>
            <a:ext cx="2126894" cy="4261104"/>
          </a:xfrm>
          <a:prstGeom prst="roundRect">
            <a:avLst>
              <a:gd name="adj" fmla="val 4299"/>
            </a:avLst>
          </a:prstGeom>
          <a:solidFill>
            <a:schemeClr val="bg2"/>
          </a:solidFill>
          <a:ln/>
        </p:spPr>
      </p:sp>
      <p:sp>
        <p:nvSpPr>
          <p:cNvPr id="38" name="Shape 36"/>
          <p:cNvSpPr/>
          <p:nvPr/>
        </p:nvSpPr>
        <p:spPr>
          <a:xfrm>
            <a:off x="7459675" y="1975104"/>
            <a:ext cx="829789" cy="237744"/>
          </a:xfrm>
          <a:prstGeom prst="roundRect">
            <a:avLst>
              <a:gd name="adj" fmla="val 50000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7459675" y="1975104"/>
            <a:ext cx="82978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4"/>
                </a:solidFill>
              </a:rPr>
              <a:t>ВЫВОД 4</a:t>
            </a:r>
            <a:endParaRPr lang="en-US" sz="850" dirty="0"/>
          </a:p>
        </p:txBody>
      </p:sp>
      <p:sp>
        <p:nvSpPr>
          <p:cNvPr id="40" name="Text 38"/>
          <p:cNvSpPr txBox="1"/>
          <p:nvPr/>
        </p:nvSpPr>
        <p:spPr>
          <a:xfrm>
            <a:off x="7459675" y="2267712"/>
            <a:ext cx="17977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0</a:t>
            </a:r>
            <a:endParaRPr lang="en-US" sz="2800" dirty="0"/>
          </a:p>
        </p:txBody>
      </p:sp>
      <p:sp>
        <p:nvSpPr>
          <p:cNvPr id="41" name="Text 39"/>
          <p:cNvSpPr txBox="1"/>
          <p:nvPr/>
        </p:nvSpPr>
        <p:spPr>
          <a:xfrm>
            <a:off x="7459675" y="2788920"/>
            <a:ext cx="17977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одобрений Sandbox Plus (R)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7459675" y="3108960"/>
            <a:ext cx="17977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У ускоренных и грантовых треков нет подтвержденного успеха</a:t>
            </a:r>
            <a:endParaRPr lang="en-US" sz="1150" dirty="0"/>
          </a:p>
        </p:txBody>
      </p:sp>
      <p:sp>
        <p:nvSpPr>
          <p:cNvPr id="43" name="Text 41"/>
          <p:cNvSpPr txBox="1"/>
          <p:nvPr/>
        </p:nvSpPr>
        <p:spPr>
          <a:xfrm>
            <a:off x="7459675" y="4050792"/>
            <a:ext cx="179771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MAS Sandbox Plus: ни одного одобрения (на конец сент. 2025, R). Sandbox Express: цель 21 день, данных о соблюдении нет (T)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7386523" y="5157216"/>
            <a:ext cx="1944014" cy="804672"/>
          </a:xfrm>
          <a:prstGeom prst="roundRect">
            <a:avLst>
              <a:gd name="adj" fmla="val 9091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7496251" y="5221224"/>
            <a:ext cx="17245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chemeClr val="accent1"/>
                </a:solidFill>
              </a:rPr>
              <a:t>ДЛЯ МЦЦТ</a:t>
            </a:r>
            <a:endParaRPr lang="en-US" sz="850" dirty="0"/>
          </a:p>
        </p:txBody>
      </p:sp>
      <p:sp>
        <p:nvSpPr>
          <p:cNvPr id="46" name="Text 44"/>
          <p:cNvSpPr txBox="1"/>
          <p:nvPr/>
        </p:nvSpPr>
        <p:spPr>
          <a:xfrm>
            <a:off x="7496251" y="5431536"/>
            <a:ext cx="17245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Без грантов; Экспресс-трек — после когорты 1</a:t>
            </a:r>
            <a:endParaRPr lang="en-US" sz="1000" dirty="0"/>
          </a:p>
        </p:txBody>
      </p:sp>
      <p:sp>
        <p:nvSpPr>
          <p:cNvPr id="47" name="go:formats">
            <a:hlinkClick r:id="rId4" tooltip="Подробнее" action="ppaction://hlinksldjump"/>
          </p:cNvPr>
          <p:cNvSpPr/>
          <p:nvPr/>
        </p:nvSpPr>
        <p:spPr>
          <a:xfrm>
            <a:off x="7295083" y="1810512"/>
            <a:ext cx="2126894" cy="426110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9559138" y="1810512"/>
            <a:ext cx="2126894" cy="4261104"/>
          </a:xfrm>
          <a:prstGeom prst="roundRect">
            <a:avLst>
              <a:gd name="adj" fmla="val 4299"/>
            </a:avLst>
          </a:prstGeom>
          <a:solidFill>
            <a:schemeClr val="bg2"/>
          </a:solidFill>
          <a:ln/>
        </p:spPr>
      </p:sp>
      <p:sp>
        <p:nvSpPr>
          <p:cNvPr id="49" name="Shape 47"/>
          <p:cNvSpPr/>
          <p:nvPr/>
        </p:nvSpPr>
        <p:spPr>
          <a:xfrm>
            <a:off x="9723730" y="1975104"/>
            <a:ext cx="829789" cy="237744"/>
          </a:xfrm>
          <a:prstGeom prst="roundRect">
            <a:avLst>
              <a:gd name="adj" fmla="val 50000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9723730" y="1975104"/>
            <a:ext cx="82978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4"/>
                </a:solidFill>
              </a:rPr>
              <a:t>ВЫВОД 5</a:t>
            </a:r>
            <a:endParaRPr lang="en-US" sz="850" dirty="0"/>
          </a:p>
        </p:txBody>
      </p:sp>
      <p:sp>
        <p:nvSpPr>
          <p:cNvPr id="51" name="Text 49"/>
          <p:cNvSpPr txBox="1"/>
          <p:nvPr/>
        </p:nvSpPr>
        <p:spPr>
          <a:xfrm>
            <a:off x="9723730" y="2267712"/>
            <a:ext cx="1797710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accent4"/>
                </a:solidFill>
              </a:rPr>
              <a:t>0 из 8</a:t>
            </a:r>
            <a:endParaRPr lang="en-US" sz="2800" dirty="0"/>
          </a:p>
        </p:txBody>
      </p:sp>
      <p:sp>
        <p:nvSpPr>
          <p:cNvPr id="52" name="Text 50"/>
          <p:cNvSpPr txBox="1"/>
          <p:nvPr/>
        </p:nvSpPr>
        <p:spPr>
          <a:xfrm>
            <a:off x="9723730" y="2788920"/>
            <a:ext cx="17977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GFIN: начали тест (R)</a:t>
            </a:r>
            <a:endParaRPr lang="en-US" sz="900" dirty="0"/>
          </a:p>
        </p:txBody>
      </p:sp>
      <p:sp>
        <p:nvSpPr>
          <p:cNvPr id="53" name="Text 51"/>
          <p:cNvSpPr txBox="1"/>
          <p:nvPr/>
        </p:nvSpPr>
        <p:spPr>
          <a:xfrm>
            <a:off x="9723730" y="3108960"/>
            <a:ext cx="179771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chemeClr val="tx1"/>
                </a:solidFill>
              </a:rPr>
              <a:t>Трансграничные и межрегуляторные тесты трудно запустить</a:t>
            </a:r>
            <a:endParaRPr lang="en-US" sz="1150" dirty="0"/>
          </a:p>
        </p:txBody>
      </p:sp>
      <p:sp>
        <p:nvSpPr>
          <p:cNvPr id="54" name="Text 52"/>
          <p:cNvSpPr txBox="1"/>
          <p:nvPr/>
        </p:nvSpPr>
        <p:spPr>
          <a:xfrm>
            <a:off x="9723730" y="4050792"/>
            <a:ext cx="179771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GFIN: 44 заявки к 17 регуляторам, отобрано 8 — ни одна не начала тест (янв. 2020, R). TradeTech: итоги — по данным организатора (P)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9650578" y="5157216"/>
            <a:ext cx="1944014" cy="804672"/>
          </a:xfrm>
          <a:prstGeom prst="roundRect">
            <a:avLst>
              <a:gd name="adj" fmla="val 9091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9760306" y="5221224"/>
            <a:ext cx="172455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chemeClr val="accent1"/>
                </a:solidFill>
              </a:rPr>
              <a:t>ДЛЯ МЦЦТ</a:t>
            </a:r>
            <a:endParaRPr lang="en-US" sz="850" dirty="0"/>
          </a:p>
        </p:txBody>
      </p:sp>
      <p:sp>
        <p:nvSpPr>
          <p:cNvPr id="57" name="Text 55"/>
          <p:cNvSpPr txBox="1"/>
          <p:nvPr/>
        </p:nvSpPr>
        <p:spPr>
          <a:xfrm>
            <a:off x="9760306" y="5431536"/>
            <a:ext cx="172455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5"/>
                </a:solidFill>
              </a:rPr>
              <a:t>Трансграничный трек — во 2-й год</a:t>
            </a:r>
            <a:endParaRPr lang="en-US" sz="1000" dirty="0"/>
          </a:p>
        </p:txBody>
      </p:sp>
      <p:sp>
        <p:nvSpPr>
          <p:cNvPr id="58" name="go:failures">
            <a:hlinkClick r:id="rId5" tooltip="Подробнее" action="ppaction://hlinksldjump"/>
          </p:cNvPr>
          <p:cNvSpPr/>
          <p:nvPr/>
        </p:nvSpPr>
        <p:spPr>
          <a:xfrm>
            <a:off x="9559138" y="1810512"/>
            <a:ext cx="2126894" cy="426110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9" name="source"/>
          <p:cNvSpPr txBox="1"/>
          <p:nvPr/>
        </p:nvSpPr>
        <p:spPr>
          <a:xfrm>
            <a:off x="502920" y="6400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Источники: [S2] BIS; [S6] Ofgem; [S7] MAS; [S8] MAS Express; [S14] DFSA; [S15] GFIN; [S22] SAMA. Цифры не сверены с первоисточниками.</a:t>
            </a:r>
            <a:endParaRPr lang="en-US" sz="800" dirty="0"/>
          </a:p>
        </p:txBody>
      </p:sp>
      <p:sp>
        <p:nvSpPr>
          <p:cNvPr id="60" name="Shape 58"/>
          <p:cNvSpPr/>
          <p:nvPr/>
        </p:nvSpPr>
        <p:spPr>
          <a:xfrm>
            <a:off x="9153146" y="6409944"/>
            <a:ext cx="1682494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1" name="Text 59"/>
          <p:cNvSpPr txBox="1"/>
          <p:nvPr/>
        </p:nvSpPr>
        <p:spPr>
          <a:xfrm>
            <a:off x="9153146" y="6409944"/>
            <a:ext cx="168249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Десять рекомендаций  ›</a:t>
            </a:r>
            <a:endParaRPr lang="en-US" sz="900" dirty="0"/>
          </a:p>
        </p:txBody>
      </p:sp>
      <p:sp>
        <p:nvSpPr>
          <p:cNvPr id="62" name="go:recs">
            <a:hlinkClick r:id="rId6" tooltip="Десять рекомендаций  ›" action="ppaction://hlinksldjump"/>
          </p:cNvPr>
          <p:cNvSpPr/>
          <p:nvPr/>
        </p:nvSpPr>
        <p:spPr>
          <a:xfrm>
            <a:off x="9153146" y="6409944"/>
            <a:ext cx="1682494" cy="2560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6283845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64" name="go:nav">
            <a:hlinkClick r:id="rId7" tooltip="Раздел: Меню" action="ppaction://hlinksldjump"/>
          </p:cNvPr>
          <p:cNvSpPr/>
          <p:nvPr/>
        </p:nvSpPr>
        <p:spPr>
          <a:xfrm>
            <a:off x="6283845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5" name="Shape 63"/>
          <p:cNvSpPr/>
          <p:nvPr/>
        </p:nvSpPr>
        <p:spPr>
          <a:xfrm>
            <a:off x="6814578" y="219456"/>
            <a:ext cx="797116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66" name="Text 64"/>
          <p:cNvSpPr txBox="1"/>
          <p:nvPr/>
        </p:nvSpPr>
        <p:spPr>
          <a:xfrm>
            <a:off x="6814578" y="219456"/>
            <a:ext cx="797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Главное</a:t>
            </a:r>
            <a:endParaRPr lang="en-US" sz="950" dirty="0"/>
          </a:p>
        </p:txBody>
      </p:sp>
      <p:sp>
        <p:nvSpPr>
          <p:cNvPr id="67" name="go:key5">
            <a:hlinkClick r:id="rId8" tooltip="Раздел: Главное" action="ppaction://hlinksldjump"/>
          </p:cNvPr>
          <p:cNvSpPr/>
          <p:nvPr/>
        </p:nvSpPr>
        <p:spPr>
          <a:xfrm>
            <a:off x="6814578" y="219456"/>
            <a:ext cx="797116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7648270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69" name="go:numbers">
            <a:hlinkClick r:id="rId9" tooltip="Раздел: Мир" action="ppaction://hlinksldjump"/>
          </p:cNvPr>
          <p:cNvSpPr/>
          <p:nvPr/>
        </p:nvSpPr>
        <p:spPr>
          <a:xfrm>
            <a:off x="7648270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808248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Кейсы</a:t>
            </a:r>
            <a:endParaRPr lang="en-US" sz="950" dirty="0"/>
          </a:p>
        </p:txBody>
      </p:sp>
      <p:sp>
        <p:nvSpPr>
          <p:cNvPr id="71" name="go:casemap">
            <a:hlinkClick r:id="rId10" tooltip="Раздел: Кейсы" action="ppaction://hlinksldjump"/>
          </p:cNvPr>
          <p:cNvSpPr/>
          <p:nvPr/>
        </p:nvSpPr>
        <p:spPr>
          <a:xfrm>
            <a:off x="808248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73" name="go:ecosystem">
            <a:hlinkClick r:id="rId11" tooltip="Раздел: Модель" action="ppaction://hlinksldjump"/>
          </p:cNvPr>
          <p:cNvSpPr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75" name="go:path">
            <a:hlinkClick r:id="rId12" tooltip="Раздел: Этапы" action="ppaction://hlinksldjump"/>
          </p:cNvPr>
          <p:cNvSpPr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77" name="go:criteria">
            <a:hlinkClick r:id="rId13" tooltip="Раздел: Защита" action="ppaction://hlinksldjump"/>
          </p:cNvPr>
          <p:cNvSpPr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79" name="go:pilots">
            <a:hlinkClick r:id="rId14" tooltip="Раздел: Пилоты" action="ppaction://hlinksldjump"/>
          </p:cNvPr>
          <p:cNvSpPr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81" name="go:plan90">
            <a:hlinkClick r:id="rId15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Что предлагаем: десять рекомендаций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Компактный старт: разъяснения с Дня запуска, тесты с 6-го месяца, расширение — только по данным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10512"/>
            <a:ext cx="553212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2011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7" name="Text 5"/>
          <p:cNvSpPr txBox="1"/>
          <p:nvPr/>
        </p:nvSpPr>
        <p:spPr>
          <a:xfrm>
            <a:off x="1161288" y="18928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Два трека на старте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1161288" y="216712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Трек разъяснений — в День запуска; полноформатная песочница — после Правил (3–4 пилота)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681728" y="2057400"/>
            <a:ext cx="1225296" cy="292608"/>
          </a:xfrm>
          <a:prstGeom prst="roundRect">
            <a:avLst>
              <a:gd name="adj" fmla="val 50000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681728" y="205740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День 90 · М4 · М6</a:t>
            </a:r>
            <a:endParaRPr lang="en-US" sz="900" dirty="0"/>
          </a:p>
        </p:txBody>
      </p:sp>
      <p:sp>
        <p:nvSpPr>
          <p:cNvPr id="11" name="go:formats">
            <a:hlinkClick r:id="rId1" tooltip="Два трека на старте" action="ppaction://hlinksldjump"/>
          </p:cNvPr>
          <p:cNvSpPr/>
          <p:nvPr/>
        </p:nvSpPr>
        <p:spPr>
          <a:xfrm>
            <a:off x="502920" y="1810512"/>
            <a:ext cx="5532120" cy="78638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Shape 10"/>
          <p:cNvSpPr/>
          <p:nvPr/>
        </p:nvSpPr>
        <p:spPr>
          <a:xfrm>
            <a:off x="502920" y="2679192"/>
            <a:ext cx="553212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/>
        </p:spPr>
      </p:sp>
      <p:sp>
        <p:nvSpPr>
          <p:cNvPr id="13" name="Shape 11"/>
          <p:cNvSpPr/>
          <p:nvPr/>
        </p:nvSpPr>
        <p:spPr>
          <a:xfrm>
            <a:off x="640080" y="28803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640080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1161288" y="27614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Секретариат и Комитет по песочнице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1161288" y="303580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Комитет решает по делегированию Совета; Секретариат — около 6 человек (плановое допущение)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681728" y="2926080"/>
            <a:ext cx="1225296" cy="292608"/>
          </a:xfrm>
          <a:prstGeom prst="roundRect">
            <a:avLst>
              <a:gd name="adj" fmla="val 50000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681728" y="292608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Дни 30–60</a:t>
            </a:r>
            <a:endParaRPr lang="en-US" sz="900" dirty="0"/>
          </a:p>
        </p:txBody>
      </p:sp>
      <p:sp>
        <p:nvSpPr>
          <p:cNvPr id="19" name="go:governance">
            <a:hlinkClick r:id="rId2" tooltip="Секретариат и Комитет по песочнице" action="ppaction://hlinksldjump"/>
          </p:cNvPr>
          <p:cNvSpPr/>
          <p:nvPr/>
        </p:nvSpPr>
        <p:spPr>
          <a:xfrm>
            <a:off x="502920" y="2679192"/>
            <a:ext cx="5532120" cy="78638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Shape 18"/>
          <p:cNvSpPr/>
          <p:nvPr/>
        </p:nvSpPr>
        <p:spPr>
          <a:xfrm>
            <a:off x="502920" y="3547872"/>
            <a:ext cx="553212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/>
        </p:spPr>
      </p:sp>
      <p:sp>
        <p:nvSpPr>
          <p:cNvPr id="21" name="Shape 19"/>
          <p:cNvSpPr/>
          <p:nvPr/>
        </p:nvSpPr>
        <p:spPr>
          <a:xfrm>
            <a:off x="640080" y="37490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0080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23" name="Text 21"/>
          <p:cNvSpPr txBox="1"/>
          <p:nvPr/>
        </p:nvSpPr>
        <p:spPr>
          <a:xfrm>
            <a:off x="1161288" y="36301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Опубликованные сроки решений</a:t>
            </a:r>
            <a:endParaRPr lang="en-US" sz="1200" dirty="0"/>
          </a:p>
        </p:txBody>
      </p:sp>
      <p:sp>
        <p:nvSpPr>
          <p:cNvPr id="24" name="Text 22"/>
          <p:cNvSpPr txBox="1"/>
          <p:nvPr/>
        </p:nvSpPr>
        <p:spPr>
          <a:xfrm>
            <a:off x="1161288" y="390448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Нормативные сроки с приостановкой отсчета; ежеквартальный отчет об их соблюдении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4681728" y="3794760"/>
            <a:ext cx="1225296" cy="292608"/>
          </a:xfrm>
          <a:prstGeom prst="roundRect">
            <a:avLst>
              <a:gd name="adj" fmla="val 50000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681728" y="379476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Запуск · отчет М6</a:t>
            </a:r>
            <a:endParaRPr lang="en-US" sz="900" dirty="0"/>
          </a:p>
        </p:txBody>
      </p:sp>
      <p:sp>
        <p:nvSpPr>
          <p:cNvPr id="27" name="go:path">
            <a:hlinkClick r:id="rId3" tooltip="Опубликованные сроки решений" action="ppaction://hlinksldjump"/>
          </p:cNvPr>
          <p:cNvSpPr/>
          <p:nvPr/>
        </p:nvSpPr>
        <p:spPr>
          <a:xfrm>
            <a:off x="502920" y="3547872"/>
            <a:ext cx="5532120" cy="78638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Shape 26"/>
          <p:cNvSpPr/>
          <p:nvPr/>
        </p:nvSpPr>
        <p:spPr>
          <a:xfrm>
            <a:off x="502920" y="4416552"/>
            <a:ext cx="553212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/>
        </p:spPr>
      </p:sp>
      <p:sp>
        <p:nvSpPr>
          <p:cNvPr id="29" name="Shape 27"/>
          <p:cNvSpPr/>
          <p:nvPr/>
        </p:nvSpPr>
        <p:spPr>
          <a:xfrm>
            <a:off x="640080" y="46177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40080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31" name="Text 29"/>
          <p:cNvSpPr txBox="1"/>
          <p:nvPr/>
        </p:nvSpPr>
        <p:spPr>
          <a:xfrm>
            <a:off x="1161288" y="4498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Регуляторное картирование</a:t>
            </a:r>
            <a:endParaRPr lang="en-US" sz="1200" dirty="0"/>
          </a:p>
        </p:txBody>
      </p:sp>
      <p:sp>
        <p:nvSpPr>
          <p:cNvPr id="32" name="Text 30"/>
          <p:cNvSpPr txBox="1"/>
          <p:nvPr/>
        </p:nvSpPr>
        <p:spPr>
          <a:xfrm>
            <a:off x="1161288" y="47731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По каждому делу — все применимые нормы и согласия; МЦЦТ не освобождает от требований других органов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681728" y="4663440"/>
            <a:ext cx="1225296" cy="292608"/>
          </a:xfrm>
          <a:prstGeom prst="roundRect">
            <a:avLst>
              <a:gd name="adj" fmla="val 50000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681728" y="466344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С М4</a:t>
            </a:r>
            <a:endParaRPr lang="en-US" sz="900" dirty="0"/>
          </a:p>
        </p:txBody>
      </p:sp>
      <p:sp>
        <p:nvSpPr>
          <p:cNvPr id="35" name="go:path">
            <a:hlinkClick r:id="rId4" tooltip="Регуляторное картирование" action="ppaction://hlinksldjump"/>
          </p:cNvPr>
          <p:cNvSpPr/>
          <p:nvPr/>
        </p:nvSpPr>
        <p:spPr>
          <a:xfrm>
            <a:off x="502920" y="4416552"/>
            <a:ext cx="5532120" cy="78638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6" name="Shape 34"/>
          <p:cNvSpPr/>
          <p:nvPr/>
        </p:nvSpPr>
        <p:spPr>
          <a:xfrm>
            <a:off x="502920" y="5285232"/>
            <a:ext cx="553212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/>
        </p:spPr>
      </p:sp>
      <p:sp>
        <p:nvSpPr>
          <p:cNvPr id="37" name="Shape 35"/>
          <p:cNvSpPr/>
          <p:nvPr/>
        </p:nvSpPr>
        <p:spPr>
          <a:xfrm>
            <a:off x="640080" y="54864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640080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39" name="Text 37"/>
          <p:cNvSpPr txBox="1"/>
          <p:nvPr/>
        </p:nvSpPr>
        <p:spPr>
          <a:xfrm>
            <a:off x="1161288" y="53675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Доказательства для выхода — при допуске</a:t>
            </a:r>
            <a:endParaRPr lang="en-US" sz="1200" dirty="0"/>
          </a:p>
        </p:txBody>
      </p:sp>
      <p:sp>
        <p:nvSpPr>
          <p:cNvPr id="40" name="Text 38"/>
          <p:cNvSpPr txBox="1"/>
          <p:nvPr/>
        </p:nvSpPr>
        <p:spPr>
          <a:xfrm>
            <a:off x="1161288" y="564184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Раздел о выходе в каждом плане тестирования; автоматической лицензии нет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4681728" y="5532120"/>
            <a:ext cx="1225296" cy="292608"/>
          </a:xfrm>
          <a:prstGeom prst="roundRect">
            <a:avLst>
              <a:gd name="adj" fmla="val 50000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4681728" y="553212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С М6</a:t>
            </a:r>
            <a:endParaRPr lang="en-US" sz="900" dirty="0"/>
          </a:p>
        </p:txBody>
      </p:sp>
      <p:sp>
        <p:nvSpPr>
          <p:cNvPr id="43" name="go:after">
            <a:hlinkClick r:id="rId5" tooltip="Доказательства для выхода — при допуске" action="ppaction://hlinksldjump"/>
          </p:cNvPr>
          <p:cNvSpPr/>
          <p:nvPr/>
        </p:nvSpPr>
        <p:spPr>
          <a:xfrm>
            <a:off x="502920" y="5285232"/>
            <a:ext cx="5532120" cy="78638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4" name="Shape 42"/>
          <p:cNvSpPr/>
          <p:nvPr/>
        </p:nvSpPr>
        <p:spPr>
          <a:xfrm>
            <a:off x="6153912" y="1810512"/>
            <a:ext cx="553212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/>
        </p:spPr>
      </p:sp>
      <p:sp>
        <p:nvSpPr>
          <p:cNvPr id="45" name="Shape 43"/>
          <p:cNvSpPr/>
          <p:nvPr/>
        </p:nvSpPr>
        <p:spPr>
          <a:xfrm>
            <a:off x="6291072" y="201168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291072" y="201168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47" name="Text 45"/>
          <p:cNvSpPr txBox="1"/>
          <p:nvPr/>
        </p:nvSpPr>
        <p:spPr>
          <a:xfrm>
            <a:off x="6812280" y="189280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Минимальная цифровая песочница</a:t>
            </a:r>
            <a:endParaRPr lang="en-US" sz="1200" dirty="0"/>
          </a:p>
        </p:txBody>
      </p:sp>
      <p:sp>
        <p:nvSpPr>
          <p:cNvPr id="48" name="Text 46"/>
          <p:cNvSpPr txBox="1"/>
          <p:nvPr/>
        </p:nvSpPr>
        <p:spPr>
          <a:xfrm>
            <a:off x="6812280" y="216712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Прием заявок — с запуска; тестовая среда на синтетических данных и API — в М6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10332720" y="2057400"/>
            <a:ext cx="1225296" cy="292608"/>
          </a:xfrm>
          <a:prstGeom prst="roundRect">
            <a:avLst>
              <a:gd name="adj" fmla="val 50000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10332720" y="205740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Запуск · М6</a:t>
            </a:r>
            <a:endParaRPr lang="en-US" sz="900" dirty="0"/>
          </a:p>
        </p:txBody>
      </p:sp>
      <p:sp>
        <p:nvSpPr>
          <p:cNvPr id="51" name="go:datalake">
            <a:hlinkClick r:id="rId6" tooltip="Минимальная цифровая песочница" action="ppaction://hlinksldjump"/>
          </p:cNvPr>
          <p:cNvSpPr/>
          <p:nvPr/>
        </p:nvSpPr>
        <p:spPr>
          <a:xfrm>
            <a:off x="6153912" y="1810512"/>
            <a:ext cx="5532120" cy="78638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2" name="Shape 50"/>
          <p:cNvSpPr/>
          <p:nvPr/>
        </p:nvSpPr>
        <p:spPr>
          <a:xfrm>
            <a:off x="6153912" y="2679192"/>
            <a:ext cx="553212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/>
        </p:spPr>
      </p:sp>
      <p:sp>
        <p:nvSpPr>
          <p:cNvPr id="53" name="Shape 51"/>
          <p:cNvSpPr/>
          <p:nvPr/>
        </p:nvSpPr>
        <p:spPr>
          <a:xfrm>
            <a:off x="6291072" y="288036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6291072" y="288036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55" name="Text 53"/>
          <p:cNvSpPr txBox="1"/>
          <p:nvPr/>
        </p:nvSpPr>
        <p:spPr>
          <a:xfrm>
            <a:off x="6812280" y="276148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Портфель пилотов P1–P4</a:t>
            </a:r>
            <a:endParaRPr lang="en-US" sz="1200" dirty="0"/>
          </a:p>
        </p:txBody>
      </p:sp>
      <p:sp>
        <p:nvSpPr>
          <p:cNvPr id="56" name="Text 54"/>
          <p:cNvSpPr txBox="1"/>
          <p:nvPr/>
        </p:nvSpPr>
        <p:spPr>
          <a:xfrm>
            <a:off x="6812280" y="303580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Три пилота в песочнице и один внутренний; у каждого — ответственный и орган согласия</a:t>
            </a:r>
            <a:endParaRPr lang="en-US" sz="950" dirty="0"/>
          </a:p>
        </p:txBody>
      </p:sp>
      <p:sp>
        <p:nvSpPr>
          <p:cNvPr id="57" name="Shape 55"/>
          <p:cNvSpPr/>
          <p:nvPr/>
        </p:nvSpPr>
        <p:spPr>
          <a:xfrm>
            <a:off x="10332720" y="2926080"/>
            <a:ext cx="1225296" cy="292608"/>
          </a:xfrm>
          <a:prstGeom prst="roundRect">
            <a:avLst>
              <a:gd name="adj" fmla="val 50000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10332720" y="292608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День 75</a:t>
            </a:r>
            <a:endParaRPr lang="en-US" sz="900" dirty="0"/>
          </a:p>
        </p:txBody>
      </p:sp>
      <p:sp>
        <p:nvSpPr>
          <p:cNvPr id="59" name="go:pilots">
            <a:hlinkClick r:id="rId7" tooltip="Портфель пилотов P1–P4" action="ppaction://hlinksldjump"/>
          </p:cNvPr>
          <p:cNvSpPr/>
          <p:nvPr/>
        </p:nvSpPr>
        <p:spPr>
          <a:xfrm>
            <a:off x="6153912" y="2679192"/>
            <a:ext cx="5532120" cy="78638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0" name="Shape 58"/>
          <p:cNvSpPr/>
          <p:nvPr/>
        </p:nvSpPr>
        <p:spPr>
          <a:xfrm>
            <a:off x="6153912" y="3547872"/>
            <a:ext cx="553212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/>
        </p:spPr>
      </p:sp>
      <p:sp>
        <p:nvSpPr>
          <p:cNvPr id="61" name="Shape 59"/>
          <p:cNvSpPr/>
          <p:nvPr/>
        </p:nvSpPr>
        <p:spPr>
          <a:xfrm>
            <a:off x="6291072" y="374904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291072" y="374904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8</a:t>
            </a:r>
            <a:endParaRPr lang="en-US" sz="1200" dirty="0"/>
          </a:p>
        </p:txBody>
      </p:sp>
      <p:sp>
        <p:nvSpPr>
          <p:cNvPr id="63" name="Text 61"/>
          <p:cNvSpPr txBox="1"/>
          <p:nvPr/>
        </p:nvSpPr>
        <p:spPr>
          <a:xfrm>
            <a:off x="6812280" y="363016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Новые треки — поэтапно</a:t>
            </a:r>
            <a:endParaRPr lang="en-US" sz="1200" dirty="0"/>
          </a:p>
        </p:txBody>
      </p:sp>
      <p:sp>
        <p:nvSpPr>
          <p:cNvPr id="64" name="Text 62"/>
          <p:cNvSpPr txBox="1"/>
          <p:nvPr/>
        </p:nvSpPr>
        <p:spPr>
          <a:xfrm>
            <a:off x="6812280" y="390448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Экспресс-трек и прототипирование — после оценки когорты 1; трансграничный — во 2-й год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10332720" y="3794760"/>
            <a:ext cx="1225296" cy="292608"/>
          </a:xfrm>
          <a:prstGeom prst="roundRect">
            <a:avLst>
              <a:gd name="adj" fmla="val 50000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0332720" y="379476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≈ М13–М14</a:t>
            </a:r>
            <a:endParaRPr lang="en-US" sz="900" dirty="0"/>
          </a:p>
        </p:txBody>
      </p:sp>
      <p:sp>
        <p:nvSpPr>
          <p:cNvPr id="67" name="go:formats">
            <a:hlinkClick r:id="rId8" tooltip="Новые треки — поэтапно" action="ppaction://hlinksldjump"/>
          </p:cNvPr>
          <p:cNvSpPr/>
          <p:nvPr/>
        </p:nvSpPr>
        <p:spPr>
          <a:xfrm>
            <a:off x="6153912" y="3547872"/>
            <a:ext cx="5532120" cy="78638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8" name="Shape 66"/>
          <p:cNvSpPr/>
          <p:nvPr/>
        </p:nvSpPr>
        <p:spPr>
          <a:xfrm>
            <a:off x="6153912" y="4416552"/>
            <a:ext cx="553212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/>
        </p:spPr>
      </p:sp>
      <p:sp>
        <p:nvSpPr>
          <p:cNvPr id="69" name="Shape 67"/>
          <p:cNvSpPr/>
          <p:nvPr/>
        </p:nvSpPr>
        <p:spPr>
          <a:xfrm>
            <a:off x="6291072" y="461772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6291072" y="461772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9</a:t>
            </a:r>
            <a:endParaRPr lang="en-US" sz="1200" dirty="0"/>
          </a:p>
        </p:txBody>
      </p:sp>
      <p:sp>
        <p:nvSpPr>
          <p:cNvPr id="71" name="Text 69"/>
          <p:cNvSpPr txBox="1"/>
          <p:nvPr/>
        </p:nvSpPr>
        <p:spPr>
          <a:xfrm>
            <a:off x="6812280" y="449884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WEF — организатор диалога</a:t>
            </a:r>
            <a:endParaRPr lang="en-US" sz="1200" dirty="0"/>
          </a:p>
        </p:txBody>
      </p:sp>
      <p:sp>
        <p:nvSpPr>
          <p:cNvPr id="72" name="Text 70"/>
          <p:cNvSpPr txBox="1"/>
          <p:nvPr/>
        </p:nvSpPr>
        <p:spPr>
          <a:xfrm>
            <a:off x="6812280" y="477316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Экспертная рецензия Правил; решения, правила, риски и данные остаются за МЦЦТ</a:t>
            </a:r>
            <a:endParaRPr lang="en-US" sz="950" dirty="0"/>
          </a:p>
        </p:txBody>
      </p:sp>
      <p:sp>
        <p:nvSpPr>
          <p:cNvPr id="73" name="Shape 71"/>
          <p:cNvSpPr/>
          <p:nvPr/>
        </p:nvSpPr>
        <p:spPr>
          <a:xfrm>
            <a:off x="10332720" y="4663440"/>
            <a:ext cx="1225296" cy="292608"/>
          </a:xfrm>
          <a:prstGeom prst="roundRect">
            <a:avLst>
              <a:gd name="adj" fmla="val 50000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10332720" y="466344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День 75</a:t>
            </a:r>
            <a:endParaRPr lang="en-US" sz="900" dirty="0"/>
          </a:p>
        </p:txBody>
      </p:sp>
      <p:sp>
        <p:nvSpPr>
          <p:cNvPr id="75" name="go:wef">
            <a:hlinkClick r:id="rId9" tooltip="WEF — организатор диалога" action="ppaction://hlinksldjump"/>
          </p:cNvPr>
          <p:cNvSpPr/>
          <p:nvPr/>
        </p:nvSpPr>
        <p:spPr>
          <a:xfrm>
            <a:off x="6153912" y="4416552"/>
            <a:ext cx="5532120" cy="78638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6153912" y="5285232"/>
            <a:ext cx="5532120" cy="786384"/>
          </a:xfrm>
          <a:prstGeom prst="roundRect">
            <a:avLst>
              <a:gd name="adj" fmla="val 9302"/>
            </a:avLst>
          </a:prstGeom>
          <a:solidFill>
            <a:schemeClr val="bg2"/>
          </a:solidFill>
          <a:ln/>
        </p:spPr>
      </p:sp>
      <p:sp>
        <p:nvSpPr>
          <p:cNvPr id="77" name="Shape 75"/>
          <p:cNvSpPr/>
          <p:nvPr/>
        </p:nvSpPr>
        <p:spPr>
          <a:xfrm>
            <a:off x="6291072" y="5486400"/>
            <a:ext cx="384048" cy="384048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6291072" y="54864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10</a:t>
            </a:r>
            <a:endParaRPr lang="en-US" sz="1200" dirty="0"/>
          </a:p>
        </p:txBody>
      </p:sp>
      <p:sp>
        <p:nvSpPr>
          <p:cNvPr id="79" name="Text 77"/>
          <p:cNvSpPr txBox="1"/>
          <p:nvPr/>
        </p:nvSpPr>
        <p:spPr>
          <a:xfrm>
            <a:off x="6812280" y="5367528"/>
            <a:ext cx="3429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Правовой спринт по текстам актов</a:t>
            </a:r>
            <a:endParaRPr lang="en-US" sz="1200" dirty="0"/>
          </a:p>
        </p:txBody>
      </p:sp>
      <p:sp>
        <p:nvSpPr>
          <p:cNvPr id="80" name="Text 78"/>
          <p:cNvSpPr txBox="1"/>
          <p:nvPr/>
        </p:nvSpPr>
        <p:spPr>
          <a:xfrm>
            <a:off x="6812280" y="5641848"/>
            <a:ext cx="342900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До разработки правил подтвердить правовую основу и полномочия по официальным текстам</a:t>
            </a:r>
            <a:endParaRPr lang="en-US" sz="950" dirty="0"/>
          </a:p>
        </p:txBody>
      </p:sp>
      <p:sp>
        <p:nvSpPr>
          <p:cNvPr id="81" name="Shape 79"/>
          <p:cNvSpPr/>
          <p:nvPr/>
        </p:nvSpPr>
        <p:spPr>
          <a:xfrm>
            <a:off x="10332720" y="5532120"/>
            <a:ext cx="1225296" cy="292608"/>
          </a:xfrm>
          <a:prstGeom prst="roundRect">
            <a:avLst>
              <a:gd name="adj" fmla="val 50000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10332720" y="5532120"/>
            <a:ext cx="122529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Дни 20–25</a:t>
            </a:r>
            <a:endParaRPr lang="en-US" sz="900" dirty="0"/>
          </a:p>
        </p:txBody>
      </p:sp>
      <p:sp>
        <p:nvSpPr>
          <p:cNvPr id="83" name="go:legal">
            <a:hlinkClick r:id="rId10" tooltip="Правовой спринт по текстам актов" action="ppaction://hlinksldjump"/>
          </p:cNvPr>
          <p:cNvSpPr/>
          <p:nvPr/>
        </p:nvSpPr>
        <p:spPr>
          <a:xfrm>
            <a:off x="6153912" y="5285232"/>
            <a:ext cx="5532120" cy="78638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4" name="source"/>
          <p:cNvSpPr txBox="1"/>
          <p:nvPr/>
        </p:nvSpPr>
        <p:spPr>
          <a:xfrm>
            <a:off x="502920" y="6400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Глава 1 отчета, «Десять рекомендаций для EUz». Численность и сроки — плановые допущения, а не эталонные значения.</a:t>
            </a:r>
            <a:endParaRPr lang="en-US" sz="800" dirty="0"/>
          </a:p>
        </p:txBody>
      </p:sp>
      <p:sp>
        <p:nvSpPr>
          <p:cNvPr id="85" name="Text 83"/>
          <p:cNvSpPr txBox="1"/>
          <p:nvPr/>
        </p:nvSpPr>
        <p:spPr>
          <a:xfrm>
            <a:off x="6283845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86" name="go:nav">
            <a:hlinkClick r:id="rId11" tooltip="Раздел: Меню" action="ppaction://hlinksldjump"/>
          </p:cNvPr>
          <p:cNvSpPr/>
          <p:nvPr/>
        </p:nvSpPr>
        <p:spPr>
          <a:xfrm>
            <a:off x="6283845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7" name="Shape 85"/>
          <p:cNvSpPr/>
          <p:nvPr/>
        </p:nvSpPr>
        <p:spPr>
          <a:xfrm>
            <a:off x="6814578" y="219456"/>
            <a:ext cx="797116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88" name="Text 86"/>
          <p:cNvSpPr txBox="1"/>
          <p:nvPr/>
        </p:nvSpPr>
        <p:spPr>
          <a:xfrm>
            <a:off x="6814578" y="219456"/>
            <a:ext cx="797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Главное</a:t>
            </a:r>
            <a:endParaRPr lang="en-US" sz="950" dirty="0"/>
          </a:p>
        </p:txBody>
      </p:sp>
      <p:sp>
        <p:nvSpPr>
          <p:cNvPr id="89" name="go:key5">
            <a:hlinkClick r:id="rId12" tooltip="Раздел: Главное" action="ppaction://hlinksldjump"/>
          </p:cNvPr>
          <p:cNvSpPr/>
          <p:nvPr/>
        </p:nvSpPr>
        <p:spPr>
          <a:xfrm>
            <a:off x="6814578" y="219456"/>
            <a:ext cx="797116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7648270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91" name="go:numbers">
            <a:hlinkClick r:id="rId13" tooltip="Раздел: Мир" action="ppaction://hlinksldjump"/>
          </p:cNvPr>
          <p:cNvSpPr/>
          <p:nvPr/>
        </p:nvSpPr>
        <p:spPr>
          <a:xfrm>
            <a:off x="7648270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2" name="Text 90"/>
          <p:cNvSpPr txBox="1"/>
          <p:nvPr/>
        </p:nvSpPr>
        <p:spPr>
          <a:xfrm>
            <a:off x="808248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Кейсы</a:t>
            </a:r>
            <a:endParaRPr lang="en-US" sz="950" dirty="0"/>
          </a:p>
        </p:txBody>
      </p:sp>
      <p:sp>
        <p:nvSpPr>
          <p:cNvPr id="93" name="go:casemap">
            <a:hlinkClick r:id="rId14" tooltip="Раздел: Кейсы" action="ppaction://hlinksldjump"/>
          </p:cNvPr>
          <p:cNvSpPr/>
          <p:nvPr/>
        </p:nvSpPr>
        <p:spPr>
          <a:xfrm>
            <a:off x="808248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95" name="go:ecosystem">
            <a:hlinkClick r:id="rId15" tooltip="Раздел: Модель" action="ppaction://hlinksldjump"/>
          </p:cNvPr>
          <p:cNvSpPr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6" name="Text 94"/>
          <p:cNvSpPr txBox="1"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97" name="go:path">
            <a:hlinkClick r:id="rId16" tooltip="Раздел: Этапы" action="ppaction://hlinksldjump"/>
          </p:cNvPr>
          <p:cNvSpPr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8" name="Text 96"/>
          <p:cNvSpPr txBox="1"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99" name="go:criteria">
            <a:hlinkClick r:id="rId17" tooltip="Раздел: Защита" action="ppaction://hlinksldjump"/>
          </p:cNvPr>
          <p:cNvSpPr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0" name="Text 98"/>
          <p:cNvSpPr txBox="1"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101" name="go:pilots">
            <a:hlinkClick r:id="rId18" tooltip="Раздел: Пилоты" action="ppaction://hlinksldjump"/>
          </p:cNvPr>
          <p:cNvSpPr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103" name="go:plan90">
            <a:hlinkClick r:id="rId19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Решения Управляющего совета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Что нужно на этом заседании и что вносится позднее — по графику от Дня 0 (принятие отчета Советом)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10512"/>
            <a:ext cx="5806440" cy="4315968"/>
          </a:xfrm>
          <a:prstGeom prst="roundRect">
            <a:avLst>
              <a:gd name="adj" fmla="val 2119"/>
            </a:avLst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731520" y="19476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НА ЭТОМ ЗАСЕДАНИИ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731520" y="2423160"/>
            <a:ext cx="86868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31520" y="242316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D1 · D2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783080" y="228600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Одобрить в принципе операционную модель, очередность треков и полномочия по допуску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731520" y="3054096"/>
            <a:ext cx="86868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731520" y="3054096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D3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1783080" y="2916936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Утвердить штатную численность; поручить подготовку сметы к Дню 45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731520" y="3685032"/>
            <a:ext cx="86868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731520" y="3685032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D4a</a:t>
            </a:r>
            <a:endParaRPr lang="en-US" sz="950" dirty="0"/>
          </a:p>
        </p:txBody>
      </p:sp>
      <p:sp>
        <p:nvSpPr>
          <p:cNvPr id="14" name="Text 12"/>
          <p:cNvSpPr txBox="1"/>
          <p:nvPr/>
        </p:nvSpPr>
        <p:spPr>
          <a:xfrm>
            <a:off x="1783080" y="3547872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Поручить правовую верификацию по официальным текстам — к Дню 20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731520" y="4315968"/>
            <a:ext cx="86868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731520" y="4315968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D6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1783080" y="4178808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Поддержать критерии отбора пилотов P1–P3 и внутреннего пилота P4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731520" y="4946904"/>
            <a:ext cx="86868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31520" y="4946904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D8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1783080" y="4809744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Поручить проработку сотрудничества с WEF и альтернатив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731520" y="5577840"/>
            <a:ext cx="868680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31520" y="5577840"/>
            <a:ext cx="868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D11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1783080" y="5440680"/>
            <a:ext cx="4343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chemeClr val="tx1"/>
                </a:solidFill>
              </a:rPr>
              <a:t>Установить условие выпуска английской редакции отчета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6583680" y="194767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tx2"/>
                </a:solidFill>
              </a:rPr>
              <a:t>ДАЛЕЕ ПО ГРАФИКУ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6702552" y="2377440"/>
            <a:ext cx="0" cy="3154680"/>
          </a:xfrm>
          <a:prstGeom prst="line">
            <a:avLst/>
          </a:prstGeom>
          <a:noFill/>
          <a:ln w="15875">
            <a:solidFill>
              <a:schemeClr val="accent1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620256" y="2350008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949440" y="228600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Дни 20–25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8092440" y="2286000"/>
            <a:ext cx="3593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Правовая основа и заключение о полномочиях (D4a)</a:t>
            </a:r>
            <a:endParaRPr lang="en-US" sz="1050" dirty="0"/>
          </a:p>
        </p:txBody>
      </p:sp>
      <p:sp>
        <p:nvSpPr>
          <p:cNvPr id="29" name="Shape 27"/>
          <p:cNvSpPr/>
          <p:nvPr/>
        </p:nvSpPr>
        <p:spPr>
          <a:xfrm>
            <a:off x="6620256" y="2953512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949440" y="2889504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День 30</a:t>
            </a:r>
            <a:endParaRPr lang="en-US" sz="1050" dirty="0"/>
          </a:p>
        </p:txBody>
      </p:sp>
      <p:sp>
        <p:nvSpPr>
          <p:cNvPr id="31" name="Text 29"/>
          <p:cNvSpPr txBox="1"/>
          <p:nvPr/>
        </p:nvSpPr>
        <p:spPr>
          <a:xfrm>
            <a:off x="8092440" y="2889504"/>
            <a:ext cx="3593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Постановления по D1 и D2 — после заключения по D4a</a:t>
            </a:r>
            <a:endParaRPr lang="en-US" sz="1050" dirty="0"/>
          </a:p>
        </p:txBody>
      </p:sp>
      <p:sp>
        <p:nvSpPr>
          <p:cNvPr id="32" name="Shape 30"/>
          <p:cNvSpPr/>
          <p:nvPr/>
        </p:nvSpPr>
        <p:spPr>
          <a:xfrm>
            <a:off x="6620256" y="3557016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949440" y="3493008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День 45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8092440" y="3493008"/>
            <a:ext cx="3593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Смета расходов (D3)</a:t>
            </a:r>
            <a:endParaRPr lang="en-US" sz="1050" dirty="0"/>
          </a:p>
        </p:txBody>
      </p:sp>
      <p:sp>
        <p:nvSpPr>
          <p:cNvPr id="35" name="Shape 33"/>
          <p:cNvSpPr/>
          <p:nvPr/>
        </p:nvSpPr>
        <p:spPr>
          <a:xfrm>
            <a:off x="6620256" y="4160520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949440" y="4096512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День 60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8092440" y="4096512"/>
            <a:ext cx="3593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D5 меры защиты · D9 публикация · D12 согласие регуляторов · положение о Комитете</a:t>
            </a:r>
            <a:endParaRPr lang="en-US" sz="1050" dirty="0"/>
          </a:p>
        </p:txBody>
      </p:sp>
      <p:sp>
        <p:nvSpPr>
          <p:cNvPr id="38" name="Shape 36"/>
          <p:cNvSpPr/>
          <p:nvPr/>
        </p:nvSpPr>
        <p:spPr>
          <a:xfrm>
            <a:off x="6620256" y="476402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949440" y="4700016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День 75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8092440" y="4700016"/>
            <a:ext cx="3593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Проект Правил (D4b) · портфель пилотов (D6) · условия с WEF (D8)</a:t>
            </a:r>
            <a:endParaRPr lang="en-US" sz="1050" dirty="0"/>
          </a:p>
        </p:txBody>
      </p:sp>
      <p:sp>
        <p:nvSpPr>
          <p:cNvPr id="41" name="Shape 39"/>
          <p:cNvSpPr/>
          <p:nvPr/>
        </p:nvSpPr>
        <p:spPr>
          <a:xfrm>
            <a:off x="6620256" y="5367528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949440" y="5303520"/>
            <a:ext cx="11430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М4</a:t>
            </a:r>
            <a:endParaRPr lang="en-US" sz="1050" dirty="0"/>
          </a:p>
        </p:txBody>
      </p:sp>
      <p:sp>
        <p:nvSpPr>
          <p:cNvPr id="43" name="Text 41"/>
          <p:cNvSpPr txBox="1"/>
          <p:nvPr/>
        </p:nvSpPr>
        <p:spPr>
          <a:xfrm>
            <a:off x="8092440" y="5303520"/>
            <a:ext cx="35935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Окончательные Правила песочницы (D4b)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6583680" y="5742432"/>
            <a:ext cx="5102352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При принятии отчета в конце октября 2026 г. День запуска — около 21 января 2027 г.: это дата вступления ЗРУ-1169 в силу по данным одного издания (подлежит сверке).</a:t>
            </a:r>
            <a:endParaRPr lang="en-US" sz="900" dirty="0"/>
          </a:p>
        </p:txBody>
      </p:sp>
      <p:sp>
        <p:nvSpPr>
          <p:cNvPr id="45" name="Shape 43"/>
          <p:cNvSpPr/>
          <p:nvPr/>
        </p:nvSpPr>
        <p:spPr>
          <a:xfrm>
            <a:off x="9495467" y="6409944"/>
            <a:ext cx="1340173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9495467" y="6409944"/>
            <a:ext cx="134017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Матрица D1–D12  ›</a:t>
            </a:r>
            <a:endParaRPr lang="en-US" sz="900" dirty="0"/>
          </a:p>
        </p:txBody>
      </p:sp>
      <p:sp>
        <p:nvSpPr>
          <p:cNvPr id="47" name="go:matrix">
            <a:hlinkClick r:id="rId1" tooltip="Матрица D1–D12  ›" action="ppaction://hlinksldjump"/>
          </p:cNvPr>
          <p:cNvSpPr/>
          <p:nvPr/>
        </p:nvSpPr>
        <p:spPr>
          <a:xfrm>
            <a:off x="9495467" y="6409944"/>
            <a:ext cx="1340173" cy="2560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8" name="source"/>
          <p:cNvSpPr txBox="1"/>
          <p:nvPr/>
        </p:nvSpPr>
        <p:spPr>
          <a:xfrm>
            <a:off x="502920" y="6400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Глава 1 и раздел 8.5 отчета (Иллюстрация 25).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6283845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50" name="go:nav">
            <a:hlinkClick r:id="rId2" tooltip="Раздел: Меню" action="ppaction://hlinksldjump"/>
          </p:cNvPr>
          <p:cNvSpPr/>
          <p:nvPr/>
        </p:nvSpPr>
        <p:spPr>
          <a:xfrm>
            <a:off x="6283845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1" name="Shape 49"/>
          <p:cNvSpPr/>
          <p:nvPr/>
        </p:nvSpPr>
        <p:spPr>
          <a:xfrm>
            <a:off x="6814578" y="219456"/>
            <a:ext cx="797116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6814578" y="219456"/>
            <a:ext cx="797116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Главное</a:t>
            </a:r>
            <a:endParaRPr lang="en-US" sz="950" dirty="0"/>
          </a:p>
        </p:txBody>
      </p:sp>
      <p:sp>
        <p:nvSpPr>
          <p:cNvPr id="53" name="go:key5">
            <a:hlinkClick r:id="rId3" tooltip="Раздел: Главное" action="ppaction://hlinksldjump"/>
          </p:cNvPr>
          <p:cNvSpPr/>
          <p:nvPr/>
        </p:nvSpPr>
        <p:spPr>
          <a:xfrm>
            <a:off x="6814578" y="219456"/>
            <a:ext cx="797116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7648270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55" name="go:numbers">
            <a:hlinkClick r:id="rId4" tooltip="Раздел: Мир" action="ppaction://hlinksldjump"/>
          </p:cNvPr>
          <p:cNvSpPr/>
          <p:nvPr/>
        </p:nvSpPr>
        <p:spPr>
          <a:xfrm>
            <a:off x="7648270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808248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Кейсы</a:t>
            </a:r>
            <a:endParaRPr lang="en-US" sz="950" dirty="0"/>
          </a:p>
        </p:txBody>
      </p:sp>
      <p:sp>
        <p:nvSpPr>
          <p:cNvPr id="57" name="go:casemap">
            <a:hlinkClick r:id="rId5" tooltip="Раздел: Кейсы" action="ppaction://hlinksldjump"/>
          </p:cNvPr>
          <p:cNvSpPr/>
          <p:nvPr/>
        </p:nvSpPr>
        <p:spPr>
          <a:xfrm>
            <a:off x="808248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59" name="go:ecosystem">
            <a:hlinkClick r:id="rId6" tooltip="Раздел: Модель" action="ppaction://hlinksldjump"/>
          </p:cNvPr>
          <p:cNvSpPr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61" name="go:path">
            <a:hlinkClick r:id="rId7" tooltip="Раздел: Этапы" action="ppaction://hlinksldjump"/>
          </p:cNvPr>
          <p:cNvSpPr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63" name="go:criteria">
            <a:hlinkClick r:id="rId8" tooltip="Раздел: Защита" action="ppaction://hlinksldjump"/>
          </p:cNvPr>
          <p:cNvSpPr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65" name="go:pilots">
            <a:hlinkClick r:id="rId9" tooltip="Раздел: Пилоты" action="ppaction://hlinksldjump"/>
          </p:cNvPr>
          <p:cNvSpPr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67" name="go:plan90">
            <a:hlinkClick r:id="rId10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Мир в цифрах: результаты реальны, но скромны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Наиболее весомые задокументированные результаты и ключевые пробелы — по опубликованным данным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10512"/>
            <a:ext cx="2679192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2633472" y="1993392"/>
            <a:ext cx="365760" cy="219456"/>
          </a:xfrm>
          <a:prstGeom prst="roundRect">
            <a:avLst>
              <a:gd name="adj" fmla="val 50000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2633472" y="1993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R</a:t>
            </a:r>
            <a:endParaRPr lang="en-US" sz="9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1975104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15 из 19</a:t>
            </a:r>
            <a:endParaRPr lang="en-US" sz="24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560320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компаний, принятых MAS, вышли из песочницы с лицензией</a:t>
            </a:r>
            <a:endParaRPr lang="en-US" sz="10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182112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Сингапур, на конец сент. 2025; охват по трекам неясен</a:t>
            </a:r>
            <a:endParaRPr lang="en-US" sz="900" dirty="0"/>
          </a:p>
        </p:txBody>
      </p:sp>
      <p:sp>
        <p:nvSpPr>
          <p:cNvPr id="10" name="go:case_mas">
            <a:hlinkClick r:id="rId1" tooltip="Подробнее" action="ppaction://hlinksldjump"/>
          </p:cNvPr>
          <p:cNvSpPr/>
          <p:nvPr/>
        </p:nvSpPr>
        <p:spPr>
          <a:xfrm>
            <a:off x="502920" y="1810512"/>
            <a:ext cx="2679192" cy="20116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" name="Shape 9"/>
          <p:cNvSpPr/>
          <p:nvPr/>
        </p:nvSpPr>
        <p:spPr>
          <a:xfrm>
            <a:off x="3337560" y="1810512"/>
            <a:ext cx="2679192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5468112" y="1993392"/>
            <a:ext cx="365760" cy="219456"/>
          </a:xfrm>
          <a:prstGeom prst="roundRect">
            <a:avLst>
              <a:gd name="adj" fmla="val 50000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5468112" y="1993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I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3520440" y="1975104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+15% | +50%</a:t>
            </a:r>
            <a:endParaRPr lang="en-US" sz="2400" dirty="0"/>
          </a:p>
        </p:txBody>
      </p:sp>
      <p:sp>
        <p:nvSpPr>
          <p:cNvPr id="15" name="Text 13"/>
          <p:cNvSpPr txBox="1"/>
          <p:nvPr/>
        </p:nvSpPr>
        <p:spPr>
          <a:xfrm>
            <a:off x="3520440" y="2560320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капитал и вероятность его привлечения после допуска в песочницу FCA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520440" y="3182112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Великобритания, 2014–2019; одно рецензируемое исследование</a:t>
            </a:r>
            <a:endParaRPr lang="en-US" sz="900" dirty="0"/>
          </a:p>
        </p:txBody>
      </p:sp>
      <p:sp>
        <p:nvSpPr>
          <p:cNvPr id="17" name="go:case_fca">
            <a:hlinkClick r:id="rId2" tooltip="Подробнее" action="ppaction://hlinksldjump"/>
          </p:cNvPr>
          <p:cNvSpPr/>
          <p:nvPr/>
        </p:nvSpPr>
        <p:spPr>
          <a:xfrm>
            <a:off x="3337560" y="1810512"/>
            <a:ext cx="2679192" cy="20116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Shape 16"/>
          <p:cNvSpPr/>
          <p:nvPr/>
        </p:nvSpPr>
        <p:spPr>
          <a:xfrm>
            <a:off x="6172200" y="1810512"/>
            <a:ext cx="2679192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8302752" y="1993392"/>
            <a:ext cx="365760" cy="219456"/>
          </a:xfrm>
          <a:prstGeom prst="roundRect">
            <a:avLst>
              <a:gd name="adj" fmla="val 50000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302752" y="1993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R</a:t>
            </a:r>
            <a:endParaRPr lang="en-US" sz="900" dirty="0"/>
          </a:p>
        </p:txBody>
      </p:sp>
      <p:sp>
        <p:nvSpPr>
          <p:cNvPr id="21" name="Text 19"/>
          <p:cNvSpPr txBox="1"/>
          <p:nvPr/>
        </p:nvSpPr>
        <p:spPr>
          <a:xfrm>
            <a:off x="6355080" y="1975104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172 из 629</a:t>
            </a:r>
            <a:endParaRPr lang="en-US" sz="2400" dirty="0"/>
          </a:p>
        </p:txBody>
      </p:sp>
      <p:sp>
        <p:nvSpPr>
          <p:cNvPr id="22" name="Text 20"/>
          <p:cNvSpPr txBox="1"/>
          <p:nvPr/>
        </p:nvSpPr>
        <p:spPr>
          <a:xfrm>
            <a:off x="6355080" y="2560320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заявок принято в песочницу FCA (27%, D)</a:t>
            </a:r>
            <a:endParaRPr lang="en-US" sz="1050" dirty="0"/>
          </a:p>
        </p:txBody>
      </p:sp>
      <p:sp>
        <p:nvSpPr>
          <p:cNvPr id="23" name="Text 21"/>
          <p:cNvSpPr txBox="1"/>
          <p:nvPr/>
        </p:nvSpPr>
        <p:spPr>
          <a:xfrm>
            <a:off x="6355080" y="3182112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Великобритания, 2016 — дек. 2023</a:t>
            </a:r>
            <a:endParaRPr lang="en-US" sz="900" dirty="0"/>
          </a:p>
        </p:txBody>
      </p:sp>
      <p:sp>
        <p:nvSpPr>
          <p:cNvPr id="24" name="go:case_fca">
            <a:hlinkClick r:id="rId3" tooltip="Подробнее" action="ppaction://hlinksldjump"/>
          </p:cNvPr>
          <p:cNvSpPr/>
          <p:nvPr/>
        </p:nvSpPr>
        <p:spPr>
          <a:xfrm>
            <a:off x="6172200" y="1810512"/>
            <a:ext cx="2679192" cy="20116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9006840" y="1810512"/>
            <a:ext cx="2679192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26" name="Shape 24"/>
          <p:cNvSpPr/>
          <p:nvPr/>
        </p:nvSpPr>
        <p:spPr>
          <a:xfrm>
            <a:off x="11137392" y="1993392"/>
            <a:ext cx="365760" cy="219456"/>
          </a:xfrm>
          <a:prstGeom prst="roundRect">
            <a:avLst>
              <a:gd name="adj" fmla="val 50000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11137392" y="1993392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R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9189720" y="1975104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≈ 3 мес.</a:t>
            </a:r>
            <a:endParaRPr lang="en-US" sz="2400" dirty="0"/>
          </a:p>
        </p:txBody>
      </p:sp>
      <p:sp>
        <p:nvSpPr>
          <p:cNvPr id="29" name="Text 27"/>
          <p:cNvSpPr txBox="1"/>
          <p:nvPr/>
        </p:nvSpPr>
        <p:spPr>
          <a:xfrm>
            <a:off x="9189720" y="2560320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медианный срок MAS от заявки до решения, включая время заявителя</a:t>
            </a:r>
            <a:endParaRPr lang="en-US" sz="1050" dirty="0"/>
          </a:p>
        </p:txBody>
      </p:sp>
      <p:sp>
        <p:nvSpPr>
          <p:cNvPr id="30" name="Text 28"/>
          <p:cNvSpPr txBox="1"/>
          <p:nvPr/>
        </p:nvSpPr>
        <p:spPr>
          <a:xfrm>
            <a:off x="9189720" y="3182112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Сингапур, данные опубликованы в окт. 2025</a:t>
            </a:r>
            <a:endParaRPr lang="en-US" sz="900" dirty="0"/>
          </a:p>
        </p:txBody>
      </p:sp>
      <p:sp>
        <p:nvSpPr>
          <p:cNvPr id="31" name="go:case_mas">
            <a:hlinkClick r:id="rId4" tooltip="Подробнее" action="ppaction://hlinksldjump"/>
          </p:cNvPr>
          <p:cNvSpPr/>
          <p:nvPr/>
        </p:nvSpPr>
        <p:spPr>
          <a:xfrm>
            <a:off x="9006840" y="1810512"/>
            <a:ext cx="2679192" cy="20116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Shape 30"/>
          <p:cNvSpPr/>
          <p:nvPr/>
        </p:nvSpPr>
        <p:spPr>
          <a:xfrm>
            <a:off x="502920" y="3968496"/>
            <a:ext cx="2679192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33" name="Shape 31"/>
          <p:cNvSpPr/>
          <p:nvPr/>
        </p:nvSpPr>
        <p:spPr>
          <a:xfrm>
            <a:off x="2633472" y="4151376"/>
            <a:ext cx="365760" cy="219456"/>
          </a:xfrm>
          <a:prstGeom prst="roundRect">
            <a:avLst>
              <a:gd name="adj" fmla="val 50000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2633472" y="415137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R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685800" y="413308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0</a:t>
            </a:r>
            <a:endParaRPr lang="en-US" sz="2400" dirty="0"/>
          </a:p>
        </p:txBody>
      </p:sp>
      <p:sp>
        <p:nvSpPr>
          <p:cNvPr id="36" name="Text 34"/>
          <p:cNvSpPr txBox="1"/>
          <p:nvPr/>
        </p:nvSpPr>
        <p:spPr>
          <a:xfrm>
            <a:off x="685800" y="4718304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одобренных заявок в Sandbox Plus — грантовом треке с янв. 2022</a:t>
            </a:r>
            <a:endParaRPr lang="en-US" sz="1050" dirty="0"/>
          </a:p>
        </p:txBody>
      </p:sp>
      <p:sp>
        <p:nvSpPr>
          <p:cNvPr id="37" name="Text 35"/>
          <p:cNvSpPr txBox="1"/>
          <p:nvPr/>
        </p:nvSpPr>
        <p:spPr>
          <a:xfrm>
            <a:off x="685800" y="5340096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Сингапур, на конец сент. 2025</a:t>
            </a:r>
            <a:endParaRPr lang="en-US" sz="900" dirty="0"/>
          </a:p>
        </p:txBody>
      </p:sp>
      <p:sp>
        <p:nvSpPr>
          <p:cNvPr id="38" name="go:case_mas">
            <a:hlinkClick r:id="rId5" tooltip="Подробнее" action="ppaction://hlinksldjump"/>
          </p:cNvPr>
          <p:cNvSpPr/>
          <p:nvPr/>
        </p:nvSpPr>
        <p:spPr>
          <a:xfrm>
            <a:off x="502920" y="3968496"/>
            <a:ext cx="2679192" cy="20116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9" name="Shape 37"/>
          <p:cNvSpPr/>
          <p:nvPr/>
        </p:nvSpPr>
        <p:spPr>
          <a:xfrm>
            <a:off x="3337560" y="3968496"/>
            <a:ext cx="2679192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40" name="Shape 38"/>
          <p:cNvSpPr/>
          <p:nvPr/>
        </p:nvSpPr>
        <p:spPr>
          <a:xfrm>
            <a:off x="5468112" y="4151376"/>
            <a:ext cx="365760" cy="219456"/>
          </a:xfrm>
          <a:prstGeom prst="roundRect">
            <a:avLst>
              <a:gd name="adj" fmla="val 50000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5468112" y="415137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R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3520440" y="413308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0 из 8</a:t>
            </a:r>
            <a:endParaRPr lang="en-US" sz="2400" dirty="0"/>
          </a:p>
        </p:txBody>
      </p:sp>
      <p:sp>
        <p:nvSpPr>
          <p:cNvPr id="43" name="Text 41"/>
          <p:cNvSpPr txBox="1"/>
          <p:nvPr/>
        </p:nvSpPr>
        <p:spPr>
          <a:xfrm>
            <a:off x="3520440" y="4718304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отобранных GFIN компаний начали трансграничный тест</a:t>
            </a:r>
            <a:endParaRPr lang="en-US" sz="1050" dirty="0"/>
          </a:p>
        </p:txBody>
      </p:sp>
      <p:sp>
        <p:nvSpPr>
          <p:cNvPr id="44" name="Text 42"/>
          <p:cNvSpPr txBox="1"/>
          <p:nvPr/>
        </p:nvSpPr>
        <p:spPr>
          <a:xfrm>
            <a:off x="3520440" y="5340096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17 регуляторов; отчет по пилоту, янв. 2020</a:t>
            </a:r>
            <a:endParaRPr lang="en-US" sz="900" dirty="0"/>
          </a:p>
        </p:txBody>
      </p:sp>
      <p:sp>
        <p:nvSpPr>
          <p:cNvPr id="45" name="go:failures">
            <a:hlinkClick r:id="rId6" tooltip="Подробнее" action="ppaction://hlinksldjump"/>
          </p:cNvPr>
          <p:cNvSpPr/>
          <p:nvPr/>
        </p:nvSpPr>
        <p:spPr>
          <a:xfrm>
            <a:off x="3337560" y="3968496"/>
            <a:ext cx="2679192" cy="20116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6172200" y="3968496"/>
            <a:ext cx="2679192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47" name="Shape 45"/>
          <p:cNvSpPr/>
          <p:nvPr/>
        </p:nvSpPr>
        <p:spPr>
          <a:xfrm>
            <a:off x="8302752" y="4151376"/>
            <a:ext cx="365760" cy="219456"/>
          </a:xfrm>
          <a:prstGeom prst="roundRect">
            <a:avLst>
              <a:gd name="adj" fmla="val 50000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302752" y="4151376"/>
            <a:ext cx="365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R</a:t>
            </a:r>
            <a:endParaRPr lang="en-US" sz="900" dirty="0"/>
          </a:p>
        </p:txBody>
      </p:sp>
      <p:sp>
        <p:nvSpPr>
          <p:cNvPr id="49" name="Text 47"/>
          <p:cNvSpPr txBox="1"/>
          <p:nvPr/>
        </p:nvSpPr>
        <p:spPr>
          <a:xfrm>
            <a:off x="6355080" y="413308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1"/>
                </a:solidFill>
              </a:rPr>
              <a:t>22 из 30</a:t>
            </a:r>
            <a:endParaRPr lang="en-US" sz="2400" dirty="0"/>
          </a:p>
        </p:txBody>
      </p:sp>
      <p:sp>
        <p:nvSpPr>
          <p:cNvPr id="50" name="Text 48"/>
          <p:cNvSpPr txBox="1"/>
          <p:nvPr/>
        </p:nvSpPr>
        <p:spPr>
          <a:xfrm>
            <a:off x="6355080" y="4718304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заявок в окне 1 Ofgem получили только обратную связь</a:t>
            </a:r>
            <a:endParaRPr lang="en-US" sz="1050" dirty="0"/>
          </a:p>
        </p:txBody>
      </p:sp>
      <p:sp>
        <p:nvSpPr>
          <p:cNvPr id="51" name="Text 49"/>
          <p:cNvSpPr txBox="1"/>
          <p:nvPr/>
        </p:nvSpPr>
        <p:spPr>
          <a:xfrm>
            <a:off x="6355080" y="5340096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Конкретный барьер не выявлен; по 3 заявкам открыты песочницы (сент. 2018)</a:t>
            </a:r>
            <a:endParaRPr lang="en-US" sz="900" dirty="0"/>
          </a:p>
        </p:txBody>
      </p:sp>
      <p:sp>
        <p:nvSpPr>
          <p:cNvPr id="52" name="go:formats">
            <a:hlinkClick r:id="rId7" tooltip="Подробнее" action="ppaction://hlinksldjump"/>
          </p:cNvPr>
          <p:cNvSpPr/>
          <p:nvPr/>
        </p:nvSpPr>
        <p:spPr>
          <a:xfrm>
            <a:off x="6172200" y="3968496"/>
            <a:ext cx="2679192" cy="20116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3" name="Shape 51"/>
          <p:cNvSpPr/>
          <p:nvPr/>
        </p:nvSpPr>
        <p:spPr>
          <a:xfrm>
            <a:off x="9006840" y="3968496"/>
            <a:ext cx="2679192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189720" y="4133088"/>
            <a:ext cx="19019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accent4"/>
                </a:solidFill>
              </a:rPr>
              <a:t>0 из 14</a:t>
            </a:r>
            <a:endParaRPr lang="en-US" sz="2400" dirty="0"/>
          </a:p>
        </p:txBody>
      </p:sp>
      <p:sp>
        <p:nvSpPr>
          <p:cNvPr id="55" name="Text 53"/>
          <p:cNvSpPr txBox="1"/>
          <p:nvPr/>
        </p:nvSpPr>
        <p:spPr>
          <a:xfrm>
            <a:off x="9189720" y="4718304"/>
            <a:ext cx="231343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программ публикуют аудированные данные об экономии времени или затрат</a:t>
            </a:r>
            <a:endParaRPr lang="en-US" sz="1050" dirty="0"/>
          </a:p>
        </p:txBody>
      </p:sp>
      <p:sp>
        <p:nvSpPr>
          <p:cNvPr id="56" name="Text 54"/>
          <p:cNvSpPr txBox="1"/>
          <p:nvPr/>
        </p:nvSpPr>
        <p:spPr>
          <a:xfrm>
            <a:off x="9189720" y="5340096"/>
            <a:ext cx="231343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Пробел в доказательной базе по рассмотренным источникам</a:t>
            </a:r>
            <a:endParaRPr lang="en-US" sz="900" dirty="0"/>
          </a:p>
        </p:txBody>
      </p:sp>
      <p:sp>
        <p:nvSpPr>
          <p:cNvPr id="57" name="go:kpi">
            <a:hlinkClick r:id="rId8" tooltip="Подробнее" action="ppaction://hlinksldjump"/>
          </p:cNvPr>
          <p:cNvSpPr/>
          <p:nvPr/>
        </p:nvSpPr>
        <p:spPr>
          <a:xfrm>
            <a:off x="9006840" y="3968496"/>
            <a:ext cx="2679192" cy="201168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8" name="source"/>
          <p:cNvSpPr txBox="1"/>
          <p:nvPr/>
        </p:nvSpPr>
        <p:spPr>
          <a:xfrm>
            <a:off x="502920" y="6400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Иллюстрация 1 отчета. R — данные регулятора; I — независимая оценка; D — расчет. Источники: [S2] [S3] [S6] [S7] [S15].</a:t>
            </a:r>
            <a:endParaRPr lang="en-US" sz="800" dirty="0"/>
          </a:p>
        </p:txBody>
      </p:sp>
      <p:sp>
        <p:nvSpPr>
          <p:cNvPr id="59" name="Shape 57"/>
          <p:cNvSpPr/>
          <p:nvPr/>
        </p:nvSpPr>
        <p:spPr>
          <a:xfrm>
            <a:off x="9417072" y="6409944"/>
            <a:ext cx="1418568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9417072" y="6409944"/>
            <a:ext cx="141856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Избирательность  ›</a:t>
            </a:r>
            <a:endParaRPr lang="en-US" sz="900" dirty="0"/>
          </a:p>
        </p:txBody>
      </p:sp>
      <p:sp>
        <p:nvSpPr>
          <p:cNvPr id="61" name="go:selectivity">
            <a:hlinkClick r:id="rId9" tooltip="Избирательность  ›" action="ppaction://hlinksldjump"/>
          </p:cNvPr>
          <p:cNvSpPr/>
          <p:nvPr/>
        </p:nvSpPr>
        <p:spPr>
          <a:xfrm>
            <a:off x="9417072" y="6409944"/>
            <a:ext cx="1418568" cy="2560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6302087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63" name="go:nav">
            <a:hlinkClick r:id="rId10" tooltip="Раздел: Меню" action="ppaction://hlinksldjump"/>
          </p:cNvPr>
          <p:cNvSpPr/>
          <p:nvPr/>
        </p:nvSpPr>
        <p:spPr>
          <a:xfrm>
            <a:off x="6302087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6832820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65" name="go:key5">
            <a:hlinkClick r:id="rId11" tooltip="Раздел: Главное" action="ppaction://hlinksldjump"/>
          </p:cNvPr>
          <p:cNvSpPr/>
          <p:nvPr/>
        </p:nvSpPr>
        <p:spPr>
          <a:xfrm>
            <a:off x="6832820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6" name="Shape 64"/>
          <p:cNvSpPr/>
          <p:nvPr/>
        </p:nvSpPr>
        <p:spPr>
          <a:xfrm>
            <a:off x="7527637" y="219456"/>
            <a:ext cx="518270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67" name="Text 65"/>
          <p:cNvSpPr txBox="1"/>
          <p:nvPr/>
        </p:nvSpPr>
        <p:spPr>
          <a:xfrm>
            <a:off x="7527637" y="219456"/>
            <a:ext cx="518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Мир</a:t>
            </a:r>
            <a:endParaRPr lang="en-US" sz="950" dirty="0"/>
          </a:p>
        </p:txBody>
      </p:sp>
      <p:sp>
        <p:nvSpPr>
          <p:cNvPr id="68" name="go:numbers">
            <a:hlinkClick r:id="rId12" tooltip="Раздел: Мир" action="ppaction://hlinksldjump"/>
          </p:cNvPr>
          <p:cNvSpPr/>
          <p:nvPr/>
        </p:nvSpPr>
        <p:spPr>
          <a:xfrm>
            <a:off x="7527637" y="219456"/>
            <a:ext cx="51827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808248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Кейсы</a:t>
            </a:r>
            <a:endParaRPr lang="en-US" sz="950" dirty="0"/>
          </a:p>
        </p:txBody>
      </p:sp>
      <p:sp>
        <p:nvSpPr>
          <p:cNvPr id="70" name="go:casemap">
            <a:hlinkClick r:id="rId13" tooltip="Раздел: Кейсы" action="ppaction://hlinksldjump"/>
          </p:cNvPr>
          <p:cNvSpPr/>
          <p:nvPr/>
        </p:nvSpPr>
        <p:spPr>
          <a:xfrm>
            <a:off x="808248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72" name="go:ecosystem">
            <a:hlinkClick r:id="rId14" tooltip="Раздел: Модель" action="ppaction://hlinksldjump"/>
          </p:cNvPr>
          <p:cNvSpPr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74" name="go:path">
            <a:hlinkClick r:id="rId15" tooltip="Раздел: Этапы" action="ppaction://hlinksldjump"/>
          </p:cNvPr>
          <p:cNvSpPr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76" name="go:criteria">
            <a:hlinkClick r:id="rId16" tooltip="Раздел: Защита" action="ppaction://hlinksldjump"/>
          </p:cNvPr>
          <p:cNvSpPr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78" name="go:pilots">
            <a:hlinkClick r:id="rId17" tooltip="Раздел: Пилоты" action="ppaction://hlinksldjump"/>
          </p:cNvPr>
          <p:cNvSpPr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80" name="go:plan90">
            <a:hlinkClick r:id="rId18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Избирательность: допускают от 10% до 50% заявок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Расчет по опубликованным данным (D); определения и периоды различаются — это диапазон, а не рейтинг</a:t>
            </a:r>
            <a:endParaRPr lang="en-US" sz="1400" dirty="0"/>
          </a:p>
        </p:txBody>
      </p:sp>
      <p:graphicFrame>
        <p:nvGraphicFramePr>
          <p:cNvPr id="4" name="chart admission" descr=""/>
          <p:cNvGraphicFramePr/>
          <p:nvPr/>
        </p:nvGraphicFramePr>
        <p:xfrm>
          <a:off x="502920" y="1810512"/>
          <a:ext cx="6812280" cy="4343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7543800" y="1810512"/>
            <a:ext cx="4142232" cy="4343400"/>
          </a:xfrm>
          <a:prstGeom prst="roundRect">
            <a:avLst>
              <a:gd name="adj" fmla="val 2208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726680" y="193852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ЧТО ПОКАЗЫВАЮТ ДАННЫЕ</a:t>
            </a:r>
            <a:endParaRPr lang="en-US" sz="950" dirty="0"/>
          </a:p>
        </p:txBody>
      </p:sp>
      <p:sp>
        <p:nvSpPr>
          <p:cNvPr id="7" name="Shape 4"/>
          <p:cNvSpPr/>
          <p:nvPr/>
        </p:nvSpPr>
        <p:spPr>
          <a:xfrm>
            <a:off x="7726680" y="2304288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Text 5"/>
          <p:cNvSpPr txBox="1"/>
          <p:nvPr/>
        </p:nvSpPr>
        <p:spPr>
          <a:xfrm>
            <a:off x="7726680" y="230428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</a:t>
            </a:r>
            <a:endParaRPr lang="en-US" sz="1000" dirty="0"/>
          </a:p>
        </p:txBody>
      </p:sp>
      <p:sp>
        <p:nvSpPr>
          <p:cNvPr id="9" name="Text 6"/>
          <p:cNvSpPr txBox="1"/>
          <p:nvPr/>
        </p:nvSpPr>
        <p:spPr>
          <a:xfrm>
            <a:off x="8119872" y="2286000"/>
            <a:ext cx="3429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Допуск — это сигнал.</a:t>
            </a:r>
            <a:r>
              <a:rPr lang="en-US" sz="1000" dirty="0">
                <a:solidFill>
                  <a:schemeClr val="tx1"/>
                </a:solidFill>
              </a:rPr>
              <a:t> Британские данные говорят об эффекте для финансирования; когорта без строгого отбора подорвала бы этот сигнал.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7726680" y="3255264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7726680" y="32552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</a:t>
            </a:r>
            <a:endParaRPr lang="en-US" sz="1000" dirty="0"/>
          </a:p>
        </p:txBody>
      </p:sp>
      <p:sp>
        <p:nvSpPr>
          <p:cNvPr id="12" name="Text 9"/>
          <p:cNvSpPr txBox="1"/>
          <p:nvPr/>
        </p:nvSpPr>
        <p:spPr>
          <a:xfrm>
            <a:off x="8119872" y="3236976"/>
            <a:ext cx="3429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Пропускная способность невелика.</a:t>
            </a:r>
            <a:r>
              <a:rPr lang="en-US" sz="1000" dirty="0">
                <a:solidFill>
                  <a:schemeClr val="tx1"/>
                </a:solidFill>
              </a:rPr>
              <a:t> Там, где отслеживается выход (MAS, DFSA, Япония), реальные тесты проходит немного компаний; первая когорта МЦЦТ — 3–4 пилота.</a:t>
            </a:r>
            <a:endParaRPr lang="en-US" sz="1000" dirty="0"/>
          </a:p>
        </p:txBody>
      </p:sp>
      <p:sp>
        <p:nvSpPr>
          <p:cNvPr id="13" name="Shape 10"/>
          <p:cNvSpPr/>
          <p:nvPr/>
        </p:nvSpPr>
        <p:spPr>
          <a:xfrm>
            <a:off x="7726680" y="4206240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726680" y="42062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</a:t>
            </a:r>
            <a:endParaRPr lang="en-US" sz="1000" dirty="0"/>
          </a:p>
        </p:txBody>
      </p:sp>
      <p:sp>
        <p:nvSpPr>
          <p:cNvPr id="15" name="Text 12"/>
          <p:cNvSpPr txBox="1"/>
          <p:nvPr/>
        </p:nvSpPr>
        <p:spPr>
          <a:xfrm>
            <a:off x="8119872" y="4187952"/>
            <a:ext cx="3429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Спрос нужно проверить.</a:t>
            </a:r>
            <a:r>
              <a:rPr lang="en-US" sz="1000" dirty="0">
                <a:solidFill>
                  <a:schemeClr val="tx1"/>
                </a:solidFill>
              </a:rPr>
              <a:t> Сокращение числа заявок (Корея, песочница ИКТ: со 110 до 67 за два года, S) указывает и на слабый спрос.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7726680" y="5157216"/>
            <a:ext cx="274320" cy="274320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7726680" y="51572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</a:t>
            </a:r>
            <a:endParaRPr lang="en-US" sz="1000" dirty="0"/>
          </a:p>
        </p:txBody>
      </p:sp>
      <p:sp>
        <p:nvSpPr>
          <p:cNvPr id="18" name="Text 15"/>
          <p:cNvSpPr txBox="1"/>
          <p:nvPr/>
        </p:nvSpPr>
        <p:spPr>
          <a:xfrm>
            <a:off x="8119872" y="5138928"/>
            <a:ext cx="3429000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Разъяснения не требуют освобождений.</a:t>
            </a:r>
            <a:r>
              <a:rPr lang="en-US" sz="1000" dirty="0">
                <a:solidFill>
                  <a:schemeClr val="tx1"/>
                </a:solidFill>
              </a:rPr>
              <a:t> Ofgem, ICO, блокчейн-песочница ЕС и Испания выпускали разъяснения без освобождений от закона.</a:t>
            </a:r>
            <a:endParaRPr lang="en-US" sz="1000" dirty="0"/>
          </a:p>
        </p:txBody>
      </p:sp>
      <p:sp>
        <p:nvSpPr>
          <p:cNvPr id="19" name="source"/>
          <p:cNvSpPr txBox="1"/>
          <p:nvPr/>
        </p:nvSpPr>
        <p:spPr>
          <a:xfrm>
            <a:off x="502920" y="6400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Иллюстрация 2 отчета: [S3] FCA; [S6] Ofgem; [S14] DFSA; [S17] ЕС; [S24] ASIC (S, дата среза неизвестна); [S49] ADGM. Зеленый — R, серый — S.</a:t>
            </a:r>
            <a:endParaRPr lang="en-US" sz="800" dirty="0"/>
          </a:p>
        </p:txBody>
      </p:sp>
      <p:sp>
        <p:nvSpPr>
          <p:cNvPr id="20" name="Text 17"/>
          <p:cNvSpPr txBox="1"/>
          <p:nvPr/>
        </p:nvSpPr>
        <p:spPr>
          <a:xfrm>
            <a:off x="6302087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21" name="go:nav">
            <a:hlinkClick r:id="rId2" tooltip="Раздел: Меню" action="ppaction://hlinksldjump"/>
          </p:cNvPr>
          <p:cNvSpPr/>
          <p:nvPr/>
        </p:nvSpPr>
        <p:spPr>
          <a:xfrm>
            <a:off x="6302087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6832820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23" name="go:key5">
            <a:hlinkClick r:id="rId3" tooltip="Раздел: Главное" action="ppaction://hlinksldjump"/>
          </p:cNvPr>
          <p:cNvSpPr/>
          <p:nvPr/>
        </p:nvSpPr>
        <p:spPr>
          <a:xfrm>
            <a:off x="6832820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Shape 21"/>
          <p:cNvSpPr/>
          <p:nvPr/>
        </p:nvSpPr>
        <p:spPr>
          <a:xfrm>
            <a:off x="7527637" y="219456"/>
            <a:ext cx="518270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25" name="Text 22"/>
          <p:cNvSpPr txBox="1"/>
          <p:nvPr/>
        </p:nvSpPr>
        <p:spPr>
          <a:xfrm>
            <a:off x="7527637" y="219456"/>
            <a:ext cx="518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Мир</a:t>
            </a:r>
            <a:endParaRPr lang="en-US" sz="950" dirty="0"/>
          </a:p>
        </p:txBody>
      </p:sp>
      <p:sp>
        <p:nvSpPr>
          <p:cNvPr id="26" name="go:numbers">
            <a:hlinkClick r:id="rId4" tooltip="Раздел: Мир" action="ppaction://hlinksldjump"/>
          </p:cNvPr>
          <p:cNvSpPr/>
          <p:nvPr/>
        </p:nvSpPr>
        <p:spPr>
          <a:xfrm>
            <a:off x="7527637" y="219456"/>
            <a:ext cx="51827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7" name="Text 24"/>
          <p:cNvSpPr txBox="1"/>
          <p:nvPr/>
        </p:nvSpPr>
        <p:spPr>
          <a:xfrm>
            <a:off x="808248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Кейсы</a:t>
            </a:r>
            <a:endParaRPr lang="en-US" sz="950" dirty="0"/>
          </a:p>
        </p:txBody>
      </p:sp>
      <p:sp>
        <p:nvSpPr>
          <p:cNvPr id="28" name="go:casemap">
            <a:hlinkClick r:id="rId5" tooltip="Раздел: Кейсы" action="ppaction://hlinksldjump"/>
          </p:cNvPr>
          <p:cNvSpPr/>
          <p:nvPr/>
        </p:nvSpPr>
        <p:spPr>
          <a:xfrm>
            <a:off x="808248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Text 26"/>
          <p:cNvSpPr txBox="1"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30" name="go:ecosystem">
            <a:hlinkClick r:id="rId6" tooltip="Раздел: Модель" action="ppaction://hlinksldjump"/>
          </p:cNvPr>
          <p:cNvSpPr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1" name="Text 28"/>
          <p:cNvSpPr txBox="1"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32" name="go:path">
            <a:hlinkClick r:id="rId7" tooltip="Раздел: Этапы" action="ppaction://hlinksldjump"/>
          </p:cNvPr>
          <p:cNvSpPr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3" name="Text 30"/>
          <p:cNvSpPr txBox="1"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34" name="go:criteria">
            <a:hlinkClick r:id="rId8" tooltip="Раздел: Защита" action="ppaction://hlinksldjump"/>
          </p:cNvPr>
          <p:cNvSpPr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" name="Text 32"/>
          <p:cNvSpPr txBox="1"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36" name="go:pilots">
            <a:hlinkClick r:id="rId9" tooltip="Раздел: Пилоты" action="ppaction://hlinksldjump"/>
          </p:cNvPr>
          <p:cNvSpPr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7" name="Text 34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38" name="go:plan90">
            <a:hlinkClick r:id="rId10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Неудачи задокументированы: шесть уроков для МЦЦТ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Факты — по опубликованным данным; причины неудач и ответные меры — интерпретация аналитика (A)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1810512"/>
            <a:ext cx="2331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tx2"/>
                </a:solidFill>
              </a:rPr>
              <a:t>НЕУДАЧА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3108960" y="1810512"/>
            <a:ext cx="4663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tx2"/>
                </a:solidFill>
              </a:rPr>
              <a:t>ДАННЫЕ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7909560" y="1810512"/>
            <a:ext cx="391363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ОТВЕТНАЯ МЕРА МЦЦТ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502920" y="2121408"/>
            <a:ext cx="11183112" cy="612648"/>
          </a:xfrm>
          <a:prstGeom prst="roundRect">
            <a:avLst>
              <a:gd name="adj" fmla="val 8955"/>
            </a:avLst>
          </a:prstGeom>
          <a:solidFill>
            <a:schemeClr val="bg2"/>
          </a:solidFill>
          <a:ln/>
        </p:spPr>
      </p:sp>
      <p:sp>
        <p:nvSpPr>
          <p:cNvPr id="8" name="Shape 6"/>
          <p:cNvSpPr/>
          <p:nvPr/>
        </p:nvSpPr>
        <p:spPr>
          <a:xfrm>
            <a:off x="7772400" y="2121408"/>
            <a:ext cx="3913632" cy="612648"/>
          </a:xfrm>
          <a:prstGeom prst="roundRect">
            <a:avLst>
              <a:gd name="adj" fmla="val 8955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121408"/>
            <a:ext cx="2194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Стимулирующий трек не востребован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3108960" y="2121408"/>
            <a:ext cx="45262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MAS Sandbox Plus: одобрений нет (на конец сент. 2025); по заявлению MAS, большинство заявок — технологии, уже применяемые в Сингапуре (R)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7909560" y="2121408"/>
            <a:ext cx="3657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Без грантов и стимулирующего трека, пока проверка спроса не покажет потребность</a:t>
            </a:r>
            <a:endParaRPr lang="en-US" sz="950" dirty="0"/>
          </a:p>
        </p:txBody>
      </p:sp>
      <p:sp>
        <p:nvSpPr>
          <p:cNvPr id="12" name="go:formats">
            <a:hlinkClick r:id="rId1" tooltip="Ответная мера" action="ppaction://hlinksldjump"/>
          </p:cNvPr>
          <p:cNvSpPr/>
          <p:nvPr/>
        </p:nvSpPr>
        <p:spPr>
          <a:xfrm>
            <a:off x="502920" y="2121408"/>
            <a:ext cx="11183112" cy="61264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502920" y="2788920"/>
            <a:ext cx="11183112" cy="612648"/>
          </a:xfrm>
          <a:prstGeom prst="roundRect">
            <a:avLst>
              <a:gd name="adj" fmla="val 8955"/>
            </a:avLst>
          </a:prstGeom>
          <a:solidFill>
            <a:schemeClr val="bg2"/>
          </a:solidFill>
          <a:ln/>
        </p:spPr>
      </p:sp>
      <p:sp>
        <p:nvSpPr>
          <p:cNvPr id="14" name="Shape 12"/>
          <p:cNvSpPr/>
          <p:nvPr/>
        </p:nvSpPr>
        <p:spPr>
          <a:xfrm>
            <a:off x="7772400" y="2788920"/>
            <a:ext cx="3913632" cy="612648"/>
          </a:xfrm>
          <a:prstGeom prst="roundRect">
            <a:avLst>
              <a:gd name="adj" fmla="val 8955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2788920"/>
            <a:ext cx="2194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Трансграничный пилот не дошел до теста</a:t>
            </a:r>
            <a:endParaRPr lang="en-US" sz="1050" dirty="0"/>
          </a:p>
        </p:txBody>
      </p:sp>
      <p:sp>
        <p:nvSpPr>
          <p:cNvPr id="16" name="Text 14"/>
          <p:cNvSpPr txBox="1"/>
          <p:nvPr/>
        </p:nvSpPr>
        <p:spPr>
          <a:xfrm>
            <a:off x="3108960" y="2788920"/>
            <a:ext cx="45262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GFIN: ни одна из 8 отобранных компаний не начала тест (янв. 2020, R); последующие когорты не подтверждены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7909560" y="2788920"/>
            <a:ext cx="3657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Трансграничный трек — во 2-й год; единый план тестирования и один ведущий орган</a:t>
            </a:r>
            <a:endParaRPr lang="en-US" sz="950" dirty="0"/>
          </a:p>
        </p:txBody>
      </p:sp>
      <p:sp>
        <p:nvSpPr>
          <p:cNvPr id="18" name="go:formats">
            <a:hlinkClick r:id="rId2" tooltip="Ответная мера" action="ppaction://hlinksldjump"/>
          </p:cNvPr>
          <p:cNvSpPr/>
          <p:nvPr/>
        </p:nvSpPr>
        <p:spPr>
          <a:xfrm>
            <a:off x="502920" y="2788920"/>
            <a:ext cx="11183112" cy="61264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9" name="Shape 17"/>
          <p:cNvSpPr/>
          <p:nvPr/>
        </p:nvSpPr>
        <p:spPr>
          <a:xfrm>
            <a:off x="502920" y="3456432"/>
            <a:ext cx="11183112" cy="612648"/>
          </a:xfrm>
          <a:prstGeom prst="roundRect">
            <a:avLst>
              <a:gd name="adj" fmla="val 8955"/>
            </a:avLst>
          </a:prstGeom>
          <a:solidFill>
            <a:schemeClr val="bg2"/>
          </a:solidFill>
          <a:ln/>
        </p:spPr>
      </p:sp>
      <p:sp>
        <p:nvSpPr>
          <p:cNvPr id="20" name="Shape 18"/>
          <p:cNvSpPr/>
          <p:nvPr/>
        </p:nvSpPr>
        <p:spPr>
          <a:xfrm>
            <a:off x="7772400" y="3456432"/>
            <a:ext cx="3913632" cy="612648"/>
          </a:xfrm>
          <a:prstGeom prst="roundRect">
            <a:avLst>
              <a:gd name="adj" fmla="val 8955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40080" y="3456432"/>
            <a:ext cx="2194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Медленный переход на постоянный режим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108960" y="3456432"/>
            <a:ext cx="45262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DFSA: 3 из 51 принятой компании вышли; на июнь 2021 г. 5 еще тестировались, 7 имели предварительное одобрение (R; S)</a:t>
            </a:r>
            <a:endParaRPr lang="en-US" sz="950" dirty="0"/>
          </a:p>
        </p:txBody>
      </p:sp>
      <p:sp>
        <p:nvSpPr>
          <p:cNvPr id="23" name="Text 21"/>
          <p:cNvSpPr txBox="1"/>
          <p:nvPr/>
        </p:nvSpPr>
        <p:spPr>
          <a:xfrm>
            <a:off x="7909560" y="3456432"/>
            <a:ext cx="3657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Доказательства для выхода — в каждом плане тестирования при допуске</a:t>
            </a:r>
            <a:endParaRPr lang="en-US" sz="950" dirty="0"/>
          </a:p>
        </p:txBody>
      </p:sp>
      <p:sp>
        <p:nvSpPr>
          <p:cNvPr id="24" name="go:after">
            <a:hlinkClick r:id="rId3" tooltip="Ответная мера" action="ppaction://hlinksldjump"/>
          </p:cNvPr>
          <p:cNvSpPr/>
          <p:nvPr/>
        </p:nvSpPr>
        <p:spPr>
          <a:xfrm>
            <a:off x="502920" y="3456432"/>
            <a:ext cx="11183112" cy="61264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hape 23"/>
          <p:cNvSpPr/>
          <p:nvPr/>
        </p:nvSpPr>
        <p:spPr>
          <a:xfrm>
            <a:off x="502920" y="4123944"/>
            <a:ext cx="11183112" cy="612648"/>
          </a:xfrm>
          <a:prstGeom prst="roundRect">
            <a:avLst>
              <a:gd name="adj" fmla="val 8955"/>
            </a:avLst>
          </a:prstGeom>
          <a:solidFill>
            <a:schemeClr val="bg2"/>
          </a:solidFill>
          <a:ln/>
        </p:spPr>
      </p:sp>
      <p:sp>
        <p:nvSpPr>
          <p:cNvPr id="26" name="Shape 24"/>
          <p:cNvSpPr/>
          <p:nvPr/>
        </p:nvSpPr>
        <p:spPr>
          <a:xfrm>
            <a:off x="7772400" y="4123944"/>
            <a:ext cx="3913632" cy="612648"/>
          </a:xfrm>
          <a:prstGeom prst="roundRect">
            <a:avLst>
              <a:gd name="adj" fmla="val 8955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" y="4123944"/>
            <a:ext cx="2194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Выход без лицензии</a:t>
            </a:r>
            <a:endParaRPr lang="en-US" sz="1050" dirty="0"/>
          </a:p>
        </p:txBody>
      </p:sp>
      <p:sp>
        <p:nvSpPr>
          <p:cNvPr id="28" name="Text 26"/>
          <p:cNvSpPr txBox="1"/>
          <p:nvPr/>
        </p:nvSpPr>
        <p:spPr>
          <a:xfrm>
            <a:off x="3108960" y="4123944"/>
            <a:ext cx="45262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ASIC (Австралия): 1 лицензия на 16 выходов, 12 компаний закрылись (S, изложение обзора в прессе)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7909560" y="4123944"/>
            <a:ext cx="3657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Консультации с лицензирующим органом при проектировании теста; варианты выхода — при допуске</a:t>
            </a:r>
            <a:endParaRPr lang="en-US" sz="950" dirty="0"/>
          </a:p>
        </p:txBody>
      </p:sp>
      <p:sp>
        <p:nvSpPr>
          <p:cNvPr id="30" name="go:after">
            <a:hlinkClick r:id="rId4" tooltip="Ответная мера" action="ppaction://hlinksldjump"/>
          </p:cNvPr>
          <p:cNvSpPr/>
          <p:nvPr/>
        </p:nvSpPr>
        <p:spPr>
          <a:xfrm>
            <a:off x="502920" y="4123944"/>
            <a:ext cx="11183112" cy="61264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502920" y="4791456"/>
            <a:ext cx="11183112" cy="612648"/>
          </a:xfrm>
          <a:prstGeom prst="roundRect">
            <a:avLst>
              <a:gd name="adj" fmla="val 8955"/>
            </a:avLst>
          </a:prstGeom>
          <a:solidFill>
            <a:schemeClr val="bg2"/>
          </a:solidFill>
          <a:ln/>
        </p:spPr>
      </p:sp>
      <p:sp>
        <p:nvSpPr>
          <p:cNvPr id="32" name="Shape 30"/>
          <p:cNvSpPr/>
          <p:nvPr/>
        </p:nvSpPr>
        <p:spPr>
          <a:xfrm>
            <a:off x="7772400" y="4791456"/>
            <a:ext cx="3913632" cy="612648"/>
          </a:xfrm>
          <a:prstGeom prst="roundRect">
            <a:avLst>
              <a:gd name="adj" fmla="val 8955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40080" y="4791456"/>
            <a:ext cx="2194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Сокращение числа заявок</a:t>
            </a:r>
            <a:endParaRPr lang="en-US" sz="1050" dirty="0"/>
          </a:p>
        </p:txBody>
      </p:sp>
      <p:sp>
        <p:nvSpPr>
          <p:cNvPr id="34" name="Text 32"/>
          <p:cNvSpPr txBox="1"/>
          <p:nvPr/>
        </p:nvSpPr>
        <p:spPr>
          <a:xfrm>
            <a:off x="3108960" y="4791456"/>
            <a:ext cx="45262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Корея, песочница ИКТ-конвергенции: со 110 до 67 заявок за два года (S, сообщение прессы, авг. 2026)</a:t>
            </a:r>
            <a:endParaRPr lang="en-US" sz="950" dirty="0"/>
          </a:p>
        </p:txBody>
      </p:sp>
      <p:sp>
        <p:nvSpPr>
          <p:cNvPr id="35" name="Text 33"/>
          <p:cNvSpPr txBox="1"/>
          <p:nvPr/>
        </p:nvSpPr>
        <p:spPr>
          <a:xfrm>
            <a:off x="7909560" y="4791456"/>
            <a:ext cx="3657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Проверка спроса до запуска; на старте — два трека</a:t>
            </a:r>
            <a:endParaRPr lang="en-US" sz="950" dirty="0"/>
          </a:p>
        </p:txBody>
      </p:sp>
      <p:sp>
        <p:nvSpPr>
          <p:cNvPr id="36" name="go:boundaries">
            <a:hlinkClick r:id="rId5" tooltip="Ответная мера" action="ppaction://hlinksldjump"/>
          </p:cNvPr>
          <p:cNvSpPr/>
          <p:nvPr/>
        </p:nvSpPr>
        <p:spPr>
          <a:xfrm>
            <a:off x="502920" y="4791456"/>
            <a:ext cx="11183112" cy="61264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502920" y="5458968"/>
            <a:ext cx="11183112" cy="612648"/>
          </a:xfrm>
          <a:prstGeom prst="roundRect">
            <a:avLst>
              <a:gd name="adj" fmla="val 8955"/>
            </a:avLst>
          </a:prstGeom>
          <a:solidFill>
            <a:schemeClr val="bg2"/>
          </a:solidFill>
          <a:ln/>
        </p:spPr>
      </p:sp>
      <p:sp>
        <p:nvSpPr>
          <p:cNvPr id="38" name="Shape 36"/>
          <p:cNvSpPr/>
          <p:nvPr/>
        </p:nvSpPr>
        <p:spPr>
          <a:xfrm>
            <a:off x="7772400" y="5458968"/>
            <a:ext cx="3913632" cy="612648"/>
          </a:xfrm>
          <a:prstGeom prst="roundRect">
            <a:avLst>
              <a:gd name="adj" fmla="val 8955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40080" y="5458968"/>
            <a:ext cx="219456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Целевой срок без данных о соблюдении</a:t>
            </a:r>
            <a:endParaRPr lang="en-US" sz="1050" dirty="0"/>
          </a:p>
        </p:txBody>
      </p:sp>
      <p:sp>
        <p:nvSpPr>
          <p:cNvPr id="40" name="Text 38"/>
          <p:cNvSpPr txBox="1"/>
          <p:nvPr/>
        </p:nvSpPr>
        <p:spPr>
          <a:xfrm>
            <a:off x="3108960" y="5458968"/>
            <a:ext cx="452628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MAS Sandbox Express: целевой срок 21 день; данных о соблюдении не найдено (T)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7909560" y="5458968"/>
            <a:ext cx="3657600" cy="6126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Ежеквартальная публикация соблюдения сроков (KPI 1–3)</a:t>
            </a:r>
            <a:endParaRPr lang="en-US" sz="950" dirty="0"/>
          </a:p>
        </p:txBody>
      </p:sp>
      <p:sp>
        <p:nvSpPr>
          <p:cNvPr id="42" name="go:kpi">
            <a:hlinkClick r:id="rId6" tooltip="Ответная мера" action="ppaction://hlinksldjump"/>
          </p:cNvPr>
          <p:cNvSpPr/>
          <p:nvPr/>
        </p:nvSpPr>
        <p:spPr>
          <a:xfrm>
            <a:off x="502920" y="5458968"/>
            <a:ext cx="11183112" cy="61264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3" name="source"/>
          <p:cNvSpPr txBox="1"/>
          <p:nvPr/>
        </p:nvSpPr>
        <p:spPr>
          <a:xfrm>
            <a:off x="502920" y="6400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Иллюстрация 3a отчета: [S7] MAS; [S8] MAS Express; [S14] DFSA; [S15] GFIN; [S23] Корея; [S24] ASIC.</a:t>
            </a:r>
            <a:endParaRPr lang="en-US" sz="800" dirty="0"/>
          </a:p>
        </p:txBody>
      </p:sp>
      <p:sp>
        <p:nvSpPr>
          <p:cNvPr id="44" name="Text 42"/>
          <p:cNvSpPr txBox="1"/>
          <p:nvPr/>
        </p:nvSpPr>
        <p:spPr>
          <a:xfrm>
            <a:off x="6302087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45" name="go:nav">
            <a:hlinkClick r:id="rId7" tooltip="Раздел: Меню" action="ppaction://hlinksldjump"/>
          </p:cNvPr>
          <p:cNvSpPr/>
          <p:nvPr/>
        </p:nvSpPr>
        <p:spPr>
          <a:xfrm>
            <a:off x="6302087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832820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47" name="go:key5">
            <a:hlinkClick r:id="rId8" tooltip="Раздел: Главное" action="ppaction://hlinksldjump"/>
          </p:cNvPr>
          <p:cNvSpPr/>
          <p:nvPr/>
        </p:nvSpPr>
        <p:spPr>
          <a:xfrm>
            <a:off x="6832820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8" name="Shape 46"/>
          <p:cNvSpPr/>
          <p:nvPr/>
        </p:nvSpPr>
        <p:spPr>
          <a:xfrm>
            <a:off x="7527637" y="219456"/>
            <a:ext cx="518270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49" name="Text 47"/>
          <p:cNvSpPr txBox="1"/>
          <p:nvPr/>
        </p:nvSpPr>
        <p:spPr>
          <a:xfrm>
            <a:off x="7527637" y="219456"/>
            <a:ext cx="5182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Мир</a:t>
            </a:r>
            <a:endParaRPr lang="en-US" sz="950" dirty="0"/>
          </a:p>
        </p:txBody>
      </p:sp>
      <p:sp>
        <p:nvSpPr>
          <p:cNvPr id="50" name="go:numbers">
            <a:hlinkClick r:id="rId9" tooltip="Раздел: Мир" action="ppaction://hlinksldjump"/>
          </p:cNvPr>
          <p:cNvSpPr/>
          <p:nvPr/>
        </p:nvSpPr>
        <p:spPr>
          <a:xfrm>
            <a:off x="7527637" y="219456"/>
            <a:ext cx="51827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08248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Кейсы</a:t>
            </a:r>
            <a:endParaRPr lang="en-US" sz="950" dirty="0"/>
          </a:p>
        </p:txBody>
      </p:sp>
      <p:sp>
        <p:nvSpPr>
          <p:cNvPr id="52" name="go:casemap">
            <a:hlinkClick r:id="rId10" tooltip="Раздел: Кейсы" action="ppaction://hlinksldjump"/>
          </p:cNvPr>
          <p:cNvSpPr/>
          <p:nvPr/>
        </p:nvSpPr>
        <p:spPr>
          <a:xfrm>
            <a:off x="808248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54" name="go:ecosystem">
            <a:hlinkClick r:id="rId11" tooltip="Раздел: Модель" action="ppaction://hlinksldjump"/>
          </p:cNvPr>
          <p:cNvSpPr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56" name="go:path">
            <a:hlinkClick r:id="rId12" tooltip="Раздел: Этапы" action="ppaction://hlinksldjump"/>
          </p:cNvPr>
          <p:cNvSpPr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58" name="go:criteria">
            <a:hlinkClick r:id="rId13" tooltip="Раздел: Защита" action="ppaction://hlinksldjump"/>
          </p:cNvPr>
          <p:cNvSpPr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60" name="go:pilots">
            <a:hlinkClick r:id="rId14" tooltip="Раздел: Пилоты" action="ppaction://hlinksldjump"/>
          </p:cNvPr>
          <p:cNvSpPr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62" name="go:plan90">
            <a:hlinkClick r:id="rId15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Восемь кейсов: что измеряли и что берет МЦЦТ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Нажмите на карточку, чтобы открыть кейс; на каждом слайде кейса есть кнопка возврата к карте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10512"/>
            <a:ext cx="2679192" cy="1993392"/>
          </a:xfrm>
          <a:prstGeom prst="roundRect">
            <a:avLst>
              <a:gd name="adj" fmla="val 4587"/>
            </a:avLst>
          </a:prstGeom>
          <a:solidFill>
            <a:schemeClr val="bg2"/>
          </a:solidFill>
          <a:ln w="9525">
            <a:solidFill>
              <a:schemeClr val="tx2">
                <a:alpha val="20000"/>
              </a:scheme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67512" y="1975104"/>
            <a:ext cx="1394562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667512" y="1975104"/>
            <a:ext cx="13945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ВЕЛИКОБРИТАНИЯ</a:t>
            </a:r>
            <a:endParaRPr lang="en-US" sz="800" dirty="0"/>
          </a:p>
        </p:txBody>
      </p:sp>
      <p:sp>
        <p:nvSpPr>
          <p:cNvPr id="7" name="Text 5"/>
          <p:cNvSpPr txBox="1"/>
          <p:nvPr/>
        </p:nvSpPr>
        <p:spPr>
          <a:xfrm>
            <a:off x="2770632" y="192024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›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26771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Песочница FCA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724912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+15% капитала</a:t>
            </a:r>
            <a:endParaRPr lang="en-US" sz="18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3063240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после допуска (I)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3310128"/>
            <a:ext cx="2350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Учет итогов с первого допуска</a:t>
            </a:r>
            <a:endParaRPr lang="en-US" sz="950" dirty="0"/>
          </a:p>
        </p:txBody>
      </p:sp>
      <p:sp>
        <p:nvSpPr>
          <p:cNvPr id="12" name="go:case_fca">
            <a:hlinkClick r:id="rId1" tooltip="Песочница FCA" action="ppaction://hlinksldjump"/>
          </p:cNvPr>
          <p:cNvSpPr/>
          <p:nvPr/>
        </p:nvSpPr>
        <p:spPr>
          <a:xfrm>
            <a:off x="502920" y="1810512"/>
            <a:ext cx="2679192" cy="199339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" name="Shape 11"/>
          <p:cNvSpPr/>
          <p:nvPr/>
        </p:nvSpPr>
        <p:spPr>
          <a:xfrm>
            <a:off x="3337560" y="1810512"/>
            <a:ext cx="2679192" cy="1993392"/>
          </a:xfrm>
          <a:prstGeom prst="roundRect">
            <a:avLst>
              <a:gd name="adj" fmla="val 4587"/>
            </a:avLst>
          </a:prstGeom>
          <a:solidFill>
            <a:schemeClr val="bg2"/>
          </a:solidFill>
          <a:ln w="9525">
            <a:solidFill>
              <a:schemeClr val="tx2">
                <a:alpha val="20000"/>
              </a:scheme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502152" y="1975104"/>
            <a:ext cx="937971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3502152" y="1975104"/>
            <a:ext cx="93797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СИНГАПУР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5605272" y="192024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›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3502152" y="226771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MAS: Sandbox, Express, Plus</a:t>
            </a:r>
            <a:endParaRPr lang="en-US" sz="1300" dirty="0"/>
          </a:p>
        </p:txBody>
      </p:sp>
      <p:sp>
        <p:nvSpPr>
          <p:cNvPr id="18" name="Text 16"/>
          <p:cNvSpPr txBox="1"/>
          <p:nvPr/>
        </p:nvSpPr>
        <p:spPr>
          <a:xfrm>
            <a:off x="3502152" y="2724912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15 из 19</a:t>
            </a:r>
            <a:endParaRPr lang="en-US" sz="1800" dirty="0"/>
          </a:p>
        </p:txBody>
      </p:sp>
      <p:sp>
        <p:nvSpPr>
          <p:cNvPr id="19" name="Text 17"/>
          <p:cNvSpPr txBox="1"/>
          <p:nvPr/>
        </p:nvSpPr>
        <p:spPr>
          <a:xfrm>
            <a:off x="3502152" y="3063240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вышли с лицензией (R)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3502152" y="3310128"/>
            <a:ext cx="2350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Без грантов; Экспресс — после когорты 1</a:t>
            </a:r>
            <a:endParaRPr lang="en-US" sz="950" dirty="0"/>
          </a:p>
        </p:txBody>
      </p:sp>
      <p:sp>
        <p:nvSpPr>
          <p:cNvPr id="21" name="go:case_mas">
            <a:hlinkClick r:id="rId2" tooltip="MAS: Sandbox, Express, Plus" action="ppaction://hlinksldjump"/>
          </p:cNvPr>
          <p:cNvSpPr/>
          <p:nvPr/>
        </p:nvSpPr>
        <p:spPr>
          <a:xfrm>
            <a:off x="3337560" y="1810512"/>
            <a:ext cx="2679192" cy="199339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Shape 20"/>
          <p:cNvSpPr/>
          <p:nvPr/>
        </p:nvSpPr>
        <p:spPr>
          <a:xfrm>
            <a:off x="6172200" y="1810512"/>
            <a:ext cx="2679192" cy="1993392"/>
          </a:xfrm>
          <a:prstGeom prst="roundRect">
            <a:avLst>
              <a:gd name="adj" fmla="val 4587"/>
            </a:avLst>
          </a:prstGeom>
          <a:solidFill>
            <a:schemeClr val="bg2"/>
          </a:solidFill>
          <a:ln w="9525">
            <a:solidFill>
              <a:schemeClr val="tx2">
                <a:alpha val="20000"/>
              </a:scheme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6336792" y="1975104"/>
            <a:ext cx="1394562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336792" y="1975104"/>
            <a:ext cx="13945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ВЕЛИКОБРИТАНИЯ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8439912" y="192024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›</a:t>
            </a:r>
            <a:endParaRPr lang="en-US" sz="1800" dirty="0"/>
          </a:p>
        </p:txBody>
      </p:sp>
      <p:sp>
        <p:nvSpPr>
          <p:cNvPr id="26" name="Text 24"/>
          <p:cNvSpPr txBox="1"/>
          <p:nvPr/>
        </p:nvSpPr>
        <p:spPr>
          <a:xfrm>
            <a:off x="6336792" y="226771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FCA Digital Sandbox</a:t>
            </a:r>
            <a:endParaRPr lang="en-US" sz="1300" dirty="0"/>
          </a:p>
        </p:txBody>
      </p:sp>
      <p:sp>
        <p:nvSpPr>
          <p:cNvPr id="27" name="Text 25"/>
          <p:cNvSpPr txBox="1"/>
          <p:nvPr/>
        </p:nvSpPr>
        <p:spPr>
          <a:xfrm>
            <a:off x="6336792" y="2724912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84% (P)</a:t>
            </a:r>
            <a:endParaRPr lang="en-US" sz="1800" dirty="0"/>
          </a:p>
        </p:txBody>
      </p:sp>
      <p:sp>
        <p:nvSpPr>
          <p:cNvPr id="28" name="Text 26"/>
          <p:cNvSpPr txBox="1"/>
          <p:nvPr/>
        </p:nvSpPr>
        <p:spPr>
          <a:xfrm>
            <a:off x="6336792" y="3063240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пилот ускорил разработку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6336792" y="3310128"/>
            <a:ext cx="2350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Тестовая среда и синтетические данные — М6</a:t>
            </a:r>
            <a:endParaRPr lang="en-US" sz="950" dirty="0"/>
          </a:p>
        </p:txBody>
      </p:sp>
      <p:sp>
        <p:nvSpPr>
          <p:cNvPr id="30" name="go:case_digital">
            <a:hlinkClick r:id="rId3" tooltip="FCA Digital Sandbox" action="ppaction://hlinksldjump"/>
          </p:cNvPr>
          <p:cNvSpPr/>
          <p:nvPr/>
        </p:nvSpPr>
        <p:spPr>
          <a:xfrm>
            <a:off x="6172200" y="1810512"/>
            <a:ext cx="2679192" cy="199339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9006840" y="1810512"/>
            <a:ext cx="2679192" cy="1993392"/>
          </a:xfrm>
          <a:prstGeom prst="roundRect">
            <a:avLst>
              <a:gd name="adj" fmla="val 4587"/>
            </a:avLst>
          </a:prstGeom>
          <a:solidFill>
            <a:schemeClr val="bg2"/>
          </a:solidFill>
          <a:ln w="9525">
            <a:solidFill>
              <a:schemeClr val="tx2">
                <a:alpha val="20000"/>
              </a:scheme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9171432" y="1975104"/>
            <a:ext cx="1394562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9171432" y="1975104"/>
            <a:ext cx="139456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ВЕЛИКОБРИТАНИЯ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11274552" y="1920240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›</a:t>
            </a:r>
            <a:endParaRPr lang="en-US" sz="1800" dirty="0"/>
          </a:p>
        </p:txBody>
      </p:sp>
      <p:sp>
        <p:nvSpPr>
          <p:cNvPr id="35" name="Text 33"/>
          <p:cNvSpPr txBox="1"/>
          <p:nvPr/>
        </p:nvSpPr>
        <p:spPr>
          <a:xfrm>
            <a:off x="9171432" y="2267712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Песочница ICO</a:t>
            </a:r>
            <a:endParaRPr lang="en-US" sz="1300" dirty="0"/>
          </a:p>
        </p:txBody>
      </p:sp>
      <p:sp>
        <p:nvSpPr>
          <p:cNvPr id="36" name="Text 34"/>
          <p:cNvSpPr txBox="1"/>
          <p:nvPr/>
        </p:nvSpPr>
        <p:spPr>
          <a:xfrm>
            <a:off x="9171432" y="2724912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10 из 64</a:t>
            </a:r>
            <a:endParaRPr lang="en-US" sz="1800" dirty="0"/>
          </a:p>
        </p:txBody>
      </p:sp>
      <p:sp>
        <p:nvSpPr>
          <p:cNvPr id="37" name="Text 35"/>
          <p:cNvSpPr txBox="1"/>
          <p:nvPr/>
        </p:nvSpPr>
        <p:spPr>
          <a:xfrm>
            <a:off x="9171432" y="3063240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отобрано на бета-этап (R)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9171432" y="3310128"/>
            <a:ext cx="2350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Публичная библиотека позиций</a:t>
            </a:r>
            <a:endParaRPr lang="en-US" sz="950" dirty="0"/>
          </a:p>
        </p:txBody>
      </p:sp>
      <p:sp>
        <p:nvSpPr>
          <p:cNvPr id="39" name="go:case_ico">
            <a:hlinkClick r:id="rId4" tooltip="Песочница ICO" action="ppaction://hlinksldjump"/>
          </p:cNvPr>
          <p:cNvSpPr/>
          <p:nvPr/>
        </p:nvSpPr>
        <p:spPr>
          <a:xfrm>
            <a:off x="9006840" y="1810512"/>
            <a:ext cx="2679192" cy="199339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0" name="Shape 38"/>
          <p:cNvSpPr/>
          <p:nvPr/>
        </p:nvSpPr>
        <p:spPr>
          <a:xfrm>
            <a:off x="502920" y="3931920"/>
            <a:ext cx="2679192" cy="1993392"/>
          </a:xfrm>
          <a:prstGeom prst="roundRect">
            <a:avLst>
              <a:gd name="adj" fmla="val 4587"/>
            </a:avLst>
          </a:prstGeom>
          <a:solidFill>
            <a:schemeClr val="bg2"/>
          </a:solidFill>
          <a:ln w="9525">
            <a:solidFill>
              <a:schemeClr val="tx2">
                <a:alpha val="20000"/>
              </a:scheme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667512" y="4096512"/>
            <a:ext cx="557479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42" name="Text 40"/>
          <p:cNvSpPr txBox="1"/>
          <p:nvPr/>
        </p:nvSpPr>
        <p:spPr>
          <a:xfrm>
            <a:off x="667512" y="4096512"/>
            <a:ext cx="557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ОАЭ</a:t>
            </a:r>
            <a:endParaRPr lang="en-US" sz="800" dirty="0"/>
          </a:p>
        </p:txBody>
      </p:sp>
      <p:sp>
        <p:nvSpPr>
          <p:cNvPr id="43" name="Text 41"/>
          <p:cNvSpPr txBox="1"/>
          <p:nvPr/>
        </p:nvSpPr>
        <p:spPr>
          <a:xfrm>
            <a:off x="2770632" y="404164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›</a:t>
            </a:r>
            <a:endParaRPr lang="en-US" sz="1800" dirty="0"/>
          </a:p>
        </p:txBody>
      </p:sp>
      <p:sp>
        <p:nvSpPr>
          <p:cNvPr id="44" name="Text 42"/>
          <p:cNvSpPr txBox="1"/>
          <p:nvPr/>
        </p:nvSpPr>
        <p:spPr>
          <a:xfrm>
            <a:off x="667512" y="43891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ADGM RegLab и DFSA ITL</a:t>
            </a:r>
            <a:endParaRPr lang="en-US" sz="1300" dirty="0"/>
          </a:p>
        </p:txBody>
      </p:sp>
      <p:sp>
        <p:nvSpPr>
          <p:cNvPr id="45" name="Text 43"/>
          <p:cNvSpPr txBox="1"/>
          <p:nvPr/>
        </p:nvSpPr>
        <p:spPr>
          <a:xfrm>
            <a:off x="667512" y="4846320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3 из 51</a:t>
            </a:r>
            <a:endParaRPr lang="en-US" sz="1800" dirty="0"/>
          </a:p>
        </p:txBody>
      </p:sp>
      <p:sp>
        <p:nvSpPr>
          <p:cNvPr id="46" name="Text 44"/>
          <p:cNvSpPr txBox="1"/>
          <p:nvPr/>
        </p:nvSpPr>
        <p:spPr>
          <a:xfrm>
            <a:off x="667512" y="5184648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вышли из песочницы DFSA (R)</a:t>
            </a:r>
            <a:endParaRPr lang="en-US" sz="900" dirty="0"/>
          </a:p>
        </p:txBody>
      </p:sp>
      <p:sp>
        <p:nvSpPr>
          <p:cNvPr id="47" name="Text 45"/>
          <p:cNvSpPr txBox="1"/>
          <p:nvPr/>
        </p:nvSpPr>
        <p:spPr>
          <a:xfrm>
            <a:off x="667512" y="5431536"/>
            <a:ext cx="2350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Доказательства для выхода — при допуске</a:t>
            </a:r>
            <a:endParaRPr lang="en-US" sz="950" dirty="0"/>
          </a:p>
        </p:txBody>
      </p:sp>
      <p:sp>
        <p:nvSpPr>
          <p:cNvPr id="48" name="go:case_gulf">
            <a:hlinkClick r:id="rId5" tooltip="ADGM RegLab и DFSA ITL" action="ppaction://hlinksldjump"/>
          </p:cNvPr>
          <p:cNvSpPr/>
          <p:nvPr/>
        </p:nvSpPr>
        <p:spPr>
          <a:xfrm>
            <a:off x="502920" y="3931920"/>
            <a:ext cx="2679192" cy="199339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9" name="Shape 47"/>
          <p:cNvSpPr/>
          <p:nvPr/>
        </p:nvSpPr>
        <p:spPr>
          <a:xfrm>
            <a:off x="3337560" y="3931920"/>
            <a:ext cx="2679192" cy="1993392"/>
          </a:xfrm>
          <a:prstGeom prst="roundRect">
            <a:avLst>
              <a:gd name="adj" fmla="val 4587"/>
            </a:avLst>
          </a:prstGeom>
          <a:solidFill>
            <a:schemeClr val="bg2"/>
          </a:solidFill>
          <a:ln w="9525">
            <a:solidFill>
              <a:schemeClr val="tx2">
                <a:alpha val="20000"/>
              </a:scheme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502152" y="4096512"/>
            <a:ext cx="557479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51" name="Text 49"/>
          <p:cNvSpPr txBox="1"/>
          <p:nvPr/>
        </p:nvSpPr>
        <p:spPr>
          <a:xfrm>
            <a:off x="3502152" y="4096512"/>
            <a:ext cx="55747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ОАЭ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5605272" y="404164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›</a:t>
            </a:r>
            <a:endParaRPr lang="en-US" sz="1800" dirty="0"/>
          </a:p>
        </p:txBody>
      </p:sp>
      <p:sp>
        <p:nvSpPr>
          <p:cNvPr id="53" name="Text 51"/>
          <p:cNvSpPr txBox="1"/>
          <p:nvPr/>
        </p:nvSpPr>
        <p:spPr>
          <a:xfrm>
            <a:off x="3502152" y="43891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TradeTech (WEF и ОАЭ)</a:t>
            </a:r>
            <a:endParaRPr lang="en-US" sz="1300" dirty="0"/>
          </a:p>
        </p:txBody>
      </p:sp>
      <p:sp>
        <p:nvSpPr>
          <p:cNvPr id="54" name="Text 52"/>
          <p:cNvSpPr txBox="1"/>
          <p:nvPr/>
        </p:nvSpPr>
        <p:spPr>
          <a:xfrm>
            <a:off x="3502152" y="4846320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8 стартапов</a:t>
            </a:r>
            <a:endParaRPr lang="en-US" sz="1800" dirty="0"/>
          </a:p>
        </p:txBody>
      </p:sp>
      <p:sp>
        <p:nvSpPr>
          <p:cNvPr id="55" name="Text 53"/>
          <p:cNvSpPr txBox="1"/>
          <p:nvPr/>
        </p:nvSpPr>
        <p:spPr>
          <a:xfrm>
            <a:off x="3502152" y="5184648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по данным организатора (P)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3502152" y="5431536"/>
            <a:ext cx="2350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Один ведущий орган на тест</a:t>
            </a:r>
            <a:endParaRPr lang="en-US" sz="950" dirty="0"/>
          </a:p>
        </p:txBody>
      </p:sp>
      <p:sp>
        <p:nvSpPr>
          <p:cNvPr id="57" name="go:case_tradetech">
            <a:hlinkClick r:id="rId6" tooltip="TradeTech (WEF и ОАЭ)" action="ppaction://hlinksldjump"/>
          </p:cNvPr>
          <p:cNvSpPr/>
          <p:nvPr/>
        </p:nvSpPr>
        <p:spPr>
          <a:xfrm>
            <a:off x="3337560" y="3931920"/>
            <a:ext cx="2679192" cy="199339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6172200" y="3931920"/>
            <a:ext cx="2679192" cy="1993392"/>
          </a:xfrm>
          <a:prstGeom prst="roundRect">
            <a:avLst>
              <a:gd name="adj" fmla="val 4587"/>
            </a:avLst>
          </a:prstGeom>
          <a:solidFill>
            <a:schemeClr val="bg2"/>
          </a:solidFill>
          <a:ln w="9525">
            <a:solidFill>
              <a:schemeClr val="tx2">
                <a:alpha val="20000"/>
              </a:scheme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6336792" y="4096512"/>
            <a:ext cx="861873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336792" y="4096512"/>
            <a:ext cx="861873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ГОНКОНГ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8439912" y="404164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›</a:t>
            </a:r>
            <a:endParaRPr lang="en-US" sz="1800" dirty="0"/>
          </a:p>
        </p:txBody>
      </p:sp>
      <p:sp>
        <p:nvSpPr>
          <p:cNvPr id="62" name="Text 60"/>
          <p:cNvSpPr txBox="1"/>
          <p:nvPr/>
        </p:nvSpPr>
        <p:spPr>
          <a:xfrm>
            <a:off x="6336792" y="43891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HKMA GenAI Sandbox</a:t>
            </a:r>
            <a:endParaRPr lang="en-US" sz="1300" dirty="0"/>
          </a:p>
        </p:txBody>
      </p:sp>
      <p:sp>
        <p:nvSpPr>
          <p:cNvPr id="63" name="Text 61"/>
          <p:cNvSpPr txBox="1"/>
          <p:nvPr/>
        </p:nvSpPr>
        <p:spPr>
          <a:xfrm>
            <a:off x="6336792" y="4846320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15 → 36</a:t>
            </a:r>
            <a:endParaRPr lang="en-US" sz="1800" dirty="0"/>
          </a:p>
        </p:txBody>
      </p:sp>
      <p:sp>
        <p:nvSpPr>
          <p:cNvPr id="64" name="Text 62"/>
          <p:cNvSpPr txBox="1"/>
          <p:nvPr/>
        </p:nvSpPr>
        <p:spPr>
          <a:xfrm>
            <a:off x="6336792" y="5184648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сценариев ИИ за два года (R)</a:t>
            </a:r>
            <a:endParaRPr lang="en-US" sz="900" dirty="0"/>
          </a:p>
        </p:txBody>
      </p:sp>
      <p:sp>
        <p:nvSpPr>
          <p:cNvPr id="65" name="Text 63"/>
          <p:cNvSpPr txBox="1"/>
          <p:nvPr/>
        </p:nvSpPr>
        <p:spPr>
          <a:xfrm>
            <a:off x="6336792" y="5431536"/>
            <a:ext cx="2350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Одна тематическая когорта ИИ и данных</a:t>
            </a:r>
            <a:endParaRPr lang="en-US" sz="950" dirty="0"/>
          </a:p>
        </p:txBody>
      </p:sp>
      <p:sp>
        <p:nvSpPr>
          <p:cNvPr id="66" name="go:case_hkma">
            <a:hlinkClick r:id="rId7" tooltip="HKMA GenAI Sandbox" action="ppaction://hlinksldjump"/>
          </p:cNvPr>
          <p:cNvSpPr/>
          <p:nvPr/>
        </p:nvSpPr>
        <p:spPr>
          <a:xfrm>
            <a:off x="6172200" y="3931920"/>
            <a:ext cx="2679192" cy="199339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7" name="Shape 65"/>
          <p:cNvSpPr/>
          <p:nvPr/>
        </p:nvSpPr>
        <p:spPr>
          <a:xfrm>
            <a:off x="9006840" y="3931920"/>
            <a:ext cx="2679192" cy="1993392"/>
          </a:xfrm>
          <a:prstGeom prst="roundRect">
            <a:avLst>
              <a:gd name="adj" fmla="val 4587"/>
            </a:avLst>
          </a:prstGeom>
          <a:solidFill>
            <a:schemeClr val="bg2"/>
          </a:solidFill>
          <a:ln w="9525">
            <a:solidFill>
              <a:schemeClr val="tx2">
                <a:alpha val="20000"/>
              </a:scheme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9171432" y="4096512"/>
            <a:ext cx="481381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69" name="Text 67"/>
          <p:cNvSpPr txBox="1"/>
          <p:nvPr/>
        </p:nvSpPr>
        <p:spPr>
          <a:xfrm>
            <a:off x="9171432" y="4096512"/>
            <a:ext cx="481381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ЕС</a:t>
            </a:r>
            <a:endParaRPr lang="en-US" sz="800" dirty="0"/>
          </a:p>
        </p:txBody>
      </p:sp>
      <p:sp>
        <p:nvSpPr>
          <p:cNvPr id="70" name="Text 68"/>
          <p:cNvSpPr txBox="1"/>
          <p:nvPr/>
        </p:nvSpPr>
        <p:spPr>
          <a:xfrm>
            <a:off x="11274552" y="4041648"/>
            <a:ext cx="2743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›</a:t>
            </a:r>
            <a:endParaRPr lang="en-US" sz="1800" dirty="0"/>
          </a:p>
        </p:txBody>
      </p:sp>
      <p:sp>
        <p:nvSpPr>
          <p:cNvPr id="71" name="Text 69"/>
          <p:cNvSpPr txBox="1"/>
          <p:nvPr/>
        </p:nvSpPr>
        <p:spPr>
          <a:xfrm>
            <a:off x="9171432" y="4389120"/>
            <a:ext cx="23500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Песочницы ЕС</a:t>
            </a:r>
            <a:endParaRPr lang="en-US" sz="1300" dirty="0"/>
          </a:p>
        </p:txBody>
      </p:sp>
      <p:sp>
        <p:nvSpPr>
          <p:cNvPr id="72" name="Text 70"/>
          <p:cNvSpPr txBox="1"/>
          <p:nvPr/>
        </p:nvSpPr>
        <p:spPr>
          <a:xfrm>
            <a:off x="9171432" y="4846320"/>
            <a:ext cx="2350008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chemeClr val="accent1"/>
                </a:solidFill>
              </a:rPr>
              <a:t>60</a:t>
            </a:r>
            <a:endParaRPr lang="en-US" sz="1800" dirty="0"/>
          </a:p>
        </p:txBody>
      </p:sp>
      <p:sp>
        <p:nvSpPr>
          <p:cNvPr id="73" name="Text 71"/>
          <p:cNvSpPr txBox="1"/>
          <p:nvPr/>
        </p:nvSpPr>
        <p:spPr>
          <a:xfrm>
            <a:off x="9171432" y="5184648"/>
            <a:ext cx="23500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сценариев в трех когортах (R)</a:t>
            </a:r>
            <a:endParaRPr lang="en-US" sz="900" dirty="0"/>
          </a:p>
        </p:txBody>
      </p:sp>
      <p:sp>
        <p:nvSpPr>
          <p:cNvPr id="74" name="Text 72"/>
          <p:cNvSpPr txBox="1"/>
          <p:nvPr/>
        </p:nvSpPr>
        <p:spPr>
          <a:xfrm>
            <a:off x="9171432" y="5431536"/>
            <a:ext cx="2350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accent5"/>
                </a:solidFill>
              </a:rPr>
              <a:t>Отчет о выводах по каждой когорте</a:t>
            </a:r>
            <a:endParaRPr lang="en-US" sz="950" dirty="0"/>
          </a:p>
        </p:txBody>
      </p:sp>
      <p:sp>
        <p:nvSpPr>
          <p:cNvPr id="75" name="go:case_eu">
            <a:hlinkClick r:id="rId8" tooltip="Песочницы ЕС" action="ppaction://hlinksldjump"/>
          </p:cNvPr>
          <p:cNvSpPr/>
          <p:nvPr/>
        </p:nvSpPr>
        <p:spPr>
          <a:xfrm>
            <a:off x="9006840" y="3931920"/>
            <a:ext cx="2679192" cy="199339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502920" y="6089904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Также в обзоре: Ofgem, SAMA, ASIC, Япония, Корея, GFIN — см. «Неудачи и ответные меры»  ›</a:t>
            </a:r>
            <a:endParaRPr lang="en-US" sz="1000" dirty="0"/>
          </a:p>
        </p:txBody>
      </p:sp>
      <p:sp>
        <p:nvSpPr>
          <p:cNvPr id="77" name="go:failures">
            <a:hlinkClick r:id="rId9" tooltip="Неудачи и ответные меры" action="ppaction://hlinksldjump"/>
          </p:cNvPr>
          <p:cNvSpPr/>
          <p:nvPr/>
        </p:nvSpPr>
        <p:spPr>
          <a:xfrm>
            <a:off x="502920" y="6089904"/>
            <a:ext cx="7772400" cy="2560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6290770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79" name="go:nav">
            <a:hlinkClick r:id="rId10" tooltip="Раздел: Меню" action="ppaction://hlinksldjump"/>
          </p:cNvPr>
          <p:cNvSpPr/>
          <p:nvPr/>
        </p:nvSpPr>
        <p:spPr>
          <a:xfrm>
            <a:off x="6290770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6821503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81" name="go:key5">
            <a:hlinkClick r:id="rId11" tooltip="Раздел: Главное" action="ppaction://hlinksldjump"/>
          </p:cNvPr>
          <p:cNvSpPr/>
          <p:nvPr/>
        </p:nvSpPr>
        <p:spPr>
          <a:xfrm>
            <a:off x="6821503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7516320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83" name="go:numbers">
            <a:hlinkClick r:id="rId12" tooltip="Раздел: Мир" action="ppaction://hlinksldjump"/>
          </p:cNvPr>
          <p:cNvSpPr/>
          <p:nvPr/>
        </p:nvSpPr>
        <p:spPr>
          <a:xfrm>
            <a:off x="7516320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4" name="Shape 82"/>
          <p:cNvSpPr/>
          <p:nvPr/>
        </p:nvSpPr>
        <p:spPr>
          <a:xfrm>
            <a:off x="7950533" y="219456"/>
            <a:ext cx="691258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85" name="Text 83"/>
          <p:cNvSpPr txBox="1"/>
          <p:nvPr/>
        </p:nvSpPr>
        <p:spPr>
          <a:xfrm>
            <a:off x="7950533" y="219456"/>
            <a:ext cx="691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Кейсы</a:t>
            </a:r>
            <a:endParaRPr lang="en-US" sz="950" dirty="0"/>
          </a:p>
        </p:txBody>
      </p:sp>
      <p:sp>
        <p:nvSpPr>
          <p:cNvPr id="86" name="go:casemap">
            <a:hlinkClick r:id="rId13" tooltip="Раздел: Кейсы" action="ppaction://hlinksldjump"/>
          </p:cNvPr>
          <p:cNvSpPr/>
          <p:nvPr/>
        </p:nvSpPr>
        <p:spPr>
          <a:xfrm>
            <a:off x="7950533" y="219456"/>
            <a:ext cx="69125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88" name="go:ecosystem">
            <a:hlinkClick r:id="rId14" tooltip="Раздел: Модель" action="ppaction://hlinksldjump"/>
          </p:cNvPr>
          <p:cNvSpPr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9" name="Text 87"/>
          <p:cNvSpPr txBox="1"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90" name="go:path">
            <a:hlinkClick r:id="rId15" tooltip="Раздел: Этапы" action="ppaction://hlinksldjump"/>
          </p:cNvPr>
          <p:cNvSpPr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92" name="go:criteria">
            <a:hlinkClick r:id="rId16" tooltip="Раздел: Защита" action="ppaction://hlinksldjump"/>
          </p:cNvPr>
          <p:cNvSpPr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94" name="go:pilots">
            <a:hlinkClick r:id="rId17" tooltip="Раздел: Пилоты" action="ppaction://hlinksldjump"/>
          </p:cNvPr>
          <p:cNvSpPr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96" name="go:plan90">
            <a:hlinkClick r:id="rId18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FCA (Великобритания): допуск — сигнал для инвесторов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Великобритания · Управление по финансовому регулированию и надзору · запуск 2016 · действует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10512"/>
            <a:ext cx="3520440" cy="1417320"/>
          </a:xfrm>
          <a:prstGeom prst="roundRect">
            <a:avLst>
              <a:gd name="adj" fmla="val 6452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8366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+15%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к привлеченному капиталу после допуска; вероятность привлечения — +50% (BIS, данные 2014–2019, I)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3364992"/>
            <a:ext cx="352044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34930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tx2"/>
                </a:solidFill>
              </a:rPr>
              <a:t>ЧТО ВВЕЛИ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767328"/>
            <a:ext cx="31546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Тест в реальных условиях с реальными потребителями под индивидуальными ограничениями и мерами защиты. Инструменты: ограниченное разрешение, индивидуальные разъяснения, изменение только правил FCA (не национального закона), письма о неприменении мер принуждения — они не ограничивают ответственность перед потребителями. С авг. 2021 г. прием заявок постоянный; с конца 2025 г. — тематические когорты.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181051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ОПУБЛИКОВАННЫЕ РЕЗУЛЬТАТЫ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103120"/>
            <a:ext cx="3886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Когорты 1–2 (по окт. 2017): 146 заявок, принято 50, тест провела 41 компания (R)</a:t>
            </a:r>
            <a:endParaRPr lang="en-US" sz="1100" dirty="0"/>
          </a:p>
          <a:p>
            <a:pPr marL="139700" indent="-1397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Когорта 1: около 90% завершивших тест продолжили подготовку к запуску; не менее 40% получили инвестиции (R)</a:t>
            </a:r>
            <a:endParaRPr lang="en-US" sz="1100" dirty="0"/>
          </a:p>
          <a:p>
            <a:pPr marL="139700" indent="-1397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2016 — дек. 2023: 629 заявок, принято 172 (27%, D); в 2025 г. принято 13% заявок (R)</a:t>
            </a:r>
            <a:endParaRPr lang="en-US" sz="1100" dirty="0"/>
          </a:p>
          <a:p>
            <a:pPr marL="139700" indent="-1397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Когорта по стейблкоинам: отобрано 4 из 20 заявок (февр. 2026, 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5248656"/>
            <a:ext cx="3886200" cy="859536"/>
          </a:xfrm>
          <a:prstGeom prst="roundRect">
            <a:avLst>
              <a:gd name="adj" fmla="val 8511"/>
            </a:avLst>
          </a:prstGeom>
          <a:solidFill>
            <a:schemeClr val="accent4">
              <a:alpha val="8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43400" y="5303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chemeClr val="accent4"/>
                </a:solidFill>
              </a:rPr>
              <a:t>НЕ РЕЗУЛЬТАТЫ: ЦЕЛИ И ПРОБЕЛЫ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5513832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Сроки 2–3 недели (критерии) и 8–12 недель (полная оценка) — ориентиры (T); измеренных сроков нет. Отбор неслучаен — это связь, а не доказанная причина.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75320" y="1810512"/>
            <a:ext cx="3410712" cy="1627632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19202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ВЫВОД ДЛЯ МЦЦТ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176272"/>
            <a:ext cx="30632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Место в песочнице ценно как знак строгой проверки. Сила сигнала МЦЦТ определяется качеством отбора и опубликованными обоснованиями решений.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75320" y="3566160"/>
            <a:ext cx="3410712" cy="2542032"/>
          </a:xfrm>
          <a:prstGeom prst="roundRect">
            <a:avLst>
              <a:gd name="adj" fmla="val 3597"/>
            </a:avLst>
          </a:prstGeom>
          <a:solidFill>
            <a:schemeClr val="accent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58200" y="367588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6"/>
                </a:solidFill>
              </a:rPr>
              <a:t>ПРОЕКТНОЕ РЕШЕНИЕ ДЛЯ МЦЦТ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393192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В каждом соглашении о тестировании — отслеживание итогов (финансирование, лицензия, выживаемость): при допуске, при выходе, через 12 и 24 месяца. Первые данные — около М18. Изменений законодательства не нужно: достаточно договорного условия.</a:t>
            </a:r>
            <a:endParaRPr lang="en-US" sz="1050" dirty="0"/>
          </a:p>
        </p:txBody>
      </p:sp>
      <p:sp>
        <p:nvSpPr>
          <p:cNvPr id="21" name="source"/>
          <p:cNvSpPr txBox="1"/>
          <p:nvPr/>
        </p:nvSpPr>
        <p:spPr>
          <a:xfrm>
            <a:off x="502920" y="6400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Источники: [S1] FCA, 2017; [S2] BIS WP 901; [S3] FCA FOI, май 2026; [S39]; [S40]; [S41]. Цифры не сверены с полными текстами первоисточников.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647242" y="6409944"/>
            <a:ext cx="1188398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47242" y="6409944"/>
            <a:ext cx="1188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‹  Карта кейсов</a:t>
            </a:r>
            <a:endParaRPr lang="en-US" sz="900" dirty="0"/>
          </a:p>
        </p:txBody>
      </p:sp>
      <p:sp>
        <p:nvSpPr>
          <p:cNvPr id="24" name="go:casemap">
            <a:hlinkClick r:id="rId1" tooltip="‹  Карта кейсов" action="ppaction://hlinksldjump"/>
          </p:cNvPr>
          <p:cNvSpPr/>
          <p:nvPr/>
        </p:nvSpPr>
        <p:spPr>
          <a:xfrm>
            <a:off x="9647242" y="6409944"/>
            <a:ext cx="1188398" cy="2560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90770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26" name="go:nav">
            <a:hlinkClick r:id="rId2" tooltip="Раздел: Меню" action="ppaction://hlinksldjump"/>
          </p:cNvPr>
          <p:cNvSpPr/>
          <p:nvPr/>
        </p:nvSpPr>
        <p:spPr>
          <a:xfrm>
            <a:off x="6290770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21503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28" name="go:key5">
            <a:hlinkClick r:id="rId3" tooltip="Раздел: Главное" action="ppaction://hlinksldjump"/>
          </p:cNvPr>
          <p:cNvSpPr/>
          <p:nvPr/>
        </p:nvSpPr>
        <p:spPr>
          <a:xfrm>
            <a:off x="6821503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516320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30" name="go:numbers">
            <a:hlinkClick r:id="rId4" tooltip="Раздел: Мир" action="ppaction://hlinksldjump"/>
          </p:cNvPr>
          <p:cNvSpPr/>
          <p:nvPr/>
        </p:nvSpPr>
        <p:spPr>
          <a:xfrm>
            <a:off x="7516320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950533" y="219456"/>
            <a:ext cx="691258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50533" y="219456"/>
            <a:ext cx="691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Кейсы</a:t>
            </a:r>
            <a:endParaRPr lang="en-US" sz="950" dirty="0"/>
          </a:p>
        </p:txBody>
      </p:sp>
      <p:sp>
        <p:nvSpPr>
          <p:cNvPr id="33" name="go:casemap">
            <a:hlinkClick r:id="rId5" tooltip="Раздел: Кейсы" action="ppaction://hlinksldjump"/>
          </p:cNvPr>
          <p:cNvSpPr/>
          <p:nvPr/>
        </p:nvSpPr>
        <p:spPr>
          <a:xfrm>
            <a:off x="7950533" y="219456"/>
            <a:ext cx="69125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35" name="go:ecosystem">
            <a:hlinkClick r:id="rId6" tooltip="Раздел: Модель" action="ppaction://hlinksldjump"/>
          </p:cNvPr>
          <p:cNvSpPr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37" name="go:path">
            <a:hlinkClick r:id="rId7" tooltip="Раздел: Этапы" action="ppaction://hlinksldjump"/>
          </p:cNvPr>
          <p:cNvSpPr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39" name="go:criteria">
            <a:hlinkClick r:id="rId8" tooltip="Раздел: Защита" action="ppaction://hlinksldjump"/>
          </p:cNvPr>
          <p:cNvSpPr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41" name="go:pilots">
            <a:hlinkClick r:id="rId9" tooltip="Раздел: Пилоты" action="ppaction://hlinksldjump"/>
          </p:cNvPr>
          <p:cNvSpPr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43" name="go:plan90">
            <a:hlinkClick r:id="rId10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MAS (Сингапур): лицензии есть, гранты не сработали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Сингапур · Валютное управление Сингапура · три трека, 2016–2022 · действует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10512"/>
            <a:ext cx="3520440" cy="1417320"/>
          </a:xfrm>
          <a:prstGeom prst="roundRect">
            <a:avLst>
              <a:gd name="adj" fmla="val 6452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8366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15 из 19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принятых компаний вышли из песочницы с лицензией; одна позднее прекратила работу (на конец сент. 2025, R)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3364992"/>
            <a:ext cx="352044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34930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tx2"/>
                </a:solidFill>
              </a:rPr>
              <a:t>ЧТО ВВЕЛИ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767328"/>
            <a:ext cx="31546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FinTech Regulatory Sandbox (2016) — для решений, новых для Сингапура. Sandbox Express (2019): заранее заданные условия для низкорисковых видов деятельности, тест до 9 месяцев, целевой ответ — 21 день. Sandbox Plus (2022): для первопроходцев — грант 50% признаваемых расходов, не более S$500 000.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181051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ОПУБЛИКОВАННЫЕ РЕЗУЛЬТАТЫ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103120"/>
            <a:ext cx="3886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С 2016 г. принято 19 компаний, 15 вышли с лицензией; охват по трекам неясен (R)</a:t>
            </a:r>
            <a:endParaRPr lang="en-US" sz="1100" dirty="0"/>
          </a:p>
          <a:p>
            <a:pPr marL="139700" indent="-1397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Медианный срок рассмотрения — около 3 месяцев с учетом времени заявителя (R)</a:t>
            </a:r>
            <a:endParaRPr lang="en-US" sz="1100" dirty="0"/>
          </a:p>
          <a:p>
            <a:pPr marL="139700" indent="-1397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Части заявителей отказано: действующие правила уже допускали их модели (R)</a:t>
            </a:r>
            <a:endParaRPr lang="en-US" sz="1100" dirty="0"/>
          </a:p>
          <a:p>
            <a:pPr marL="139700" indent="-1397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Sandbox Plus: одобрений нет; большинство заявок — технологии, уже применяемые в Сингапуре (R)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5248656"/>
            <a:ext cx="3886200" cy="859536"/>
          </a:xfrm>
          <a:prstGeom prst="roundRect">
            <a:avLst>
              <a:gd name="adj" fmla="val 8511"/>
            </a:avLst>
          </a:prstGeom>
          <a:solidFill>
            <a:schemeClr val="accent4">
              <a:alpha val="8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43400" y="5303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chemeClr val="accent4"/>
                </a:solidFill>
              </a:rPr>
              <a:t>НЕ РЕЗУЛЬТАТЫ: ЦЕЛИ И ПРОБЕЛЫ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5513832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Sandbox Express: 21 день — цель (T); данных о соблюдении срока и использовании трека не найдено.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75320" y="1810512"/>
            <a:ext cx="3410712" cy="1627632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19202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ВЫВОД ДЛЯ МЦЦТ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176272"/>
            <a:ext cx="30632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Заимствовать заранее определенные условия Express в узком объеме; не вводить грантовый трек без подтвержденного спроса; публиковать достигнутые результаты, а не только цели.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75320" y="3566160"/>
            <a:ext cx="3410712" cy="2542032"/>
          </a:xfrm>
          <a:prstGeom prst="roundRect">
            <a:avLst>
              <a:gd name="adj" fmla="val 3597"/>
            </a:avLst>
          </a:prstGeom>
          <a:solidFill>
            <a:schemeClr val="accent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58200" y="367588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6"/>
                </a:solidFill>
              </a:rPr>
              <a:t>ПРОЕКТНОЕ РЕШЕНИЕ ДЛЯ МЦЦТ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3931920"/>
            <a:ext cx="306324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По данным мониторинга когорты 1 (М9–М12) подготовить две низкорисковые категории со стандартными условиями; пилот Экспресс-трека — примерно с М13–М14. Решение — в течение 21 календарного дня после полной заявки (плановое допущение), ежеквартальный отчет о соблюдении.</a:t>
            </a:r>
            <a:endParaRPr lang="en-US" sz="1050" dirty="0"/>
          </a:p>
        </p:txBody>
      </p:sp>
      <p:sp>
        <p:nvSpPr>
          <p:cNvPr id="21" name="source"/>
          <p:cNvSpPr txBox="1"/>
          <p:nvPr/>
        </p:nvSpPr>
        <p:spPr>
          <a:xfrm>
            <a:off x="502920" y="6400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Источники: [S7] MAS, ответ парламенту 14.10.2025; [S8] Sandbox Express; [S9] Sandbox Plus. Цифры не сверены с полными текстами первоисточников.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647242" y="6409944"/>
            <a:ext cx="1188398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9647242" y="6409944"/>
            <a:ext cx="1188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‹  Карта кейсов</a:t>
            </a:r>
            <a:endParaRPr lang="en-US" sz="900" dirty="0"/>
          </a:p>
        </p:txBody>
      </p:sp>
      <p:sp>
        <p:nvSpPr>
          <p:cNvPr id="24" name="go:casemap">
            <a:hlinkClick r:id="rId1" tooltip="‹  Карта кейсов" action="ppaction://hlinksldjump"/>
          </p:cNvPr>
          <p:cNvSpPr/>
          <p:nvPr/>
        </p:nvSpPr>
        <p:spPr>
          <a:xfrm>
            <a:off x="9647242" y="6409944"/>
            <a:ext cx="1188398" cy="2560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290770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26" name="go:nav">
            <a:hlinkClick r:id="rId2" tooltip="Раздел: Меню" action="ppaction://hlinksldjump"/>
          </p:cNvPr>
          <p:cNvSpPr/>
          <p:nvPr/>
        </p:nvSpPr>
        <p:spPr>
          <a:xfrm>
            <a:off x="6290770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821503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28" name="go:key5">
            <a:hlinkClick r:id="rId3" tooltip="Раздел: Главное" action="ppaction://hlinksldjump"/>
          </p:cNvPr>
          <p:cNvSpPr/>
          <p:nvPr/>
        </p:nvSpPr>
        <p:spPr>
          <a:xfrm>
            <a:off x="6821503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7516320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30" name="go:numbers">
            <a:hlinkClick r:id="rId4" tooltip="Раздел: Мир" action="ppaction://hlinksldjump"/>
          </p:cNvPr>
          <p:cNvSpPr/>
          <p:nvPr/>
        </p:nvSpPr>
        <p:spPr>
          <a:xfrm>
            <a:off x="7516320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1" name="Shape 29"/>
          <p:cNvSpPr/>
          <p:nvPr/>
        </p:nvSpPr>
        <p:spPr>
          <a:xfrm>
            <a:off x="7950533" y="219456"/>
            <a:ext cx="691258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7950533" y="219456"/>
            <a:ext cx="691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Кейсы</a:t>
            </a:r>
            <a:endParaRPr lang="en-US" sz="950" dirty="0"/>
          </a:p>
        </p:txBody>
      </p:sp>
      <p:sp>
        <p:nvSpPr>
          <p:cNvPr id="33" name="go:casemap">
            <a:hlinkClick r:id="rId5" tooltip="Раздел: Кейсы" action="ppaction://hlinksldjump"/>
          </p:cNvPr>
          <p:cNvSpPr/>
          <p:nvPr/>
        </p:nvSpPr>
        <p:spPr>
          <a:xfrm>
            <a:off x="7950533" y="219456"/>
            <a:ext cx="69125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35" name="go:ecosystem">
            <a:hlinkClick r:id="rId6" tooltip="Раздел: Модель" action="ppaction://hlinksldjump"/>
          </p:cNvPr>
          <p:cNvSpPr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37" name="go:path">
            <a:hlinkClick r:id="rId7" tooltip="Раздел: Этапы" action="ppaction://hlinksldjump"/>
          </p:cNvPr>
          <p:cNvSpPr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39" name="go:criteria">
            <a:hlinkClick r:id="rId8" tooltip="Раздел: Защита" action="ppaction://hlinksldjump"/>
          </p:cNvPr>
          <p:cNvSpPr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41" name="go:pilots">
            <a:hlinkClick r:id="rId9" tooltip="Раздел: Пилоты" action="ppaction://hlinksldjump"/>
          </p:cNvPr>
          <p:cNvSpPr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43" name="go:plan90">
            <a:hlinkClick r:id="rId10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FCA Digital Sandbox: данные ускоряют разработку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Великобритания · FCA · пилоты 2020–2022; постоянно с авг. 2023; программы по ИИ с 2025 · действует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10512"/>
            <a:ext cx="3520440" cy="1417320"/>
          </a:xfrm>
          <a:prstGeom prst="roundRect">
            <a:avLst>
              <a:gd name="adj" fmla="val 6452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8366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84%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респондентов пилота 1: пилот ускорил разработку; лишь около половины — данные оправдали ожидания (P, по данным FCA)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3364992"/>
            <a:ext cx="352044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34930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tx2"/>
                </a:solidFill>
              </a:rPr>
              <a:t>ЧТО ВВЕЛИ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767328"/>
            <a:ext cx="31546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Облачная тестовая среда: синтетические наборы данных, API и модуль наблюдения. Без реальных потребителей и без послаблений в разрешениях — по сути, техническое тестирование в терминах модели МЦЦТ.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181051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ОПУБЛИКОВАННЫЕ РЕЗУЛЬТАТЫ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103120"/>
            <a:ext cx="3886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DataSprint (2020): около 120 участников за три недели готовили синтетические данные (R)</a:t>
            </a:r>
            <a:endParaRPr lang="en-US" sz="1100" dirty="0"/>
          </a:p>
          <a:p>
            <a:pPr marL="139700" indent="-1397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Пилот 1: 28 организаций из 94 заявок; пилот 2: 12 компаний из 40 (R)</a:t>
            </a:r>
            <a:endParaRPr lang="en-US" sz="1100" dirty="0"/>
          </a:p>
          <a:p>
            <a:pPr marL="139700" indent="-1397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Постоянная работа с 1 авг. 2023 г.; оператор — NayaOne; в каталоге более 300 наборов данных (авг. 2026, R)</a:t>
            </a:r>
            <a:endParaRPr lang="en-US" sz="1100" dirty="0"/>
          </a:p>
          <a:p>
            <a:pPr marL="139700" indent="-1397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Программы ИИ (данные о приеме): Supercharged Sandbox — 23 из 132, затем 21 из 199; AI Live Testing — когорты из 7 и 8 компаний (R)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5248656"/>
            <a:ext cx="3886200" cy="859536"/>
          </a:xfrm>
          <a:prstGeom prst="roundRect">
            <a:avLst>
              <a:gd name="adj" fmla="val 8511"/>
            </a:avLst>
          </a:prstGeom>
          <a:solidFill>
            <a:schemeClr val="accent4">
              <a:alpha val="8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43400" y="5303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chemeClr val="accent4"/>
                </a:solidFill>
              </a:rPr>
              <a:t>НЕ РЕЗУЛЬТАТЫ: ЦЕЛИ И ПРОБЕЛЫ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5513832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Оценка AI Live Testing ожидается в 1-м кв. 2027 г. (T); по программам ИИ есть только данные о приеме.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75320" y="1810512"/>
            <a:ext cx="3410712" cy="1627632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19202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ВЫВОД ДЛЯ МЦЦТ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176272"/>
            <a:ext cx="30632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Синтетические данные и защищенная тестовая среда — базовая услуга с первых допусков; спецификацию качества данных согласовать с участниками.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75320" y="3566160"/>
            <a:ext cx="3410712" cy="2542032"/>
          </a:xfrm>
          <a:prstGeom prst="roundRect">
            <a:avLst>
              <a:gd name="adj" fmla="val 3597"/>
            </a:avLst>
          </a:prstGeom>
          <a:solidFill>
            <a:schemeClr val="accent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58200" y="367588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6"/>
                </a:solidFill>
              </a:rPr>
              <a:t>ПРОЕКТНОЕ РЕШЕНИЕ ДЛЯ МЦЦТ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3931920"/>
            <a:ext cx="30632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М2–М6: минимальная тестовая среда; запуск в М6 для первых пилотов — отдельный контур для каждого участника, синтетические данные для P1 и P3, API-шлюз, журналирование. Эксплуатацию можно поручить внешнему оператору под контролем МЦЦТ.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58200" y="5742432"/>
            <a:ext cx="1064702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58200" y="5742432"/>
            <a:ext cx="106470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Data Lake  ›</a:t>
            </a:r>
            <a:endParaRPr lang="en-US" sz="900" dirty="0"/>
          </a:p>
        </p:txBody>
      </p:sp>
      <p:sp>
        <p:nvSpPr>
          <p:cNvPr id="23" name="go:datalake">
            <a:hlinkClick r:id="rId1" tooltip="Data Lake  ›" action="ppaction://hlinksldjump"/>
          </p:cNvPr>
          <p:cNvSpPr/>
          <p:nvPr/>
        </p:nvSpPr>
        <p:spPr>
          <a:xfrm>
            <a:off x="8458200" y="5742432"/>
            <a:ext cx="1064702" cy="2560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source"/>
          <p:cNvSpPr txBox="1"/>
          <p:nvPr/>
        </p:nvSpPr>
        <p:spPr>
          <a:xfrm>
            <a:off x="502920" y="6400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Источники: [S4] FCA Digital Sandbox; [S42]; [S43]; [S33]; [S44]. Цифры не сверены с полными текстами первоисточников.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647242" y="6409944"/>
            <a:ext cx="1188398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47242" y="6409944"/>
            <a:ext cx="1188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‹  Карта кейсов</a:t>
            </a:r>
            <a:endParaRPr lang="en-US" sz="900" dirty="0"/>
          </a:p>
        </p:txBody>
      </p:sp>
      <p:sp>
        <p:nvSpPr>
          <p:cNvPr id="27" name="go:casemap">
            <a:hlinkClick r:id="rId2" tooltip="‹  Карта кейсов" action="ppaction://hlinksldjump"/>
          </p:cNvPr>
          <p:cNvSpPr/>
          <p:nvPr/>
        </p:nvSpPr>
        <p:spPr>
          <a:xfrm>
            <a:off x="9647242" y="6409944"/>
            <a:ext cx="1188398" cy="2560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90770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29" name="go:nav">
            <a:hlinkClick r:id="rId3" tooltip="Раздел: Меню" action="ppaction://hlinksldjump"/>
          </p:cNvPr>
          <p:cNvSpPr/>
          <p:nvPr/>
        </p:nvSpPr>
        <p:spPr>
          <a:xfrm>
            <a:off x="6290770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21503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31" name="go:key5">
            <a:hlinkClick r:id="rId4" tooltip="Раздел: Главное" action="ppaction://hlinksldjump"/>
          </p:cNvPr>
          <p:cNvSpPr/>
          <p:nvPr/>
        </p:nvSpPr>
        <p:spPr>
          <a:xfrm>
            <a:off x="6821503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516320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33" name="go:numbers">
            <a:hlinkClick r:id="rId5" tooltip="Раздел: Мир" action="ppaction://hlinksldjump"/>
          </p:cNvPr>
          <p:cNvSpPr/>
          <p:nvPr/>
        </p:nvSpPr>
        <p:spPr>
          <a:xfrm>
            <a:off x="7516320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950533" y="219456"/>
            <a:ext cx="691258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950533" y="219456"/>
            <a:ext cx="691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Кейсы</a:t>
            </a:r>
            <a:endParaRPr lang="en-US" sz="950" dirty="0"/>
          </a:p>
        </p:txBody>
      </p:sp>
      <p:sp>
        <p:nvSpPr>
          <p:cNvPr id="36" name="go:casemap">
            <a:hlinkClick r:id="rId6" tooltip="Раздел: Кейсы" action="ppaction://hlinksldjump"/>
          </p:cNvPr>
          <p:cNvSpPr/>
          <p:nvPr/>
        </p:nvSpPr>
        <p:spPr>
          <a:xfrm>
            <a:off x="7950533" y="219456"/>
            <a:ext cx="69125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38" name="go:ecosystem">
            <a:hlinkClick r:id="rId7" tooltip="Раздел: Модель" action="ppaction://hlinksldjump"/>
          </p:cNvPr>
          <p:cNvSpPr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40" name="go:path">
            <a:hlinkClick r:id="rId8" tooltip="Раздел: Этапы" action="ppaction://hlinksldjump"/>
          </p:cNvPr>
          <p:cNvSpPr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42" name="go:criteria">
            <a:hlinkClick r:id="rId9" tooltip="Раздел: Защита" action="ppaction://hlinksldjump"/>
          </p:cNvPr>
          <p:cNvSpPr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44" name="go:pilots">
            <a:hlinkClick r:id="rId10" tooltip="Раздел: Пилоты" action="ppaction://hlinksldjump"/>
          </p:cNvPr>
          <p:cNvSpPr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46" name="go:plan90">
            <a:hlinkClick r:id="rId11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ICO (Великобритания): разъяснения без права освобождать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Великобритания · Управление Уполномоченного по информации (с 30.09.2026 — Комиссия, S) · с 2019 г.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10512"/>
            <a:ext cx="3520440" cy="1417320"/>
          </a:xfrm>
          <a:prstGeom prst="roundRect">
            <a:avLst>
              <a:gd name="adj" fmla="val 6452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8366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10 из 64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организаций отобрано на бета-этап (июль 2019; по обзору 2021 г. — из 65, R)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3364992"/>
            <a:ext cx="352044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34930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tx2"/>
                </a:solidFill>
              </a:rPr>
              <a:t>ЧТО ВВЕЛИ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767328"/>
            <a:ext cx="31546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Песочница регулятора, который не вправе освобождать от требований закона: совместная проработка продукта с регулятором и публикация отчетов о выходе, которыми могут пользоваться и другие компании.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181051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ОПУБЛИКОВАННЫЕ РЕЗУЛЬТАТЫ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103120"/>
            <a:ext cx="3886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9 из 10 вышли в июне 2020 — марте 2021 г., позже плана из-за COVID-19 (R)</a:t>
            </a:r>
            <a:endParaRPr lang="en-US" sz="1100" dirty="0"/>
          </a:p>
          <a:p>
            <a:pPr marL="139700" indent="-1397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Отчет о выводах 2024 г.: 14 участников, принятых после бета-этапа (R)</a:t>
            </a:r>
            <a:endParaRPr lang="en-US" sz="1100" dirty="0"/>
          </a:p>
          <a:p>
            <a:pPr marL="139700" indent="-1397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Опубликованы отчеты, в т. ч. Our Future Health (окт. 2023) и Meta (отчет о выходе, сент. 2025) (R)</a:t>
            </a:r>
            <a:endParaRPr lang="en-US" sz="1100" dirty="0"/>
          </a:p>
          <a:p>
            <a:pPr marL="139700" indent="-1397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Участники отметили доступ к экспертизе и уверенность в продуктах (P, по данным ICO)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5248656"/>
            <a:ext cx="3886200" cy="859536"/>
          </a:xfrm>
          <a:prstGeom prst="roundRect">
            <a:avLst>
              <a:gd name="adj" fmla="val 8511"/>
            </a:avLst>
          </a:prstGeom>
          <a:solidFill>
            <a:schemeClr val="accent4">
              <a:alpha val="8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43400" y="5303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chemeClr val="accent4"/>
                </a:solidFill>
              </a:rPr>
              <a:t>НЕ РЕЗУЛЬТАТЫ: ЦЕЛИ И ПРОБЕЛЫ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5513832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Стоимость разъяснений не раскрывается; трудозатраты персонала значительны; выгоды — по данным участников (P).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75320" y="1810512"/>
            <a:ext cx="3410712" cy="1627632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19202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ВЫВОД ДЛЯ МЦЦТ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176272"/>
            <a:ext cx="30632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Трек разъяснений не требует полномочий на освобождение и может работать до окончательных правил. Позиции по национальным нормам — совместно с компетентным регулятором или как мнение МЦЦТ без обязательной силы.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75320" y="3566160"/>
            <a:ext cx="3410712" cy="2542032"/>
          </a:xfrm>
          <a:prstGeom prst="roundRect">
            <a:avLst>
              <a:gd name="adj" fmla="val 3597"/>
            </a:avLst>
          </a:prstGeom>
          <a:solidFill>
            <a:schemeClr val="accent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58200" y="367588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6"/>
                </a:solidFill>
              </a:rPr>
              <a:t>ПРОЕКТНОЕ РЕШЕНИЕ ДЛЯ МЦЦТ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3931920"/>
            <a:ext cx="30632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Каждое дело в Треке разъяснений завершается письменной позицией в течение 30 рабочих дней после полного запроса (плановое допущение); позиция публикуется в обезличенном виде. Результат — публичная библиотека позиций.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58200" y="5742432"/>
            <a:ext cx="1472943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58200" y="5742432"/>
            <a:ext cx="147294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Форматы и треки  ›</a:t>
            </a:r>
            <a:endParaRPr lang="en-US" sz="900" dirty="0"/>
          </a:p>
        </p:txBody>
      </p:sp>
      <p:sp>
        <p:nvSpPr>
          <p:cNvPr id="23" name="go:formats">
            <a:hlinkClick r:id="rId1" tooltip="Форматы и треки  ›" action="ppaction://hlinksldjump"/>
          </p:cNvPr>
          <p:cNvSpPr/>
          <p:nvPr/>
        </p:nvSpPr>
        <p:spPr>
          <a:xfrm>
            <a:off x="8458200" y="5742432"/>
            <a:ext cx="1472943" cy="2560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source"/>
          <p:cNvSpPr txBox="1"/>
          <p:nvPr/>
        </p:nvSpPr>
        <p:spPr>
          <a:xfrm>
            <a:off x="502920" y="6400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Источники: [S5] ICO; [S46] ICO, 2024; [S47]. Цифры не сверены с полными текстами первоисточников.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647242" y="6409944"/>
            <a:ext cx="1188398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47242" y="6409944"/>
            <a:ext cx="1188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‹  Карта кейсов</a:t>
            </a:r>
            <a:endParaRPr lang="en-US" sz="900" dirty="0"/>
          </a:p>
        </p:txBody>
      </p:sp>
      <p:sp>
        <p:nvSpPr>
          <p:cNvPr id="27" name="go:casemap">
            <a:hlinkClick r:id="rId2" tooltip="‹  Карта кейсов" action="ppaction://hlinksldjump"/>
          </p:cNvPr>
          <p:cNvSpPr/>
          <p:nvPr/>
        </p:nvSpPr>
        <p:spPr>
          <a:xfrm>
            <a:off x="9647242" y="6409944"/>
            <a:ext cx="1188398" cy="2560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90770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29" name="go:nav">
            <a:hlinkClick r:id="rId3" tooltip="Раздел: Меню" action="ppaction://hlinksldjump"/>
          </p:cNvPr>
          <p:cNvSpPr/>
          <p:nvPr/>
        </p:nvSpPr>
        <p:spPr>
          <a:xfrm>
            <a:off x="6290770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21503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31" name="go:key5">
            <a:hlinkClick r:id="rId4" tooltip="Раздел: Главное" action="ppaction://hlinksldjump"/>
          </p:cNvPr>
          <p:cNvSpPr/>
          <p:nvPr/>
        </p:nvSpPr>
        <p:spPr>
          <a:xfrm>
            <a:off x="6821503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516320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33" name="go:numbers">
            <a:hlinkClick r:id="rId5" tooltip="Раздел: Мир" action="ppaction://hlinksldjump"/>
          </p:cNvPr>
          <p:cNvSpPr/>
          <p:nvPr/>
        </p:nvSpPr>
        <p:spPr>
          <a:xfrm>
            <a:off x="7516320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950533" y="219456"/>
            <a:ext cx="691258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950533" y="219456"/>
            <a:ext cx="691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Кейсы</a:t>
            </a:r>
            <a:endParaRPr lang="en-US" sz="950" dirty="0"/>
          </a:p>
        </p:txBody>
      </p:sp>
      <p:sp>
        <p:nvSpPr>
          <p:cNvPr id="36" name="go:casemap">
            <a:hlinkClick r:id="rId6" tooltip="Раздел: Кейсы" action="ppaction://hlinksldjump"/>
          </p:cNvPr>
          <p:cNvSpPr/>
          <p:nvPr/>
        </p:nvSpPr>
        <p:spPr>
          <a:xfrm>
            <a:off x="7950533" y="219456"/>
            <a:ext cx="69125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38" name="go:ecosystem">
            <a:hlinkClick r:id="rId7" tooltip="Раздел: Модель" action="ppaction://hlinksldjump"/>
          </p:cNvPr>
          <p:cNvSpPr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40" name="go:path">
            <a:hlinkClick r:id="rId8" tooltip="Раздел: Этапы" action="ppaction://hlinksldjump"/>
          </p:cNvPr>
          <p:cNvSpPr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42" name="go:criteria">
            <a:hlinkClick r:id="rId9" tooltip="Раздел: Защита" action="ppaction://hlinksldjump"/>
          </p:cNvPr>
          <p:cNvSpPr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44" name="go:pilots">
            <a:hlinkClick r:id="rId10" tooltip="Раздел: Пилоты" action="ppaction://hlinksldjump"/>
          </p:cNvPr>
          <p:cNvSpPr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46" name="go:plan90">
            <a:hlinkClick r:id="rId11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ADGM и DFSA (ОАЭ): заявителей много, выходов мало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ОАЭ · FSRA ADGM (2016) и DFSA (2017) · действуют; свежих официальных итоговых данных нет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10512"/>
            <a:ext cx="3520440" cy="1417320"/>
          </a:xfrm>
          <a:prstGeom prst="roundRect">
            <a:avLst>
              <a:gd name="adj" fmla="val 6452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8366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3 из 51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принятой DFSA компании успешно завершили тест (срез на июнь 2021 г., а не итоговая доля, R)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3364992"/>
            <a:ext cx="352044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34930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tx2"/>
                </a:solidFill>
              </a:rPr>
              <a:t>ЧТО ВВЕЛИ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767328"/>
            <a:ext cx="31546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RegLab ADGM: условное разрешение и набор когортами. DFSA: тестовая лицензия (Innovation Testing Licence) сроком до 12 месяцев; с 2022 г. — непрерывный прием заявок.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181051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ОПУБЛИКОВАННЫЕ РЕЗУЛЬТАТЫ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103120"/>
            <a:ext cx="3886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RegLab: допущены 32 из 83 заявок из 20 стран (май 2017 — авг. 2019, R); NOW Money и Pyypl работают на рынке</a:t>
            </a:r>
            <a:endParaRPr lang="en-US" sz="1100" dirty="0"/>
          </a:p>
          <a:p>
            <a:pPr marL="139700" indent="-1397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DFSA ITL: подано 105, принято 51, вышли 3 (июнь 2021, R); подано 130, принято 67 (июль 2022, R)</a:t>
            </a:r>
            <a:endParaRPr lang="en-US" sz="1100" dirty="0"/>
          </a:p>
          <a:p>
            <a:pPr marL="139700" indent="-1397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Первая вышедшая компания DFSA — Sarwa (робо-эдвайзер), 5 нояб. 2018 г., после почти 12 месяцев теста (R)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5248656"/>
            <a:ext cx="3886200" cy="859536"/>
          </a:xfrm>
          <a:prstGeom prst="roundRect">
            <a:avLst>
              <a:gd name="adj" fmla="val 8511"/>
            </a:avLst>
          </a:prstGeom>
          <a:solidFill>
            <a:schemeClr val="accent4">
              <a:alpha val="8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43400" y="5303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chemeClr val="accent4"/>
                </a:solidFill>
              </a:rPr>
              <a:t>НЕ РЕЗУЛЬТАТЫ: ЦЕЛИ И ПРОБЕЛЫ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5513832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Срок рассмотрения DFSA «обычно 10–12 недель» — ориентир (T); итоговая доля получивших лицензию не опубликована.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75320" y="1810512"/>
            <a:ext cx="3410712" cy="1627632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19202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ВЫВОД ДЛЯ МЦЦТ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176272"/>
            <a:ext cx="30632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Регион уже привлекает заявителей. МЦЦТ должен выделиться специализацией на новых технологиях вне финансового сектора, опубликованными сроками с отчетом о соблюдении и критериями выхода с самого начала.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75320" y="3566160"/>
            <a:ext cx="3410712" cy="2542032"/>
          </a:xfrm>
          <a:prstGeom prst="roundRect">
            <a:avLst>
              <a:gd name="adj" fmla="val 3597"/>
            </a:avLst>
          </a:prstGeom>
          <a:solidFill>
            <a:schemeClr val="accent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58200" y="367588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6"/>
                </a:solidFill>
              </a:rPr>
              <a:t>ПРОЕКТНОЕ РЕШЕНИЕ ДЛЯ МЦЦТ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3931920"/>
            <a:ext cx="30632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В каждом плане тестирования при допуске фиксируются доказательства для перехода на постоянный режим (лицензия, действующие правила или обновленный режим); переход отслеживается. С лицензирующим органом консультируются при проектировании теста — без обязательств для него.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58200" y="5742432"/>
            <a:ext cx="1177219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58200" y="5742432"/>
            <a:ext cx="11772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После теста  ›</a:t>
            </a:r>
            <a:endParaRPr lang="en-US" sz="900" dirty="0"/>
          </a:p>
        </p:txBody>
      </p:sp>
      <p:sp>
        <p:nvSpPr>
          <p:cNvPr id="23" name="go:after">
            <a:hlinkClick r:id="rId1" tooltip="После теста  ›" action="ppaction://hlinksldjump"/>
          </p:cNvPr>
          <p:cNvSpPr/>
          <p:nvPr/>
        </p:nvSpPr>
        <p:spPr>
          <a:xfrm>
            <a:off x="8458200" y="5742432"/>
            <a:ext cx="1177219" cy="2560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source"/>
          <p:cNvSpPr txBox="1"/>
          <p:nvPr/>
        </p:nvSpPr>
        <p:spPr>
          <a:xfrm>
            <a:off x="502920" y="6400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Источники: [S13]; [S14] DFSA; [S49] ADGM; [S50]. Цифры не сверены с полными текстами первоисточников.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647242" y="6409944"/>
            <a:ext cx="1188398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47242" y="6409944"/>
            <a:ext cx="1188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‹  Карта кейсов</a:t>
            </a:r>
            <a:endParaRPr lang="en-US" sz="900" dirty="0"/>
          </a:p>
        </p:txBody>
      </p:sp>
      <p:sp>
        <p:nvSpPr>
          <p:cNvPr id="27" name="go:casemap">
            <a:hlinkClick r:id="rId2" tooltip="‹  Карта кейсов" action="ppaction://hlinksldjump"/>
          </p:cNvPr>
          <p:cNvSpPr/>
          <p:nvPr/>
        </p:nvSpPr>
        <p:spPr>
          <a:xfrm>
            <a:off x="9647242" y="6409944"/>
            <a:ext cx="1188398" cy="2560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90770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29" name="go:nav">
            <a:hlinkClick r:id="rId3" tooltip="Раздел: Меню" action="ppaction://hlinksldjump"/>
          </p:cNvPr>
          <p:cNvSpPr/>
          <p:nvPr/>
        </p:nvSpPr>
        <p:spPr>
          <a:xfrm>
            <a:off x="6290770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21503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31" name="go:key5">
            <a:hlinkClick r:id="rId4" tooltip="Раздел: Главное" action="ppaction://hlinksldjump"/>
          </p:cNvPr>
          <p:cNvSpPr/>
          <p:nvPr/>
        </p:nvSpPr>
        <p:spPr>
          <a:xfrm>
            <a:off x="6821503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516320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33" name="go:numbers">
            <a:hlinkClick r:id="rId5" tooltip="Раздел: Мир" action="ppaction://hlinksldjump"/>
          </p:cNvPr>
          <p:cNvSpPr/>
          <p:nvPr/>
        </p:nvSpPr>
        <p:spPr>
          <a:xfrm>
            <a:off x="7516320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950533" y="219456"/>
            <a:ext cx="691258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950533" y="219456"/>
            <a:ext cx="691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Кейсы</a:t>
            </a:r>
            <a:endParaRPr lang="en-US" sz="950" dirty="0"/>
          </a:p>
        </p:txBody>
      </p:sp>
      <p:sp>
        <p:nvSpPr>
          <p:cNvPr id="36" name="go:casemap">
            <a:hlinkClick r:id="rId6" tooltip="Раздел: Кейсы" action="ppaction://hlinksldjump"/>
          </p:cNvPr>
          <p:cNvSpPr/>
          <p:nvPr/>
        </p:nvSpPr>
        <p:spPr>
          <a:xfrm>
            <a:off x="7950533" y="219456"/>
            <a:ext cx="69125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38" name="go:ecosystem">
            <a:hlinkClick r:id="rId7" tooltip="Раздел: Модель" action="ppaction://hlinksldjump"/>
          </p:cNvPr>
          <p:cNvSpPr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40" name="go:path">
            <a:hlinkClick r:id="rId8" tooltip="Раздел: Этапы" action="ppaction://hlinksldjump"/>
          </p:cNvPr>
          <p:cNvSpPr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42" name="go:criteria">
            <a:hlinkClick r:id="rId9" tooltip="Раздел: Защита" action="ppaction://hlinksldjump"/>
          </p:cNvPr>
          <p:cNvSpPr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44" name="go:pilots">
            <a:hlinkClick r:id="rId10" tooltip="Раздел: Пилоты" action="ppaction://hlinksldjump"/>
          </p:cNvPr>
          <p:cNvSpPr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46" name="go:plan90">
            <a:hlinkClick r:id="rId11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TradeTech (WEF и ОАЭ): межрегуляторный тест осуществим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ОАЭ · WEF и органы ОАЭ · MoU — янв. 2024, доклад WEF — окт. 2025 · итоги по данным организатора (P)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10512"/>
            <a:ext cx="3520440" cy="1417320"/>
          </a:xfrm>
          <a:prstGeom prst="roundRect">
            <a:avLst>
              <a:gd name="adj" fmla="val 6452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8366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8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стартапов протестировали решения с участием регуляторов ОАЭ (доклад WEF, окт. 2025, P)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3364992"/>
            <a:ext cx="352044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34930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tx2"/>
                </a:solidFill>
              </a:rPr>
              <a:t>ЧТО ВВЕЛИ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767328"/>
            <a:ext cx="31546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Межрегуляторная песочница под эгидой организатора диалога. Темы: цифровые торговые документы, самосуверенная цифровая идентичность, платежи в стейблкоинах, кредитование в децентрализованных финансах (DeFi).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181051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ОПУБЛИКОВАННЫЕ РЕЗУЛЬТАТЫ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103120"/>
            <a:ext cx="3886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8 стартапов; WEF упоминает четыре регулятора ОАЭ, но в доступных источниках они не названы (P)</a:t>
            </a:r>
            <a:endParaRPr lang="en-US" sz="1100" dirty="0"/>
          </a:p>
          <a:p>
            <a:pPr marL="139700" indent="-1397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Около 21 месяца от меморандума (янв. 2024) до доклада WEF (окт. 2025) (D)</a:t>
            </a:r>
            <a:endParaRPr lang="en-US" sz="1100" dirty="0"/>
          </a:p>
          <a:p>
            <a:pPr marL="139700" indent="-1397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Платформу предоставил поставщик — по данным поставщика (P)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5248656"/>
            <a:ext cx="3886200" cy="859536"/>
          </a:xfrm>
          <a:prstGeom prst="roundRect">
            <a:avLst>
              <a:gd name="adj" fmla="val 8511"/>
            </a:avLst>
          </a:prstGeom>
          <a:solidFill>
            <a:schemeClr val="accent4">
              <a:alpha val="8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43400" y="5303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chemeClr val="accent4"/>
                </a:solidFill>
              </a:rPr>
              <a:t>НЕ РЕЗУЛЬТАТЫ: ЦЕЛИ И ПРОБЕЛЫ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5513832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Итоги по каждому участнику не опубликованы; независимой оценки нет.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75320" y="1810512"/>
            <a:ext cx="3410712" cy="1627632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19202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ВЫВОД ДЛЯ МЦЦТ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176272"/>
            <a:ext cx="30632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Организатор диалога снижает издержки координации в пилотах с несколькими органами — если итоги раскрываются по каждому участнику, а нерешенные вопросы публикуются.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75320" y="3566160"/>
            <a:ext cx="3410712" cy="2542032"/>
          </a:xfrm>
          <a:prstGeom prst="roundRect">
            <a:avLst>
              <a:gd name="adj" fmla="val 3597"/>
            </a:avLst>
          </a:prstGeom>
          <a:solidFill>
            <a:schemeClr val="accent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58200" y="367588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6"/>
                </a:solidFill>
              </a:rPr>
              <a:t>ПРОЕКТНОЕ РЕШЕНИЕ ДЛЯ МЦЦТ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3931920"/>
            <a:ext cx="30632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Пилот P2 (электронные торговые документы с проверкой на основе ИИ) — по единому плану тестирования с одним ведущим органом. Любой партнер, включая WEF, отчитывается по каждому участнику; рецензия WEF факультативна и вне критического пути.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58200" y="5742432"/>
            <a:ext cx="1000616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58200" y="5742432"/>
            <a:ext cx="1000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Пилот P2  ›</a:t>
            </a:r>
            <a:endParaRPr lang="en-US" sz="900" dirty="0"/>
          </a:p>
        </p:txBody>
      </p:sp>
      <p:sp>
        <p:nvSpPr>
          <p:cNvPr id="23" name="go:pilots">
            <a:hlinkClick r:id="rId1" tooltip="Пилот P2  ›" action="ppaction://hlinksldjump"/>
          </p:cNvPr>
          <p:cNvSpPr/>
          <p:nvPr/>
        </p:nvSpPr>
        <p:spPr>
          <a:xfrm>
            <a:off x="8458200" y="5742432"/>
            <a:ext cx="1000616" cy="2560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Shape 22"/>
          <p:cNvSpPr/>
          <p:nvPr/>
        </p:nvSpPr>
        <p:spPr>
          <a:xfrm>
            <a:off x="9550256" y="5742432"/>
            <a:ext cx="1037796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9550256" y="5742432"/>
            <a:ext cx="103779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Роль WEF  ›</a:t>
            </a:r>
            <a:endParaRPr lang="en-US" sz="900" dirty="0"/>
          </a:p>
        </p:txBody>
      </p:sp>
      <p:sp>
        <p:nvSpPr>
          <p:cNvPr id="26" name="go:wef">
            <a:hlinkClick r:id="rId2" tooltip="Роль WEF  ›" action="ppaction://hlinksldjump"/>
          </p:cNvPr>
          <p:cNvSpPr/>
          <p:nvPr/>
        </p:nvSpPr>
        <p:spPr>
          <a:xfrm>
            <a:off x="9550256" y="5742432"/>
            <a:ext cx="1037796" cy="2560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7" name="source"/>
          <p:cNvSpPr txBox="1"/>
          <p:nvPr/>
        </p:nvSpPr>
        <p:spPr>
          <a:xfrm>
            <a:off x="502920" y="6400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Источники: [S10]; [S11] WEF, окт. 2025; [S32]. Цифры не сверены с полными текстами первоисточников.</a:t>
            </a:r>
            <a:endParaRPr lang="en-US" sz="800" dirty="0"/>
          </a:p>
        </p:txBody>
      </p:sp>
      <p:sp>
        <p:nvSpPr>
          <p:cNvPr id="28" name="Shape 26"/>
          <p:cNvSpPr/>
          <p:nvPr/>
        </p:nvSpPr>
        <p:spPr>
          <a:xfrm>
            <a:off x="9647242" y="6409944"/>
            <a:ext cx="1188398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9" name="Text 27"/>
          <p:cNvSpPr txBox="1"/>
          <p:nvPr/>
        </p:nvSpPr>
        <p:spPr>
          <a:xfrm>
            <a:off x="9647242" y="6409944"/>
            <a:ext cx="1188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‹  Карта кейсов</a:t>
            </a:r>
            <a:endParaRPr lang="en-US" sz="900" dirty="0"/>
          </a:p>
        </p:txBody>
      </p:sp>
      <p:sp>
        <p:nvSpPr>
          <p:cNvPr id="30" name="go:casemap">
            <a:hlinkClick r:id="rId3" tooltip="‹  Карта кейсов" action="ppaction://hlinksldjump"/>
          </p:cNvPr>
          <p:cNvSpPr/>
          <p:nvPr/>
        </p:nvSpPr>
        <p:spPr>
          <a:xfrm>
            <a:off x="9647242" y="6409944"/>
            <a:ext cx="1188398" cy="2560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6290770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32" name="go:nav">
            <a:hlinkClick r:id="rId4" tooltip="Раздел: Меню" action="ppaction://hlinksldjump"/>
          </p:cNvPr>
          <p:cNvSpPr/>
          <p:nvPr/>
        </p:nvSpPr>
        <p:spPr>
          <a:xfrm>
            <a:off x="6290770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3" name="Text 31"/>
          <p:cNvSpPr txBox="1"/>
          <p:nvPr/>
        </p:nvSpPr>
        <p:spPr>
          <a:xfrm>
            <a:off x="6821503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34" name="go:key5">
            <a:hlinkClick r:id="rId5" tooltip="Раздел: Главное" action="ppaction://hlinksldjump"/>
          </p:cNvPr>
          <p:cNvSpPr/>
          <p:nvPr/>
        </p:nvSpPr>
        <p:spPr>
          <a:xfrm>
            <a:off x="6821503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7516320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36" name="go:numbers">
            <a:hlinkClick r:id="rId6" tooltip="Раздел: Мир" action="ppaction://hlinksldjump"/>
          </p:cNvPr>
          <p:cNvSpPr/>
          <p:nvPr/>
        </p:nvSpPr>
        <p:spPr>
          <a:xfrm>
            <a:off x="7516320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7" name="Shape 35"/>
          <p:cNvSpPr/>
          <p:nvPr/>
        </p:nvSpPr>
        <p:spPr>
          <a:xfrm>
            <a:off x="7950533" y="219456"/>
            <a:ext cx="691258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950533" y="219456"/>
            <a:ext cx="691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Кейсы</a:t>
            </a:r>
            <a:endParaRPr lang="en-US" sz="950" dirty="0"/>
          </a:p>
        </p:txBody>
      </p:sp>
      <p:sp>
        <p:nvSpPr>
          <p:cNvPr id="39" name="go:casemap">
            <a:hlinkClick r:id="rId7" tooltip="Раздел: Кейсы" action="ppaction://hlinksldjump"/>
          </p:cNvPr>
          <p:cNvSpPr/>
          <p:nvPr/>
        </p:nvSpPr>
        <p:spPr>
          <a:xfrm>
            <a:off x="7950533" y="219456"/>
            <a:ext cx="69125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41" name="go:ecosystem">
            <a:hlinkClick r:id="rId8" tooltip="Раздел: Модель" action="ppaction://hlinksldjump"/>
          </p:cNvPr>
          <p:cNvSpPr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43" name="go:path">
            <a:hlinkClick r:id="rId9" tooltip="Раздел: Этапы" action="ppaction://hlinksldjump"/>
          </p:cNvPr>
          <p:cNvSpPr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45" name="go:criteria">
            <a:hlinkClick r:id="rId10" tooltip="Раздел: Защита" action="ppaction://hlinksldjump"/>
          </p:cNvPr>
          <p:cNvSpPr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47" name="go:pilots">
            <a:hlinkClick r:id="rId11" tooltip="Раздел: Пилоты" action="ppaction://hlinksldjump"/>
          </p:cNvPr>
          <p:cNvSpPr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49" name="go:plan90">
            <a:hlinkClick r:id="rId12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HKMA GenAI Sandbox: с 15 до 36 сценариев за два года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Гонконг (САР) · HKMA совместно с Cyberport · запуск 2024 · действует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10512"/>
            <a:ext cx="3520440" cy="1417320"/>
          </a:xfrm>
          <a:prstGeom prst="roundRect">
            <a:avLst>
              <a:gd name="adj" fmla="val 6452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8366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15 → 36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сценариев использования: когорта 1 (дек. 2024) → Sandbox++ (авг. 2026; охват шире, R)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3364992"/>
            <a:ext cx="352044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34930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tx2"/>
                </a:solidFill>
              </a:rPr>
              <a:t>ЧТО ВВЕЛИ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767328"/>
            <a:ext cx="31546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Когорты проектов генеративного ИИ: банки работают в паре с технологическими партнерами. В Sandbox++ охват расширен на компании рынка ценных бумаг и страховщиков, поэтому когорты напрямую не сопоставимы.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181051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ОПУБЛИКОВАННЫЕ РЕЗУЛЬТАТЫ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103120"/>
            <a:ext cx="3886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Когорта 1 (дек. 2024): 15 сценариев, 10 банков, 4 техпартнера; более 40 предложений (R)</a:t>
            </a:r>
            <a:endParaRPr lang="en-US" sz="1100" dirty="0"/>
          </a:p>
          <a:p>
            <a:pPr marL="139700" indent="-1397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Когорта 2 (окт. 2025): 27 сценариев, 20 банков, 14 техпартнеров; более 60 предложений (R)</a:t>
            </a:r>
            <a:endParaRPr lang="en-US" sz="1100" dirty="0"/>
          </a:p>
          <a:p>
            <a:pPr marL="139700" indent="-1397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Sandbox++ (авг. 2026): 36 сценариев, 30 организаций, 27 техпартнеров; около 100 предложений (R)</a:t>
            </a:r>
            <a:endParaRPr lang="en-US" sz="1100" dirty="0"/>
          </a:p>
          <a:p>
            <a:pPr marL="139700" indent="-1397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Надзорная песочница FSS: около 234 инициатив к концу 2021 г. — это тесты, а не компании (R)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5248656"/>
            <a:ext cx="3886200" cy="859536"/>
          </a:xfrm>
          <a:prstGeom prst="roundRect">
            <a:avLst>
              <a:gd name="adj" fmla="val 8511"/>
            </a:avLst>
          </a:prstGeom>
          <a:solidFill>
            <a:schemeClr val="accent4">
              <a:alpha val="8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43400" y="5303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chemeClr val="accent4"/>
                </a:solidFill>
              </a:rPr>
              <a:t>НЕ РЕЗУЛЬТАТЫ: ЦЕЛИ И ПРОБЕЛЫ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5513832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Данных об итогах тестов не найдено; независимой оценки песочниц для ИИ пока нет.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75320" y="1810512"/>
            <a:ext cx="3410712" cy="1627632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19202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ВЫВОД ДЛЯ МЦЦТ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176272"/>
            <a:ext cx="30632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Начать с одной тематической когорты и расширяться следующими раундами по итогам анализа; рассмотреть пары участников с технологическими партнерами.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75320" y="3566160"/>
            <a:ext cx="3410712" cy="2542032"/>
          </a:xfrm>
          <a:prstGeom prst="roundRect">
            <a:avLst>
              <a:gd name="adj" fmla="val 3597"/>
            </a:avLst>
          </a:prstGeom>
          <a:solidFill>
            <a:schemeClr val="accent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58200" y="367588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6"/>
                </a:solidFill>
              </a:rPr>
              <a:t>ПРОЕКТНОЕ РЕШЕНИЕ ДЛЯ МЦЦТ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3931920"/>
            <a:ext cx="30632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Первый раунд полноформатной песочницы — единый набор пилотов ИИ и данных (не более 3–4): объявление — не позднее Дня 90, открытие — с принятием Правил (М4), первые допуски — М6. Решение о раунде 2 — на обзоре в М9.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58200" y="5742432"/>
            <a:ext cx="910848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58200" y="5742432"/>
            <a:ext cx="910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Пилоты  ›</a:t>
            </a:r>
            <a:endParaRPr lang="en-US" sz="900" dirty="0"/>
          </a:p>
        </p:txBody>
      </p:sp>
      <p:sp>
        <p:nvSpPr>
          <p:cNvPr id="23" name="go:pilots">
            <a:hlinkClick r:id="rId1" tooltip="Пилоты  ›" action="ppaction://hlinksldjump"/>
          </p:cNvPr>
          <p:cNvSpPr/>
          <p:nvPr/>
        </p:nvSpPr>
        <p:spPr>
          <a:xfrm>
            <a:off x="8458200" y="5742432"/>
            <a:ext cx="910848" cy="2560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source"/>
          <p:cNvSpPr txBox="1"/>
          <p:nvPr/>
        </p:nvSpPr>
        <p:spPr>
          <a:xfrm>
            <a:off x="502920" y="6400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Источники: [S21] HKMA. Цифры не сверены с полными текстами первоисточников.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647242" y="6409944"/>
            <a:ext cx="1188398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47242" y="6409944"/>
            <a:ext cx="1188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‹  Карта кейсов</a:t>
            </a:r>
            <a:endParaRPr lang="en-US" sz="900" dirty="0"/>
          </a:p>
        </p:txBody>
      </p:sp>
      <p:sp>
        <p:nvSpPr>
          <p:cNvPr id="27" name="go:casemap">
            <a:hlinkClick r:id="rId2" tooltip="‹  Карта кейсов" action="ppaction://hlinksldjump"/>
          </p:cNvPr>
          <p:cNvSpPr/>
          <p:nvPr/>
        </p:nvSpPr>
        <p:spPr>
          <a:xfrm>
            <a:off x="9647242" y="6409944"/>
            <a:ext cx="1188398" cy="2560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90770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29" name="go:nav">
            <a:hlinkClick r:id="rId3" tooltip="Раздел: Меню" action="ppaction://hlinksldjump"/>
          </p:cNvPr>
          <p:cNvSpPr/>
          <p:nvPr/>
        </p:nvSpPr>
        <p:spPr>
          <a:xfrm>
            <a:off x="6290770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21503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31" name="go:key5">
            <a:hlinkClick r:id="rId4" tooltip="Раздел: Главное" action="ppaction://hlinksldjump"/>
          </p:cNvPr>
          <p:cNvSpPr/>
          <p:nvPr/>
        </p:nvSpPr>
        <p:spPr>
          <a:xfrm>
            <a:off x="6821503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516320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33" name="go:numbers">
            <a:hlinkClick r:id="rId5" tooltip="Раздел: Мир" action="ppaction://hlinksldjump"/>
          </p:cNvPr>
          <p:cNvSpPr/>
          <p:nvPr/>
        </p:nvSpPr>
        <p:spPr>
          <a:xfrm>
            <a:off x="7516320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950533" y="219456"/>
            <a:ext cx="691258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950533" y="219456"/>
            <a:ext cx="691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Кейсы</a:t>
            </a:r>
            <a:endParaRPr lang="en-US" sz="950" dirty="0"/>
          </a:p>
        </p:txBody>
      </p:sp>
      <p:sp>
        <p:nvSpPr>
          <p:cNvPr id="36" name="go:casemap">
            <a:hlinkClick r:id="rId6" tooltip="Раздел: Кейсы" action="ppaction://hlinksldjump"/>
          </p:cNvPr>
          <p:cNvSpPr/>
          <p:nvPr/>
        </p:nvSpPr>
        <p:spPr>
          <a:xfrm>
            <a:off x="7950533" y="219456"/>
            <a:ext cx="69125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38" name="go:ecosystem">
            <a:hlinkClick r:id="rId7" tooltip="Раздел: Модель" action="ppaction://hlinksldjump"/>
          </p:cNvPr>
          <p:cNvSpPr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40" name="go:path">
            <a:hlinkClick r:id="rId8" tooltip="Раздел: Этапы" action="ppaction://hlinksldjump"/>
          </p:cNvPr>
          <p:cNvSpPr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42" name="go:criteria">
            <a:hlinkClick r:id="rId9" tooltip="Раздел: Защита" action="ppaction://hlinksldjump"/>
          </p:cNvPr>
          <p:cNvSpPr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44" name="go:pilots">
            <a:hlinkClick r:id="rId10" tooltip="Раздел: Пилоты" action="ppaction://hlinksldjump"/>
          </p:cNvPr>
          <p:cNvSpPr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46" name="go:plan90">
            <a:hlinkClick r:id="rId11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Песочницы ЕС: разъяснения вместо освобождений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ЕС · блокчейн-песочница (2023–2026) · песочницы ИИ по Закону ЕС об ИИ (ст. 57–59) · пилот Испании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10512"/>
            <a:ext cx="3520440" cy="1417320"/>
          </a:xfrm>
          <a:prstGeom prst="roundRect">
            <a:avLst>
              <a:gd name="adj" fmla="val 6452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883664"/>
            <a:ext cx="3154680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accent1"/>
                </a:solidFill>
              </a:rPr>
              <a:t>60</a:t>
            </a:r>
            <a:endParaRPr lang="en-US" sz="340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514600"/>
            <a:ext cx="31546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сценариев использования в трех когортах блокчейн-песочницы; более 50 регуляторов и органов власти в когорте 1 (R)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502920" y="3364992"/>
            <a:ext cx="3520440" cy="2743200"/>
          </a:xfrm>
          <a:prstGeom prst="roundRect">
            <a:avLst>
              <a:gd name="adj" fmla="val 3333"/>
            </a:avLst>
          </a:prstGeom>
          <a:solidFill>
            <a:schemeClr val="bg2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685800" y="3493008"/>
            <a:ext cx="2743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tx2"/>
                </a:solidFill>
              </a:rPr>
              <a:t>ЧТО ВВЕЛИ</a:t>
            </a:r>
            <a:endParaRPr lang="en-US" sz="950" dirty="0"/>
          </a:p>
        </p:txBody>
      </p:sp>
      <p:sp>
        <p:nvSpPr>
          <p:cNvPr id="9" name="Text 7"/>
          <p:cNvSpPr txBox="1"/>
          <p:nvPr/>
        </p:nvSpPr>
        <p:spPr>
          <a:xfrm>
            <a:off x="685800" y="3767328"/>
            <a:ext cx="3154680" cy="2240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Необязывающий трансграничный диалог регуляторов и компаний без освобождений от требований. Итог — публикуемые отчеты о лучших практиках и руководства, пригодные для повторного использования.</a:t>
            </a:r>
            <a:endParaRPr lang="en-US" sz="1050" dirty="0"/>
          </a:p>
        </p:txBody>
      </p:sp>
      <p:sp>
        <p:nvSpPr>
          <p:cNvPr id="10" name="Text 8"/>
          <p:cNvSpPr txBox="1"/>
          <p:nvPr/>
        </p:nvSpPr>
        <p:spPr>
          <a:xfrm>
            <a:off x="4206240" y="1810512"/>
            <a:ext cx="3886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ОПУБЛИКОВАННЫЕ РЕЗУЛЬТАТЫ</a:t>
            </a:r>
            <a:endParaRPr lang="en-US" sz="950" dirty="0"/>
          </a:p>
        </p:txBody>
      </p:sp>
      <p:sp>
        <p:nvSpPr>
          <p:cNvPr id="11" name="Text 9"/>
          <p:cNvSpPr txBox="1"/>
          <p:nvPr/>
        </p:nvSpPr>
        <p:spPr>
          <a:xfrm>
            <a:off x="4206240" y="2103120"/>
            <a:ext cx="3886200" cy="3063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Блокчейн-песочница, когорта 1: 87 заявок, отобрано 20 сценариев (R)</a:t>
            </a:r>
            <a:endParaRPr lang="en-US" sz="1100" dirty="0"/>
          </a:p>
          <a:p>
            <a:pPr marL="139700" indent="-1397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Итоговый отчет о лучших практиках (11 февр. 2026): 60 сценариев в трех когортах (R)</a:t>
            </a:r>
            <a:endParaRPr lang="en-US" sz="1100" dirty="0"/>
          </a:p>
          <a:p>
            <a:pPr marL="139700" indent="-139700">
              <a:spcAft>
                <a:spcPts val="900"/>
              </a:spcAft>
              <a:buSzPct val="100000"/>
              <a:buChar char="•"/>
            </a:pPr>
            <a:r>
              <a:rPr lang="en-US" sz="1100" dirty="0">
                <a:solidFill>
                  <a:schemeClr val="tx1"/>
                </a:solidFill>
              </a:rPr>
              <a:t>Испания: 11 систем ИИ завершили пилот; руководства по Закону ЕС об ИИ и отчет об итогах (сент. 2026, R)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4206240" y="5248656"/>
            <a:ext cx="3886200" cy="859536"/>
          </a:xfrm>
          <a:prstGeom prst="roundRect">
            <a:avLst>
              <a:gd name="adj" fmla="val 8511"/>
            </a:avLst>
          </a:prstGeom>
          <a:solidFill>
            <a:schemeClr val="accent4">
              <a:alpha val="8000"/>
            </a:schemeClr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343400" y="5303520"/>
            <a:ext cx="36576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b="1" spc="50" kern="0" dirty="0">
                <a:solidFill>
                  <a:schemeClr val="accent4"/>
                </a:solidFill>
              </a:rPr>
              <a:t>НЕ РЕЗУЛЬТАТЫ: ЦЕЛИ И ПРОБЕЛЫ</a:t>
            </a:r>
            <a:endParaRPr lang="en-US" sz="850" dirty="0"/>
          </a:p>
        </p:txBody>
      </p:sp>
      <p:sp>
        <p:nvSpPr>
          <p:cNvPr id="14" name="Text 12"/>
          <p:cNvSpPr txBox="1"/>
          <p:nvPr/>
        </p:nvSpPr>
        <p:spPr>
          <a:xfrm>
            <a:off x="4343400" y="5513832"/>
            <a:ext cx="363931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Количественных оценок эффекта песочниц от органов ЕС, МВФ или Всемирного банка за 2023–2026 гг. не найдено.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8275320" y="1810512"/>
            <a:ext cx="3410712" cy="1627632"/>
          </a:xfrm>
          <a:prstGeom prst="roundRect">
            <a:avLst>
              <a:gd name="adj" fmla="val 5618"/>
            </a:avLst>
          </a:prstGeom>
          <a:solidFill>
            <a:schemeClr val="bg2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8458200" y="1920240"/>
            <a:ext cx="30175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ВЫВОД ДЛЯ МЦЦТ</a:t>
            </a:r>
            <a:endParaRPr lang="en-US" sz="950" dirty="0"/>
          </a:p>
        </p:txBody>
      </p:sp>
      <p:sp>
        <p:nvSpPr>
          <p:cNvPr id="17" name="Text 15"/>
          <p:cNvSpPr txBox="1"/>
          <p:nvPr/>
        </p:nvSpPr>
        <p:spPr>
          <a:xfrm>
            <a:off x="8458200" y="2176272"/>
            <a:ext cx="3063240" cy="12161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tx1"/>
                </a:solidFill>
              </a:rPr>
              <a:t>Отчет о лучших практиках по каждой когорте превращает диалог в разъяснения для всех и укрепляет авторитет организатора как нормотворца в сфере новых технологий.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275320" y="3566160"/>
            <a:ext cx="3410712" cy="2542032"/>
          </a:xfrm>
          <a:prstGeom prst="roundRect">
            <a:avLst>
              <a:gd name="adj" fmla="val 3597"/>
            </a:avLst>
          </a:prstGeom>
          <a:solidFill>
            <a:schemeClr val="accent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8458200" y="3675888"/>
            <a:ext cx="30632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6"/>
                </a:solidFill>
              </a:rPr>
              <a:t>ПРОЕКТНОЕ РЕШЕНИЕ ДЛЯ МЦЦТ</a:t>
            </a:r>
            <a:endParaRPr lang="en-US" sz="950" dirty="0"/>
          </a:p>
        </p:txBody>
      </p:sp>
      <p:sp>
        <p:nvSpPr>
          <p:cNvPr id="20" name="Text 18"/>
          <p:cNvSpPr txBox="1"/>
          <p:nvPr/>
        </p:nvSpPr>
        <p:spPr>
          <a:xfrm>
            <a:off x="8458200" y="3931920"/>
            <a:ext cx="3063240" cy="171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dirty="0">
                <a:solidFill>
                  <a:schemeClr val="bg1"/>
                </a:solidFill>
              </a:rPr>
              <a:t>Отчет о регуляторных выводах — в течение 60 календарных дней после завершения каждой когорты (для когорты 1 — около М14); утверждает Совет; выводы используются в Треке прототипирования регулирования.</a:t>
            </a:r>
            <a:endParaRPr lang="en-US" sz="1050" dirty="0"/>
          </a:p>
        </p:txBody>
      </p:sp>
      <p:sp>
        <p:nvSpPr>
          <p:cNvPr id="21" name="Shape 19"/>
          <p:cNvSpPr/>
          <p:nvPr/>
        </p:nvSpPr>
        <p:spPr>
          <a:xfrm>
            <a:off x="8458200" y="5742432"/>
            <a:ext cx="1177219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458200" y="5742432"/>
            <a:ext cx="117721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После теста  ›</a:t>
            </a:r>
            <a:endParaRPr lang="en-US" sz="900" dirty="0"/>
          </a:p>
        </p:txBody>
      </p:sp>
      <p:sp>
        <p:nvSpPr>
          <p:cNvPr id="23" name="go:after">
            <a:hlinkClick r:id="rId1" tooltip="После теста  ›" action="ppaction://hlinksldjump"/>
          </p:cNvPr>
          <p:cNvSpPr/>
          <p:nvPr/>
        </p:nvSpPr>
        <p:spPr>
          <a:xfrm>
            <a:off x="8458200" y="5742432"/>
            <a:ext cx="1177219" cy="2560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source"/>
          <p:cNvSpPr txBox="1"/>
          <p:nvPr/>
        </p:nvSpPr>
        <p:spPr>
          <a:xfrm>
            <a:off x="502920" y="6400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Источники: [S17] Европейская блокчейн-песочница; [S19] Испания; [S51]–[S54]. Цифры не сверены с полными текстами первоисточников.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9647242" y="6409944"/>
            <a:ext cx="1188398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9647242" y="6409944"/>
            <a:ext cx="118839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‹  Карта кейсов</a:t>
            </a:r>
            <a:endParaRPr lang="en-US" sz="900" dirty="0"/>
          </a:p>
        </p:txBody>
      </p:sp>
      <p:sp>
        <p:nvSpPr>
          <p:cNvPr id="27" name="go:casemap">
            <a:hlinkClick r:id="rId2" tooltip="‹  Карта кейсов" action="ppaction://hlinksldjump"/>
          </p:cNvPr>
          <p:cNvSpPr/>
          <p:nvPr/>
        </p:nvSpPr>
        <p:spPr>
          <a:xfrm>
            <a:off x="9647242" y="6409944"/>
            <a:ext cx="1188398" cy="2560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290770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29" name="go:nav">
            <a:hlinkClick r:id="rId3" tooltip="Раздел: Меню" action="ppaction://hlinksldjump"/>
          </p:cNvPr>
          <p:cNvSpPr/>
          <p:nvPr/>
        </p:nvSpPr>
        <p:spPr>
          <a:xfrm>
            <a:off x="6290770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821503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31" name="go:key5">
            <a:hlinkClick r:id="rId4" tooltip="Раздел: Главное" action="ppaction://hlinksldjump"/>
          </p:cNvPr>
          <p:cNvSpPr/>
          <p:nvPr/>
        </p:nvSpPr>
        <p:spPr>
          <a:xfrm>
            <a:off x="6821503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7516320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33" name="go:numbers">
            <a:hlinkClick r:id="rId5" tooltip="Раздел: Мир" action="ppaction://hlinksldjump"/>
          </p:cNvPr>
          <p:cNvSpPr/>
          <p:nvPr/>
        </p:nvSpPr>
        <p:spPr>
          <a:xfrm>
            <a:off x="7516320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950533" y="219456"/>
            <a:ext cx="691258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35" name="Text 33"/>
          <p:cNvSpPr txBox="1"/>
          <p:nvPr/>
        </p:nvSpPr>
        <p:spPr>
          <a:xfrm>
            <a:off x="7950533" y="219456"/>
            <a:ext cx="691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Кейсы</a:t>
            </a:r>
            <a:endParaRPr lang="en-US" sz="950" dirty="0"/>
          </a:p>
        </p:txBody>
      </p:sp>
      <p:sp>
        <p:nvSpPr>
          <p:cNvPr id="36" name="go:casemap">
            <a:hlinkClick r:id="rId6" tooltip="Раздел: Кейсы" action="ppaction://hlinksldjump"/>
          </p:cNvPr>
          <p:cNvSpPr/>
          <p:nvPr/>
        </p:nvSpPr>
        <p:spPr>
          <a:xfrm>
            <a:off x="7950533" y="219456"/>
            <a:ext cx="69125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7" name="Text 35"/>
          <p:cNvSpPr txBox="1"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38" name="go:ecosystem">
            <a:hlinkClick r:id="rId7" tooltip="Раздел: Модель" action="ppaction://hlinksldjump"/>
          </p:cNvPr>
          <p:cNvSpPr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40" name="go:path">
            <a:hlinkClick r:id="rId8" tooltip="Раздел: Этапы" action="ppaction://hlinksldjump"/>
          </p:cNvPr>
          <p:cNvSpPr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42" name="go:criteria">
            <a:hlinkClick r:id="rId9" tooltip="Раздел: Защита" action="ppaction://hlinksldjump"/>
          </p:cNvPr>
          <p:cNvSpPr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44" name="go:pilots">
            <a:hlinkClick r:id="rId10" tooltip="Раздел: Пилоты" action="ppaction://hlinksldjump"/>
          </p:cNvPr>
          <p:cNvSpPr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46" name="go:plan90">
            <a:hlinkClick r:id="rId11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Единая экосистема: семь этапов и нормативные сроки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Модель МЦЦТ, дополненная выводами отчета: у каждого этапа есть ответственный, решение и срок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920240"/>
            <a:ext cx="1645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pic>
        <p:nvPicPr>
          <p:cNvPr id="5" name="Image 0" descr="Databas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688336"/>
            <a:ext cx="274320" cy="27432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868680" y="267004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Data Lake</a:t>
            </a:r>
            <a:endParaRPr lang="en-US" sz="1000" dirty="0"/>
          </a:p>
        </p:txBody>
      </p:sp>
      <p:sp>
        <p:nvSpPr>
          <p:cNvPr id="7" name="Text 4"/>
          <p:cNvSpPr txBox="1"/>
          <p:nvPr/>
        </p:nvSpPr>
        <p:spPr>
          <a:xfrm>
            <a:off x="868680" y="287121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при необходимости</a:t>
            </a:r>
            <a:endParaRPr lang="en-US" sz="850" dirty="0"/>
          </a:p>
        </p:txBody>
      </p:sp>
      <p:sp>
        <p:nvSpPr>
          <p:cNvPr id="8" name="go:datalake">
            <a:hlinkClick r:id="rId2" tooltip="Data Lake" action="ppaction://hlinksldjump"/>
          </p:cNvPr>
          <p:cNvSpPr/>
          <p:nvPr/>
        </p:nvSpPr>
        <p:spPr>
          <a:xfrm>
            <a:off x="457200" y="2642616"/>
            <a:ext cx="1691640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pic>
        <p:nvPicPr>
          <p:cNvPr id="9" name="Image 1" descr="Rout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3236976"/>
            <a:ext cx="274320" cy="274320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868680" y="3218688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1"/>
                </a:solidFill>
              </a:rPr>
              <a:t>Семь этапов</a:t>
            </a:r>
            <a:endParaRPr lang="en-US" sz="1000" dirty="0"/>
          </a:p>
        </p:txBody>
      </p:sp>
      <p:sp>
        <p:nvSpPr>
          <p:cNvPr id="11" name="Text 7"/>
          <p:cNvSpPr txBox="1"/>
          <p:nvPr/>
        </p:nvSpPr>
        <p:spPr>
          <a:xfrm>
            <a:off x="868680" y="3419856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основной маршрут</a:t>
            </a:r>
            <a:endParaRPr lang="en-US" sz="850" dirty="0"/>
          </a:p>
        </p:txBody>
      </p:sp>
      <p:sp>
        <p:nvSpPr>
          <p:cNvPr id="12" name="go:path">
            <a:hlinkClick r:id="rId4" tooltip="Семь этапов" action="ppaction://hlinksldjump"/>
          </p:cNvPr>
          <p:cNvSpPr/>
          <p:nvPr/>
        </p:nvSpPr>
        <p:spPr>
          <a:xfrm>
            <a:off x="457200" y="3191256"/>
            <a:ext cx="1691640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pic>
        <p:nvPicPr>
          <p:cNvPr id="13" name="Image 2" descr="User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2920" y="4114800"/>
            <a:ext cx="274320" cy="274320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868680" y="4096512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Фокус-группы</a:t>
            </a:r>
            <a:endParaRPr lang="en-US" sz="1000" dirty="0"/>
          </a:p>
        </p:txBody>
      </p:sp>
      <p:sp>
        <p:nvSpPr>
          <p:cNvPr id="15" name="Text 10"/>
          <p:cNvSpPr txBox="1"/>
          <p:nvPr/>
        </p:nvSpPr>
        <p:spPr>
          <a:xfrm>
            <a:off x="868680" y="4297680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при необходимости</a:t>
            </a:r>
            <a:endParaRPr lang="en-US" sz="850" dirty="0"/>
          </a:p>
        </p:txBody>
      </p:sp>
      <p:sp>
        <p:nvSpPr>
          <p:cNvPr id="16" name="go:focus">
            <a:hlinkClick r:id="rId6" tooltip="Фокус-группы" action="ppaction://hlinksldjump"/>
          </p:cNvPr>
          <p:cNvSpPr/>
          <p:nvPr/>
        </p:nvSpPr>
        <p:spPr>
          <a:xfrm>
            <a:off x="457200" y="4069080"/>
            <a:ext cx="1691640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pic>
        <p:nvPicPr>
          <p:cNvPr id="17" name="Image 3" descr="Shield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2920" y="4681728"/>
            <a:ext cx="274320" cy="274320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868680" y="4663440"/>
            <a:ext cx="12801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accent4"/>
                </a:solidFill>
              </a:rPr>
              <a:t>Защита</a:t>
            </a:r>
            <a:endParaRPr lang="en-US" sz="1000" dirty="0"/>
          </a:p>
        </p:txBody>
      </p:sp>
      <p:sp>
        <p:nvSpPr>
          <p:cNvPr id="19" name="Text 13"/>
          <p:cNvSpPr txBox="1"/>
          <p:nvPr/>
        </p:nvSpPr>
        <p:spPr>
          <a:xfrm>
            <a:off x="868680" y="4864608"/>
            <a:ext cx="12801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весь цикл</a:t>
            </a:r>
            <a:endParaRPr lang="en-US" sz="850" dirty="0"/>
          </a:p>
        </p:txBody>
      </p:sp>
      <p:sp>
        <p:nvSpPr>
          <p:cNvPr id="20" name="go:boundaries">
            <a:hlinkClick r:id="rId8" tooltip="Защита" action="ppaction://hlinksldjump"/>
          </p:cNvPr>
          <p:cNvSpPr/>
          <p:nvPr/>
        </p:nvSpPr>
        <p:spPr>
          <a:xfrm>
            <a:off x="457200" y="4636008"/>
            <a:ext cx="1691640" cy="45720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1" name="Shape 15"/>
          <p:cNvSpPr/>
          <p:nvPr/>
        </p:nvSpPr>
        <p:spPr>
          <a:xfrm>
            <a:off x="2240280" y="1938528"/>
            <a:ext cx="7178040" cy="3767328"/>
          </a:xfrm>
          <a:prstGeom prst="roundRect">
            <a:avLst>
              <a:gd name="adj" fmla="val 2913"/>
            </a:avLst>
          </a:prstGeom>
          <a:ln w="15875">
            <a:solidFill>
              <a:schemeClr val="accent4"/>
            </a:solidFill>
            <a:prstDash val="solid"/>
          </a:ln>
        </p:spPr>
      </p:sp>
      <p:sp>
        <p:nvSpPr>
          <p:cNvPr id="22" name="Shape 16"/>
          <p:cNvSpPr/>
          <p:nvPr/>
        </p:nvSpPr>
        <p:spPr>
          <a:xfrm>
            <a:off x="3726180" y="1819656"/>
            <a:ext cx="4206240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3" name="Text 17"/>
          <p:cNvSpPr txBox="1"/>
          <p:nvPr/>
        </p:nvSpPr>
        <p:spPr>
          <a:xfrm>
            <a:off x="3726180" y="1819656"/>
            <a:ext cx="4206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4"/>
                </a:solidFill>
              </a:rPr>
              <a:t>ПРАВОВЫЕ ПРЕДЕЛЫ И ЗАЩИТА: НА ВСЕМ ЖИЗНЕННОМ ЦИКЛЕ</a:t>
            </a:r>
            <a:endParaRPr lang="en-US" sz="850" dirty="0"/>
          </a:p>
        </p:txBody>
      </p:sp>
      <p:sp>
        <p:nvSpPr>
          <p:cNvPr id="24" name="Text 18"/>
          <p:cNvSpPr txBox="1"/>
          <p:nvPr/>
        </p:nvSpPr>
        <p:spPr>
          <a:xfrm>
            <a:off x="2423160" y="2084832"/>
            <a:ext cx="92485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Обращение</a:t>
            </a:r>
            <a:endParaRPr lang="en-US" sz="850" dirty="0"/>
          </a:p>
        </p:txBody>
      </p:sp>
      <p:sp>
        <p:nvSpPr>
          <p:cNvPr id="25" name="Text 19"/>
          <p:cNvSpPr txBox="1"/>
          <p:nvPr/>
        </p:nvSpPr>
        <p:spPr>
          <a:xfrm>
            <a:off x="3402874" y="2084832"/>
            <a:ext cx="92485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Правовая и проектная оценка</a:t>
            </a:r>
            <a:endParaRPr lang="en-US" sz="850" dirty="0"/>
          </a:p>
        </p:txBody>
      </p:sp>
      <p:sp>
        <p:nvSpPr>
          <p:cNvPr id="26" name="Text 20"/>
          <p:cNvSpPr txBox="1"/>
          <p:nvPr/>
        </p:nvSpPr>
        <p:spPr>
          <a:xfrm>
            <a:off x="4382589" y="2084832"/>
            <a:ext cx="92485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Выбор формата</a:t>
            </a:r>
            <a:endParaRPr lang="en-US" sz="850" dirty="0"/>
          </a:p>
        </p:txBody>
      </p:sp>
      <p:sp>
        <p:nvSpPr>
          <p:cNvPr id="27" name="Text 21"/>
          <p:cNvSpPr txBox="1"/>
          <p:nvPr/>
        </p:nvSpPr>
        <p:spPr>
          <a:xfrm>
            <a:off x="5362303" y="2084832"/>
            <a:ext cx="92485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План и готовность</a:t>
            </a:r>
            <a:endParaRPr lang="en-US" sz="850" dirty="0"/>
          </a:p>
        </p:txBody>
      </p:sp>
      <p:sp>
        <p:nvSpPr>
          <p:cNvPr id="28" name="Text 22"/>
          <p:cNvSpPr txBox="1"/>
          <p:nvPr/>
        </p:nvSpPr>
        <p:spPr>
          <a:xfrm>
            <a:off x="6342017" y="2084832"/>
            <a:ext cx="92485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Тестирование</a:t>
            </a:r>
            <a:endParaRPr lang="en-US" sz="850" dirty="0"/>
          </a:p>
        </p:txBody>
      </p:sp>
      <p:sp>
        <p:nvSpPr>
          <p:cNvPr id="29" name="Text 23"/>
          <p:cNvSpPr txBox="1"/>
          <p:nvPr/>
        </p:nvSpPr>
        <p:spPr>
          <a:xfrm>
            <a:off x="7321731" y="2084832"/>
            <a:ext cx="92485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Оценка результата</a:t>
            </a:r>
            <a:endParaRPr lang="en-US" sz="850" dirty="0"/>
          </a:p>
        </p:txBody>
      </p:sp>
      <p:sp>
        <p:nvSpPr>
          <p:cNvPr id="30" name="Text 24"/>
          <p:cNvSpPr txBox="1"/>
          <p:nvPr/>
        </p:nvSpPr>
        <p:spPr>
          <a:xfrm>
            <a:off x="8301446" y="2084832"/>
            <a:ext cx="92485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b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1"/>
                </a:solidFill>
              </a:rPr>
              <a:t>Выход и исполнение</a:t>
            </a:r>
            <a:endParaRPr lang="en-US" sz="850" dirty="0"/>
          </a:p>
        </p:txBody>
      </p:sp>
      <p:sp>
        <p:nvSpPr>
          <p:cNvPr id="31" name="Text 25"/>
          <p:cNvSpPr txBox="1"/>
          <p:nvPr/>
        </p:nvSpPr>
        <p:spPr>
          <a:xfrm>
            <a:off x="2395728" y="2633472"/>
            <a:ext cx="9797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accent2"/>
                </a:solidFill>
              </a:rPr>
              <a:t>запрос данных</a:t>
            </a:r>
            <a:endParaRPr lang="en-US" sz="800" dirty="0"/>
          </a:p>
        </p:txBody>
      </p:sp>
      <p:sp>
        <p:nvSpPr>
          <p:cNvPr id="32" name="Text 26"/>
          <p:cNvSpPr txBox="1"/>
          <p:nvPr/>
        </p:nvSpPr>
        <p:spPr>
          <a:xfrm>
            <a:off x="3375442" y="2633472"/>
            <a:ext cx="9797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accent2"/>
                </a:solidFill>
              </a:rPr>
              <a:t>законность и доступность</a:t>
            </a:r>
            <a:endParaRPr lang="en-US" sz="800" dirty="0"/>
          </a:p>
        </p:txBody>
      </p:sp>
      <p:sp>
        <p:nvSpPr>
          <p:cNvPr id="33" name="Shape 27"/>
          <p:cNvSpPr/>
          <p:nvPr/>
        </p:nvSpPr>
        <p:spPr>
          <a:xfrm>
            <a:off x="4689566" y="2670048"/>
            <a:ext cx="310896" cy="310896"/>
          </a:xfrm>
          <a:prstGeom prst="diamond">
            <a:avLst/>
          </a:prstGeom>
          <a:solidFill>
            <a:schemeClr val="bg1"/>
          </a:solidFill>
          <a:ln w="12700">
            <a:solidFill>
              <a:schemeClr val="accent2"/>
            </a:solidFill>
            <a:prstDash val="solid"/>
          </a:ln>
        </p:spPr>
      </p:sp>
      <p:sp>
        <p:nvSpPr>
          <p:cNvPr id="34" name="Text 28"/>
          <p:cNvSpPr txBox="1"/>
          <p:nvPr/>
        </p:nvSpPr>
        <p:spPr>
          <a:xfrm>
            <a:off x="4689566" y="2670048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2"/>
                </a:solidFill>
              </a:rPr>
              <a:t>?</a:t>
            </a:r>
            <a:endParaRPr lang="en-US" sz="1000" dirty="0"/>
          </a:p>
        </p:txBody>
      </p:sp>
      <p:sp>
        <p:nvSpPr>
          <p:cNvPr id="35" name="Shape 29"/>
          <p:cNvSpPr/>
          <p:nvPr/>
        </p:nvSpPr>
        <p:spPr>
          <a:xfrm>
            <a:off x="5380591" y="2633472"/>
            <a:ext cx="3827417" cy="384048"/>
          </a:xfrm>
          <a:prstGeom prst="roundRect">
            <a:avLst>
              <a:gd name="adj" fmla="val 19048"/>
            </a:avLst>
          </a:prstGeom>
          <a:solidFill>
            <a:schemeClr val="accent2">
              <a:alpha val="6000"/>
            </a:schemeClr>
          </a:solidFill>
          <a:ln w="9525">
            <a:solidFill>
              <a:schemeClr val="accent2"/>
            </a:solidFill>
            <a:prstDash val="dash"/>
          </a:ln>
        </p:spPr>
      </p:sp>
      <p:sp>
        <p:nvSpPr>
          <p:cNvPr id="36" name="Text 30"/>
          <p:cNvSpPr txBox="1"/>
          <p:nvPr/>
        </p:nvSpPr>
        <p:spPr>
          <a:xfrm>
            <a:off x="5472031" y="2633472"/>
            <a:ext cx="36445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2"/>
                </a:solidFill>
              </a:rPr>
              <a:t>если подключен: условия доступа → работа в рамках плана → качество данных → закрытие доступа</a:t>
            </a:r>
            <a:endParaRPr lang="en-US" sz="850" dirty="0"/>
          </a:p>
        </p:txBody>
      </p:sp>
      <p:sp>
        <p:nvSpPr>
          <p:cNvPr id="37" name="go:datalake">
            <a:hlinkClick r:id="rId9" tooltip="Data Lake" action="ppaction://hlinksldjump"/>
          </p:cNvPr>
          <p:cNvSpPr/>
          <p:nvPr/>
        </p:nvSpPr>
        <p:spPr>
          <a:xfrm>
            <a:off x="2395728" y="2633472"/>
            <a:ext cx="6858000" cy="38404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Shape 32"/>
          <p:cNvSpPr/>
          <p:nvPr/>
        </p:nvSpPr>
        <p:spPr>
          <a:xfrm>
            <a:off x="2885585" y="3364992"/>
            <a:ext cx="5878286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39" name="Shape 33"/>
          <p:cNvSpPr/>
          <p:nvPr/>
        </p:nvSpPr>
        <p:spPr>
          <a:xfrm>
            <a:off x="2611265" y="3090672"/>
            <a:ext cx="548640" cy="548640"/>
          </a:xfrm>
          <a:prstGeom prst="ellipse">
            <a:avLst/>
          </a:prstGeom>
          <a:ln w="15875">
            <a:solidFill>
              <a:schemeClr val="accent1"/>
            </a:solidFill>
            <a:prstDash val="solid"/>
          </a:ln>
        </p:spPr>
      </p:sp>
      <p:sp>
        <p:nvSpPr>
          <p:cNvPr id="40" name="Shape 34"/>
          <p:cNvSpPr/>
          <p:nvPr/>
        </p:nvSpPr>
        <p:spPr>
          <a:xfrm>
            <a:off x="2675273" y="315468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1" name="Text 35"/>
          <p:cNvSpPr txBox="1"/>
          <p:nvPr/>
        </p:nvSpPr>
        <p:spPr>
          <a:xfrm>
            <a:off x="2675273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1</a:t>
            </a:r>
            <a:endParaRPr lang="en-US" sz="1200" dirty="0"/>
          </a:p>
        </p:txBody>
      </p:sp>
      <p:sp>
        <p:nvSpPr>
          <p:cNvPr id="42" name="Shape 36"/>
          <p:cNvSpPr/>
          <p:nvPr/>
        </p:nvSpPr>
        <p:spPr>
          <a:xfrm>
            <a:off x="3654987" y="315468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3" name="Text 37"/>
          <p:cNvSpPr txBox="1"/>
          <p:nvPr/>
        </p:nvSpPr>
        <p:spPr>
          <a:xfrm>
            <a:off x="3654987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2</a:t>
            </a:r>
            <a:endParaRPr lang="en-US" sz="1200" dirty="0"/>
          </a:p>
        </p:txBody>
      </p:sp>
      <p:sp>
        <p:nvSpPr>
          <p:cNvPr id="44" name="Shape 38"/>
          <p:cNvSpPr/>
          <p:nvPr/>
        </p:nvSpPr>
        <p:spPr>
          <a:xfrm>
            <a:off x="4634702" y="315468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4634702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3</a:t>
            </a:r>
            <a:endParaRPr lang="en-US" sz="1200" dirty="0"/>
          </a:p>
        </p:txBody>
      </p:sp>
      <p:sp>
        <p:nvSpPr>
          <p:cNvPr id="46" name="Shape 40"/>
          <p:cNvSpPr/>
          <p:nvPr/>
        </p:nvSpPr>
        <p:spPr>
          <a:xfrm>
            <a:off x="5614416" y="315468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7" name="Text 41"/>
          <p:cNvSpPr txBox="1"/>
          <p:nvPr/>
        </p:nvSpPr>
        <p:spPr>
          <a:xfrm>
            <a:off x="5614416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4</a:t>
            </a:r>
            <a:endParaRPr lang="en-US" sz="1200" dirty="0"/>
          </a:p>
        </p:txBody>
      </p:sp>
      <p:sp>
        <p:nvSpPr>
          <p:cNvPr id="48" name="Shape 42"/>
          <p:cNvSpPr/>
          <p:nvPr/>
        </p:nvSpPr>
        <p:spPr>
          <a:xfrm>
            <a:off x="6594130" y="315468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9" name="Text 43"/>
          <p:cNvSpPr txBox="1"/>
          <p:nvPr/>
        </p:nvSpPr>
        <p:spPr>
          <a:xfrm>
            <a:off x="6594130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5</a:t>
            </a:r>
            <a:endParaRPr lang="en-US" sz="1200" dirty="0"/>
          </a:p>
        </p:txBody>
      </p:sp>
      <p:sp>
        <p:nvSpPr>
          <p:cNvPr id="50" name="Shape 44"/>
          <p:cNvSpPr/>
          <p:nvPr/>
        </p:nvSpPr>
        <p:spPr>
          <a:xfrm>
            <a:off x="7573845" y="315468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1" name="Text 45"/>
          <p:cNvSpPr txBox="1"/>
          <p:nvPr/>
        </p:nvSpPr>
        <p:spPr>
          <a:xfrm>
            <a:off x="7573845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6</a:t>
            </a:r>
            <a:endParaRPr lang="en-US" sz="1200" dirty="0"/>
          </a:p>
        </p:txBody>
      </p:sp>
      <p:sp>
        <p:nvSpPr>
          <p:cNvPr id="52" name="Shape 46"/>
          <p:cNvSpPr/>
          <p:nvPr/>
        </p:nvSpPr>
        <p:spPr>
          <a:xfrm>
            <a:off x="8553559" y="3154680"/>
            <a:ext cx="420624" cy="420624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53" name="Text 47"/>
          <p:cNvSpPr txBox="1"/>
          <p:nvPr/>
        </p:nvSpPr>
        <p:spPr>
          <a:xfrm>
            <a:off x="8553559" y="315468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7</a:t>
            </a:r>
            <a:endParaRPr lang="en-US" sz="1200" dirty="0"/>
          </a:p>
        </p:txBody>
      </p:sp>
      <p:sp>
        <p:nvSpPr>
          <p:cNvPr id="54" name="go:stages7">
            <a:hlinkClick r:id="rId10" tooltip="Семь этапов: расширенный вид" action="ppaction://hlinksldjump"/>
          </p:cNvPr>
          <p:cNvSpPr/>
          <p:nvPr/>
        </p:nvSpPr>
        <p:spPr>
          <a:xfrm>
            <a:off x="2395728" y="3081528"/>
            <a:ext cx="6858000" cy="56692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5" name="Shape 49"/>
          <p:cNvSpPr/>
          <p:nvPr/>
        </p:nvSpPr>
        <p:spPr>
          <a:xfrm>
            <a:off x="2468880" y="3675888"/>
            <a:ext cx="833410" cy="237744"/>
          </a:xfrm>
          <a:prstGeom prst="roundRect">
            <a:avLst>
              <a:gd name="adj" fmla="val 50000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56" name="Text 50"/>
          <p:cNvSpPr txBox="1"/>
          <p:nvPr/>
        </p:nvSpPr>
        <p:spPr>
          <a:xfrm>
            <a:off x="2468880" y="3675888"/>
            <a:ext cx="8334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5"/>
                </a:solidFill>
              </a:rPr>
              <a:t>5 р. д.</a:t>
            </a:r>
            <a:endParaRPr lang="en-US" sz="850" dirty="0"/>
          </a:p>
        </p:txBody>
      </p:sp>
      <p:sp>
        <p:nvSpPr>
          <p:cNvPr id="57" name="Shape 51"/>
          <p:cNvSpPr/>
          <p:nvPr/>
        </p:nvSpPr>
        <p:spPr>
          <a:xfrm>
            <a:off x="3448594" y="3675888"/>
            <a:ext cx="833410" cy="237744"/>
          </a:xfrm>
          <a:prstGeom prst="roundRect">
            <a:avLst>
              <a:gd name="adj" fmla="val 50000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58" name="Text 52"/>
          <p:cNvSpPr txBox="1"/>
          <p:nvPr/>
        </p:nvSpPr>
        <p:spPr>
          <a:xfrm>
            <a:off x="3448594" y="3675888"/>
            <a:ext cx="8334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5"/>
                </a:solidFill>
              </a:rPr>
              <a:t>25 р. д.</a:t>
            </a:r>
            <a:endParaRPr lang="en-US" sz="850" dirty="0"/>
          </a:p>
        </p:txBody>
      </p:sp>
      <p:sp>
        <p:nvSpPr>
          <p:cNvPr id="59" name="Shape 53"/>
          <p:cNvSpPr/>
          <p:nvPr/>
        </p:nvSpPr>
        <p:spPr>
          <a:xfrm>
            <a:off x="4428309" y="3675888"/>
            <a:ext cx="1813125" cy="237744"/>
          </a:xfrm>
          <a:prstGeom prst="roundRect">
            <a:avLst>
              <a:gd name="adj" fmla="val 50000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60" name="Text 54"/>
          <p:cNvSpPr txBox="1"/>
          <p:nvPr/>
        </p:nvSpPr>
        <p:spPr>
          <a:xfrm>
            <a:off x="4428309" y="3675888"/>
            <a:ext cx="1813125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5"/>
                </a:solidFill>
              </a:rPr>
              <a:t>25 р. д. (этапы 3–4)</a:t>
            </a:r>
            <a:endParaRPr lang="en-US" sz="850" dirty="0"/>
          </a:p>
        </p:txBody>
      </p:sp>
      <p:sp>
        <p:nvSpPr>
          <p:cNvPr id="61" name="Shape 55"/>
          <p:cNvSpPr/>
          <p:nvPr/>
        </p:nvSpPr>
        <p:spPr>
          <a:xfrm>
            <a:off x="6387737" y="3675888"/>
            <a:ext cx="833410" cy="237744"/>
          </a:xfrm>
          <a:prstGeom prst="roundRect">
            <a:avLst>
              <a:gd name="adj" fmla="val 50000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62" name="Text 56"/>
          <p:cNvSpPr txBox="1"/>
          <p:nvPr/>
        </p:nvSpPr>
        <p:spPr>
          <a:xfrm>
            <a:off x="6387737" y="3675888"/>
            <a:ext cx="8334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5"/>
                </a:solidFill>
              </a:rPr>
              <a:t>до 12 мес.</a:t>
            </a:r>
            <a:endParaRPr lang="en-US" sz="850" dirty="0"/>
          </a:p>
        </p:txBody>
      </p:sp>
      <p:sp>
        <p:nvSpPr>
          <p:cNvPr id="63" name="Shape 57"/>
          <p:cNvSpPr/>
          <p:nvPr/>
        </p:nvSpPr>
        <p:spPr>
          <a:xfrm>
            <a:off x="7367451" y="3675888"/>
            <a:ext cx="833410" cy="237744"/>
          </a:xfrm>
          <a:prstGeom prst="roundRect">
            <a:avLst>
              <a:gd name="adj" fmla="val 50000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64" name="Text 58"/>
          <p:cNvSpPr txBox="1"/>
          <p:nvPr/>
        </p:nvSpPr>
        <p:spPr>
          <a:xfrm>
            <a:off x="7367451" y="3675888"/>
            <a:ext cx="8334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5"/>
                </a:solidFill>
              </a:rPr>
              <a:t>30 р. д.</a:t>
            </a:r>
            <a:endParaRPr lang="en-US" sz="850" dirty="0"/>
          </a:p>
        </p:txBody>
      </p:sp>
      <p:sp>
        <p:nvSpPr>
          <p:cNvPr id="65" name="Shape 59"/>
          <p:cNvSpPr/>
          <p:nvPr/>
        </p:nvSpPr>
        <p:spPr>
          <a:xfrm>
            <a:off x="8347166" y="3675888"/>
            <a:ext cx="833410" cy="237744"/>
          </a:xfrm>
          <a:prstGeom prst="roundRect">
            <a:avLst>
              <a:gd name="adj" fmla="val 50000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66" name="Text 60"/>
          <p:cNvSpPr txBox="1"/>
          <p:nvPr/>
        </p:nvSpPr>
        <p:spPr>
          <a:xfrm>
            <a:off x="8347166" y="3675888"/>
            <a:ext cx="83341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5"/>
                </a:solidFill>
              </a:rPr>
              <a:t>20 р. д.</a:t>
            </a:r>
            <a:endParaRPr lang="en-US" sz="850" dirty="0"/>
          </a:p>
        </p:txBody>
      </p:sp>
      <p:sp>
        <p:nvSpPr>
          <p:cNvPr id="67" name="go:path">
            <a:hlinkClick r:id="rId11" tooltip="Путь заявки и сроки" action="ppaction://hlinksldjump"/>
          </p:cNvPr>
          <p:cNvSpPr/>
          <p:nvPr/>
        </p:nvSpPr>
        <p:spPr>
          <a:xfrm>
            <a:off x="2395728" y="3675888"/>
            <a:ext cx="6858000" cy="23774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8" name="Text 62"/>
          <p:cNvSpPr txBox="1"/>
          <p:nvPr/>
        </p:nvSpPr>
        <p:spPr>
          <a:xfrm>
            <a:off x="2395728" y="4069080"/>
            <a:ext cx="9797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accent3"/>
                </a:solidFill>
              </a:rPr>
              <a:t>нужны ли участники</a:t>
            </a:r>
            <a:endParaRPr lang="en-US" sz="800" dirty="0"/>
          </a:p>
        </p:txBody>
      </p:sp>
      <p:sp>
        <p:nvSpPr>
          <p:cNvPr id="69" name="Text 63"/>
          <p:cNvSpPr txBox="1"/>
          <p:nvPr/>
        </p:nvSpPr>
        <p:spPr>
          <a:xfrm>
            <a:off x="3375442" y="4069080"/>
            <a:ext cx="97971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accent3"/>
                </a:solidFill>
              </a:rPr>
              <a:t>возможность и риски</a:t>
            </a:r>
            <a:endParaRPr lang="en-US" sz="800" dirty="0"/>
          </a:p>
        </p:txBody>
      </p:sp>
      <p:sp>
        <p:nvSpPr>
          <p:cNvPr id="70" name="Shape 64"/>
          <p:cNvSpPr/>
          <p:nvPr/>
        </p:nvSpPr>
        <p:spPr>
          <a:xfrm>
            <a:off x="4689566" y="4105656"/>
            <a:ext cx="310896" cy="310896"/>
          </a:xfrm>
          <a:prstGeom prst="diamond">
            <a:avLst/>
          </a:prstGeom>
          <a:solidFill>
            <a:schemeClr val="bg1"/>
          </a:solidFill>
          <a:ln w="12700">
            <a:solidFill>
              <a:schemeClr val="accent3"/>
            </a:solidFill>
            <a:prstDash val="solid"/>
          </a:ln>
        </p:spPr>
      </p:sp>
      <p:sp>
        <p:nvSpPr>
          <p:cNvPr id="71" name="Text 65"/>
          <p:cNvSpPr txBox="1"/>
          <p:nvPr/>
        </p:nvSpPr>
        <p:spPr>
          <a:xfrm>
            <a:off x="4689566" y="4105656"/>
            <a:ext cx="310896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accent3"/>
                </a:solidFill>
              </a:rPr>
              <a:t>?</a:t>
            </a:r>
            <a:endParaRPr lang="en-US" sz="1000" dirty="0"/>
          </a:p>
        </p:txBody>
      </p:sp>
      <p:sp>
        <p:nvSpPr>
          <p:cNvPr id="72" name="Shape 66"/>
          <p:cNvSpPr/>
          <p:nvPr/>
        </p:nvSpPr>
        <p:spPr>
          <a:xfrm>
            <a:off x="5380591" y="4069080"/>
            <a:ext cx="3827417" cy="384048"/>
          </a:xfrm>
          <a:prstGeom prst="roundRect">
            <a:avLst>
              <a:gd name="adj" fmla="val 19048"/>
            </a:avLst>
          </a:prstGeom>
          <a:solidFill>
            <a:schemeClr val="accent3">
              <a:alpha val="600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73" name="Text 67"/>
          <p:cNvSpPr txBox="1"/>
          <p:nvPr/>
        </p:nvSpPr>
        <p:spPr>
          <a:xfrm>
            <a:off x="5472031" y="4069080"/>
            <a:ext cx="364453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accent3"/>
                </a:solidFill>
              </a:rPr>
              <a:t>если подключены: отбор и договоры → контролируемый тест → обратная связь → обязательства</a:t>
            </a:r>
            <a:endParaRPr lang="en-US" sz="850" dirty="0"/>
          </a:p>
        </p:txBody>
      </p:sp>
      <p:sp>
        <p:nvSpPr>
          <p:cNvPr id="74" name="go:focus">
            <a:hlinkClick r:id="rId12" tooltip="Фокус-группы" action="ppaction://hlinksldjump"/>
          </p:cNvPr>
          <p:cNvSpPr/>
          <p:nvPr/>
        </p:nvSpPr>
        <p:spPr>
          <a:xfrm>
            <a:off x="2395728" y="4069080"/>
            <a:ext cx="6858000" cy="38404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5" name="Shape 69"/>
          <p:cNvSpPr/>
          <p:nvPr/>
        </p:nvSpPr>
        <p:spPr>
          <a:xfrm>
            <a:off x="2395728" y="4617720"/>
            <a:ext cx="1298448" cy="420624"/>
          </a:xfrm>
          <a:prstGeom prst="roundRect">
            <a:avLst>
              <a:gd name="adj" fmla="val 13043"/>
            </a:avLst>
          </a:prstGeom>
          <a:solidFill>
            <a:schemeClr val="accent4">
              <a:alpha val="8000"/>
            </a:schemeClr>
          </a:solidFill>
          <a:ln/>
        </p:spPr>
      </p:sp>
      <p:sp>
        <p:nvSpPr>
          <p:cNvPr id="76" name="Text 70"/>
          <p:cNvSpPr txBox="1"/>
          <p:nvPr/>
        </p:nvSpPr>
        <p:spPr>
          <a:xfrm>
            <a:off x="2441448" y="461772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4"/>
                </a:solidFill>
              </a:rPr>
              <a:t>Лимиты и сроки</a:t>
            </a:r>
            <a:endParaRPr lang="en-US" sz="850" dirty="0"/>
          </a:p>
        </p:txBody>
      </p:sp>
      <p:sp>
        <p:nvSpPr>
          <p:cNvPr id="77" name="Shape 71"/>
          <p:cNvSpPr/>
          <p:nvPr/>
        </p:nvSpPr>
        <p:spPr>
          <a:xfrm>
            <a:off x="3785616" y="4617720"/>
            <a:ext cx="1298448" cy="420624"/>
          </a:xfrm>
          <a:prstGeom prst="roundRect">
            <a:avLst>
              <a:gd name="adj" fmla="val 13043"/>
            </a:avLst>
          </a:prstGeom>
          <a:solidFill>
            <a:schemeClr val="accent4">
              <a:alpha val="8000"/>
            </a:schemeClr>
          </a:solidFill>
          <a:ln/>
        </p:spPr>
      </p:sp>
      <p:sp>
        <p:nvSpPr>
          <p:cNvPr id="78" name="Text 72"/>
          <p:cNvSpPr txBox="1"/>
          <p:nvPr/>
        </p:nvSpPr>
        <p:spPr>
          <a:xfrm>
            <a:off x="3831336" y="461772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4"/>
                </a:solidFill>
              </a:rPr>
              <a:t>Мониторинг и инциденты</a:t>
            </a:r>
            <a:endParaRPr lang="en-US" sz="850" dirty="0"/>
          </a:p>
        </p:txBody>
      </p:sp>
      <p:sp>
        <p:nvSpPr>
          <p:cNvPr id="79" name="Shape 73"/>
          <p:cNvSpPr/>
          <p:nvPr/>
        </p:nvSpPr>
        <p:spPr>
          <a:xfrm>
            <a:off x="5175504" y="4617720"/>
            <a:ext cx="1298448" cy="420624"/>
          </a:xfrm>
          <a:prstGeom prst="roundRect">
            <a:avLst>
              <a:gd name="adj" fmla="val 13043"/>
            </a:avLst>
          </a:prstGeom>
          <a:solidFill>
            <a:schemeClr val="accent4">
              <a:alpha val="8000"/>
            </a:schemeClr>
          </a:solidFill>
          <a:ln/>
        </p:spPr>
      </p:sp>
      <p:sp>
        <p:nvSpPr>
          <p:cNvPr id="80" name="Text 74"/>
          <p:cNvSpPr txBox="1"/>
          <p:nvPr/>
        </p:nvSpPr>
        <p:spPr>
          <a:xfrm>
            <a:off x="5221224" y="461772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4"/>
                </a:solidFill>
              </a:rPr>
              <a:t>Основания остановки</a:t>
            </a:r>
            <a:endParaRPr lang="en-US" sz="850" dirty="0"/>
          </a:p>
        </p:txBody>
      </p:sp>
      <p:sp>
        <p:nvSpPr>
          <p:cNvPr id="81" name="Shape 75"/>
          <p:cNvSpPr/>
          <p:nvPr/>
        </p:nvSpPr>
        <p:spPr>
          <a:xfrm>
            <a:off x="6565392" y="4617720"/>
            <a:ext cx="1298448" cy="420624"/>
          </a:xfrm>
          <a:prstGeom prst="roundRect">
            <a:avLst>
              <a:gd name="adj" fmla="val 13043"/>
            </a:avLst>
          </a:prstGeom>
          <a:solidFill>
            <a:schemeClr val="accent4">
              <a:alpha val="8000"/>
            </a:schemeClr>
          </a:solidFill>
          <a:ln/>
        </p:spPr>
      </p:sp>
      <p:sp>
        <p:nvSpPr>
          <p:cNvPr id="82" name="Text 76"/>
          <p:cNvSpPr txBox="1"/>
          <p:nvPr/>
        </p:nvSpPr>
        <p:spPr>
          <a:xfrm>
            <a:off x="6611112" y="461772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4"/>
                </a:solidFill>
              </a:rPr>
              <a:t>Защита пользователей</a:t>
            </a:r>
            <a:endParaRPr lang="en-US" sz="850" dirty="0"/>
          </a:p>
        </p:txBody>
      </p:sp>
      <p:sp>
        <p:nvSpPr>
          <p:cNvPr id="83" name="Shape 77"/>
          <p:cNvSpPr/>
          <p:nvPr/>
        </p:nvSpPr>
        <p:spPr>
          <a:xfrm>
            <a:off x="7955280" y="4617720"/>
            <a:ext cx="1298448" cy="420624"/>
          </a:xfrm>
          <a:prstGeom prst="roundRect">
            <a:avLst>
              <a:gd name="adj" fmla="val 13043"/>
            </a:avLst>
          </a:prstGeom>
          <a:solidFill>
            <a:schemeClr val="accent4">
              <a:alpha val="8000"/>
            </a:schemeClr>
          </a:solidFill>
          <a:ln/>
        </p:spPr>
      </p:sp>
      <p:sp>
        <p:nvSpPr>
          <p:cNvPr id="84" name="Text 78"/>
          <p:cNvSpPr txBox="1"/>
          <p:nvPr/>
        </p:nvSpPr>
        <p:spPr>
          <a:xfrm>
            <a:off x="8001000" y="4617720"/>
            <a:ext cx="1207008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4"/>
                </a:solidFill>
              </a:rPr>
              <a:t>Ответственность за вред</a:t>
            </a:r>
            <a:endParaRPr lang="en-US" sz="850" dirty="0"/>
          </a:p>
        </p:txBody>
      </p:sp>
      <p:sp>
        <p:nvSpPr>
          <p:cNvPr id="85" name="go:boundaries">
            <a:hlinkClick r:id="rId13" tooltip="Границы и риски" action="ppaction://hlinksldjump"/>
          </p:cNvPr>
          <p:cNvSpPr/>
          <p:nvPr/>
        </p:nvSpPr>
        <p:spPr>
          <a:xfrm>
            <a:off x="2395728" y="4617720"/>
            <a:ext cx="6858000" cy="42062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6" name="Text 80"/>
          <p:cNvSpPr txBox="1"/>
          <p:nvPr/>
        </p:nvSpPr>
        <p:spPr>
          <a:xfrm>
            <a:off x="2240280" y="5175504"/>
            <a:ext cx="71780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Реальные операции — только после этапа 4 и при выполнении правовых условий</a:t>
            </a:r>
            <a:endParaRPr lang="en-US" sz="900" dirty="0"/>
          </a:p>
        </p:txBody>
      </p:sp>
      <p:sp>
        <p:nvSpPr>
          <p:cNvPr id="87" name="Shape 81"/>
          <p:cNvSpPr/>
          <p:nvPr/>
        </p:nvSpPr>
        <p:spPr>
          <a:xfrm>
            <a:off x="9646920" y="1938528"/>
            <a:ext cx="2039112" cy="1298448"/>
          </a:xfrm>
          <a:prstGeom prst="roundRect">
            <a:avLst>
              <a:gd name="adj" fmla="val 7042"/>
            </a:avLst>
          </a:prstGeom>
          <a:solidFill>
            <a:schemeClr val="accent5"/>
          </a:solidFill>
          <a:ln/>
        </p:spPr>
      </p:sp>
      <p:sp>
        <p:nvSpPr>
          <p:cNvPr id="88" name="Text 82"/>
          <p:cNvSpPr txBox="1"/>
          <p:nvPr/>
        </p:nvSpPr>
        <p:spPr>
          <a:xfrm>
            <a:off x="9802368" y="206654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Вывод по проекту</a:t>
            </a:r>
            <a:endParaRPr lang="en-US" sz="1200" dirty="0"/>
          </a:p>
        </p:txBody>
      </p:sp>
      <p:sp>
        <p:nvSpPr>
          <p:cNvPr id="89" name="Text 83"/>
          <p:cNvSpPr txBox="1"/>
          <p:nvPr/>
        </p:nvSpPr>
        <p:spPr>
          <a:xfrm>
            <a:off x="9802368" y="254203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дальнейший режим: внедрение, продолжение, расширение или закрытие</a:t>
            </a:r>
            <a:endParaRPr lang="en-US" sz="950" dirty="0"/>
          </a:p>
        </p:txBody>
      </p:sp>
      <p:sp>
        <p:nvSpPr>
          <p:cNvPr id="90" name="Shape 84"/>
          <p:cNvSpPr/>
          <p:nvPr/>
        </p:nvSpPr>
        <p:spPr>
          <a:xfrm>
            <a:off x="9418320" y="2587752"/>
            <a:ext cx="22860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1" name="Shape 85"/>
          <p:cNvSpPr/>
          <p:nvPr/>
        </p:nvSpPr>
        <p:spPr>
          <a:xfrm>
            <a:off x="9646920" y="3401568"/>
            <a:ext cx="2039112" cy="1298448"/>
          </a:xfrm>
          <a:prstGeom prst="roundRect">
            <a:avLst>
              <a:gd name="adj" fmla="val 7042"/>
            </a:avLst>
          </a:prstGeom>
          <a:solidFill>
            <a:schemeClr val="accent5"/>
          </a:solidFill>
          <a:ln/>
        </p:spPr>
      </p:sp>
      <p:sp>
        <p:nvSpPr>
          <p:cNvPr id="92" name="Text 86"/>
          <p:cNvSpPr txBox="1"/>
          <p:nvPr/>
        </p:nvSpPr>
        <p:spPr>
          <a:xfrm>
            <a:off x="9802368" y="3529584"/>
            <a:ext cx="1737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Вывод по регулированию</a:t>
            </a:r>
            <a:endParaRPr lang="en-US" sz="1200" dirty="0"/>
          </a:p>
        </p:txBody>
      </p:sp>
      <p:sp>
        <p:nvSpPr>
          <p:cNvPr id="93" name="Text 87"/>
          <p:cNvSpPr txBox="1"/>
          <p:nvPr/>
        </p:nvSpPr>
        <p:spPr>
          <a:xfrm>
            <a:off x="9802368" y="4005072"/>
            <a:ext cx="17373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правила достаточны или требуются изменения</a:t>
            </a:r>
            <a:endParaRPr lang="en-US" sz="950" dirty="0"/>
          </a:p>
        </p:txBody>
      </p:sp>
      <p:sp>
        <p:nvSpPr>
          <p:cNvPr id="94" name="Shape 88"/>
          <p:cNvSpPr/>
          <p:nvPr/>
        </p:nvSpPr>
        <p:spPr>
          <a:xfrm>
            <a:off x="9418320" y="4050792"/>
            <a:ext cx="228600" cy="0"/>
          </a:xfrm>
          <a:prstGeom prst="line">
            <a:avLst/>
          </a:prstGeom>
          <a:noFill/>
          <a:ln w="15875">
            <a:solidFill>
              <a:schemeClr val="accent5"/>
            </a:solidFill>
            <a:prstDash val="solid"/>
            <a:tailEnd type="triangle"/>
          </a:ln>
        </p:spPr>
      </p:sp>
      <p:sp>
        <p:nvSpPr>
          <p:cNvPr id="95" name="go:after">
            <a:hlinkClick r:id="rId14" tooltip="Что происходит после теста" action="ppaction://hlinksldjump"/>
          </p:cNvPr>
          <p:cNvSpPr/>
          <p:nvPr/>
        </p:nvSpPr>
        <p:spPr>
          <a:xfrm>
            <a:off x="9646920" y="1938528"/>
            <a:ext cx="2039112" cy="276148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6" name="Text 90"/>
          <p:cNvSpPr txBox="1"/>
          <p:nvPr/>
        </p:nvSpPr>
        <p:spPr>
          <a:xfrm>
            <a:off x="9646920" y="4846320"/>
            <a:ext cx="203911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Решения о дальнейшем режиме и об изменении норм принимают компетентные органы</a:t>
            </a:r>
            <a:endParaRPr lang="en-US" sz="900" dirty="0"/>
          </a:p>
        </p:txBody>
      </p:sp>
      <p:sp>
        <p:nvSpPr>
          <p:cNvPr id="97" name="Shape 91"/>
          <p:cNvSpPr/>
          <p:nvPr/>
        </p:nvSpPr>
        <p:spPr>
          <a:xfrm>
            <a:off x="2240280" y="5815584"/>
            <a:ext cx="7178040" cy="475488"/>
          </a:xfrm>
          <a:prstGeom prst="roundRect">
            <a:avLst>
              <a:gd name="adj" fmla="val 15385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98" name="Text 92"/>
          <p:cNvSpPr txBox="1"/>
          <p:nvPr/>
        </p:nvSpPr>
        <p:spPr>
          <a:xfrm>
            <a:off x="2377440" y="5815584"/>
            <a:ext cx="6903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Срок до решения о допуске — 50 р. д.</a:t>
            </a:r>
            <a:r>
              <a:rPr lang="en-US" sz="950" dirty="0">
                <a:solidFill>
                  <a:schemeClr val="tx1"/>
                </a:solidFill>
              </a:rPr>
              <a:t> (этапы 2–4, плановое допущение); отсчет приостанавливается, пока МЦЦТ ждет ответа заявителя или регулятора</a:t>
            </a:r>
            <a:endParaRPr lang="en-US" sz="950" dirty="0"/>
          </a:p>
        </p:txBody>
      </p:sp>
      <p:sp>
        <p:nvSpPr>
          <p:cNvPr id="99" name="Shape 93"/>
          <p:cNvSpPr/>
          <p:nvPr/>
        </p:nvSpPr>
        <p:spPr>
          <a:xfrm>
            <a:off x="9603214" y="6409944"/>
            <a:ext cx="1232426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00" name="Text 94"/>
          <p:cNvSpPr txBox="1"/>
          <p:nvPr/>
        </p:nvSpPr>
        <p:spPr>
          <a:xfrm>
            <a:off x="9603214" y="6409944"/>
            <a:ext cx="123242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Почему МЦЦТ  ›</a:t>
            </a:r>
            <a:endParaRPr lang="en-US" sz="900" dirty="0"/>
          </a:p>
        </p:txBody>
      </p:sp>
      <p:sp>
        <p:nvSpPr>
          <p:cNvPr id="101" name="go:why">
            <a:hlinkClick r:id="rId15" tooltip="Почему МЦЦТ  ›" action="ppaction://hlinksldjump"/>
          </p:cNvPr>
          <p:cNvSpPr/>
          <p:nvPr/>
        </p:nvSpPr>
        <p:spPr>
          <a:xfrm>
            <a:off x="9603214" y="6409944"/>
            <a:ext cx="1232426" cy="2560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2" name="Text 96"/>
          <p:cNvSpPr txBox="1"/>
          <p:nvPr/>
        </p:nvSpPr>
        <p:spPr>
          <a:xfrm>
            <a:off x="6288405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103" name="go:nav">
            <a:hlinkClick r:id="rId16" tooltip="Раздел: Меню" action="ppaction://hlinksldjump"/>
          </p:cNvPr>
          <p:cNvSpPr/>
          <p:nvPr/>
        </p:nvSpPr>
        <p:spPr>
          <a:xfrm>
            <a:off x="6288405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4" name="Text 98"/>
          <p:cNvSpPr txBox="1"/>
          <p:nvPr/>
        </p:nvSpPr>
        <p:spPr>
          <a:xfrm>
            <a:off x="6819138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105" name="go:key5">
            <a:hlinkClick r:id="rId17" tooltip="Раздел: Главное" action="ppaction://hlinksldjump"/>
          </p:cNvPr>
          <p:cNvSpPr/>
          <p:nvPr/>
        </p:nvSpPr>
        <p:spPr>
          <a:xfrm>
            <a:off x="6819138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6" name="Text 100"/>
          <p:cNvSpPr txBox="1"/>
          <p:nvPr/>
        </p:nvSpPr>
        <p:spPr>
          <a:xfrm>
            <a:off x="7513955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107" name="go:numbers">
            <a:hlinkClick r:id="rId18" tooltip="Раздел: Мир" action="ppaction://hlinksldjump"/>
          </p:cNvPr>
          <p:cNvSpPr/>
          <p:nvPr/>
        </p:nvSpPr>
        <p:spPr>
          <a:xfrm>
            <a:off x="7513955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8" name="Text 102"/>
          <p:cNvSpPr txBox="1"/>
          <p:nvPr/>
        </p:nvSpPr>
        <p:spPr>
          <a:xfrm>
            <a:off x="7948168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Кейсы</a:t>
            </a:r>
            <a:endParaRPr lang="en-US" sz="950" dirty="0"/>
          </a:p>
        </p:txBody>
      </p:sp>
      <p:sp>
        <p:nvSpPr>
          <p:cNvPr id="109" name="go:casemap">
            <a:hlinkClick r:id="rId19" tooltip="Раздел: Кейсы" action="ppaction://hlinksldjump"/>
          </p:cNvPr>
          <p:cNvSpPr/>
          <p:nvPr/>
        </p:nvSpPr>
        <p:spPr>
          <a:xfrm>
            <a:off x="7948168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0" name="Shape 104"/>
          <p:cNvSpPr/>
          <p:nvPr/>
        </p:nvSpPr>
        <p:spPr>
          <a:xfrm>
            <a:off x="8544052" y="219456"/>
            <a:ext cx="727405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11" name="Text 105"/>
          <p:cNvSpPr txBox="1"/>
          <p:nvPr/>
        </p:nvSpPr>
        <p:spPr>
          <a:xfrm>
            <a:off x="8544052" y="219456"/>
            <a:ext cx="7274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Модель</a:t>
            </a:r>
            <a:endParaRPr lang="en-US" sz="950" dirty="0"/>
          </a:p>
        </p:txBody>
      </p:sp>
      <p:sp>
        <p:nvSpPr>
          <p:cNvPr id="112" name="go:ecosystem">
            <a:hlinkClick r:id="rId20" tooltip="Раздел: Модель" action="ppaction://hlinksldjump"/>
          </p:cNvPr>
          <p:cNvSpPr/>
          <p:nvPr/>
        </p:nvSpPr>
        <p:spPr>
          <a:xfrm>
            <a:off x="8544052" y="219456"/>
            <a:ext cx="727405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3" name="Text 107"/>
          <p:cNvSpPr txBox="1"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114" name="go:path">
            <a:hlinkClick r:id="rId21" tooltip="Раздел: Этапы" action="ppaction://hlinksldjump"/>
          </p:cNvPr>
          <p:cNvSpPr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5" name="Text 109"/>
          <p:cNvSpPr txBox="1"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116" name="go:criteria">
            <a:hlinkClick r:id="rId22" tooltip="Раздел: Защита" action="ppaction://hlinksldjump"/>
          </p:cNvPr>
          <p:cNvSpPr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7" name="Text 111"/>
          <p:cNvSpPr txBox="1"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118" name="go:pilots">
            <a:hlinkClick r:id="rId23" tooltip="Раздел: Пилоты" action="ppaction://hlinksldjump"/>
          </p:cNvPr>
          <p:cNvSpPr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9" name="Text 113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120" name="go:plan90">
            <a:hlinkClick r:id="rId24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Форматы и треки: два на старте, остальное — по данным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Формат выбирается на этапе 3; Трек разъяснений работает без теста и без освобождений от требований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10512"/>
            <a:ext cx="3630168" cy="2395728"/>
          </a:xfrm>
          <a:prstGeom prst="roundRect">
            <a:avLst>
              <a:gd name="adj" fmla="val 3817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975104"/>
            <a:ext cx="475488" cy="475488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6" name="Image 0" descr="MessageSquar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0407" y="2079711"/>
            <a:ext cx="266273" cy="266273"/>
          </a:xfrm>
          <a:prstGeom prst="rect">
            <a:avLst/>
          </a:prstGeom>
        </p:spPr>
      </p:pic>
      <p:sp>
        <p:nvSpPr>
          <p:cNvPr id="7" name="Text 4"/>
          <p:cNvSpPr txBox="1"/>
          <p:nvPr/>
        </p:nvSpPr>
        <p:spPr>
          <a:xfrm>
            <a:off x="1280160" y="1956816"/>
            <a:ext cx="271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Разъяснение без теста</a:t>
            </a:r>
            <a:endParaRPr lang="en-US" sz="1400" dirty="0"/>
          </a:p>
        </p:txBody>
      </p:sp>
      <p:sp>
        <p:nvSpPr>
          <p:cNvPr id="8" name="Text 5"/>
          <p:cNvSpPr txBox="1"/>
          <p:nvPr/>
        </p:nvSpPr>
        <p:spPr>
          <a:xfrm>
            <a:off x="1280160" y="2240280"/>
            <a:ext cx="2715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Трек разъяснений</a:t>
            </a:r>
            <a:endParaRPr lang="en-US" sz="950" dirty="0"/>
          </a:p>
        </p:txBody>
      </p:sp>
      <p:sp>
        <p:nvSpPr>
          <p:cNvPr id="9" name="Text 6"/>
          <p:cNvSpPr txBox="1"/>
          <p:nvPr/>
        </p:nvSpPr>
        <p:spPr>
          <a:xfrm>
            <a:off x="685800" y="2596896"/>
            <a:ext cx="3264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Письменная позиция в течение 30 р. д. (плановое допущение), публикуется в обезличенном виде. По национальным нормам — совместно с регулятором или как мнение МЦЦТ без обязательной силы.</a:t>
            </a:r>
            <a:endParaRPr lang="en-US" sz="1000" dirty="0"/>
          </a:p>
        </p:txBody>
      </p:sp>
      <p:sp>
        <p:nvSpPr>
          <p:cNvPr id="10" name="Shape 7"/>
          <p:cNvSpPr/>
          <p:nvPr/>
        </p:nvSpPr>
        <p:spPr>
          <a:xfrm>
            <a:off x="685800" y="3675888"/>
            <a:ext cx="1531892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85800" y="3675888"/>
            <a:ext cx="153189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С Дня запуска (≈ М3)</a:t>
            </a:r>
            <a:endParaRPr lang="en-US" sz="900" dirty="0"/>
          </a:p>
        </p:txBody>
      </p:sp>
      <p:sp>
        <p:nvSpPr>
          <p:cNvPr id="12" name="Text 9"/>
          <p:cNvSpPr txBox="1"/>
          <p:nvPr/>
        </p:nvSpPr>
        <p:spPr>
          <a:xfrm>
            <a:off x="685800" y="3950208"/>
            <a:ext cx="3264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Ориентир: ICO; Ofgem: 22 из 30 — только обратная связь</a:t>
            </a:r>
            <a:endParaRPr lang="en-US" sz="850" dirty="0"/>
          </a:p>
        </p:txBody>
      </p:sp>
      <p:sp>
        <p:nvSpPr>
          <p:cNvPr id="13" name="go:case_ico">
            <a:hlinkClick r:id="rId2" tooltip="Кейс-ориентир" action="ppaction://hlinksldjump"/>
          </p:cNvPr>
          <p:cNvSpPr/>
          <p:nvPr/>
        </p:nvSpPr>
        <p:spPr>
          <a:xfrm>
            <a:off x="502920" y="1810512"/>
            <a:ext cx="3630168" cy="239572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Shape 11"/>
          <p:cNvSpPr/>
          <p:nvPr/>
        </p:nvSpPr>
        <p:spPr>
          <a:xfrm>
            <a:off x="4279392" y="1810512"/>
            <a:ext cx="3630168" cy="2395728"/>
          </a:xfrm>
          <a:prstGeom prst="roundRect">
            <a:avLst>
              <a:gd name="adj" fmla="val 3817"/>
            </a:avLst>
          </a:prstGeom>
          <a:solidFill>
            <a:schemeClr val="bg2"/>
          </a:solidFill>
          <a:ln/>
        </p:spPr>
      </p:sp>
      <p:sp>
        <p:nvSpPr>
          <p:cNvPr id="15" name="Shape 12"/>
          <p:cNvSpPr/>
          <p:nvPr/>
        </p:nvSpPr>
        <p:spPr>
          <a:xfrm>
            <a:off x="4462272" y="1975104"/>
            <a:ext cx="475488" cy="475488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6" name="Image 1" descr="Cpu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66879" y="2079711"/>
            <a:ext cx="266273" cy="266273"/>
          </a:xfrm>
          <a:prstGeom prst="rect">
            <a:avLst/>
          </a:prstGeom>
        </p:spPr>
      </p:pic>
      <p:sp>
        <p:nvSpPr>
          <p:cNvPr id="17" name="Text 13"/>
          <p:cNvSpPr txBox="1"/>
          <p:nvPr/>
        </p:nvSpPr>
        <p:spPr>
          <a:xfrm>
            <a:off x="5056632" y="1956816"/>
            <a:ext cx="271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Техническое тестирование</a:t>
            </a:r>
            <a:endParaRPr lang="en-US" sz="1400" dirty="0"/>
          </a:p>
        </p:txBody>
      </p:sp>
      <p:sp>
        <p:nvSpPr>
          <p:cNvPr id="18" name="Text 14"/>
          <p:cNvSpPr txBox="1"/>
          <p:nvPr/>
        </p:nvSpPr>
        <p:spPr>
          <a:xfrm>
            <a:off x="5056632" y="2240280"/>
            <a:ext cx="2715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Тестовая среда</a:t>
            </a:r>
            <a:endParaRPr lang="en-US" sz="950" dirty="0"/>
          </a:p>
        </p:txBody>
      </p:sp>
      <p:sp>
        <p:nvSpPr>
          <p:cNvPr id="19" name="Text 15"/>
          <p:cNvSpPr txBox="1"/>
          <p:nvPr/>
        </p:nvSpPr>
        <p:spPr>
          <a:xfrm>
            <a:off x="4462272" y="2596896"/>
            <a:ext cx="3264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Тест в защищенной среде на синтетических или обезличенных данных, без реальных пользователей и операций: отдельный контур для каждого участника, API-шлюз, журналирование.</a:t>
            </a:r>
            <a:endParaRPr lang="en-US" sz="1000" dirty="0"/>
          </a:p>
        </p:txBody>
      </p:sp>
      <p:sp>
        <p:nvSpPr>
          <p:cNvPr id="20" name="Shape 16"/>
          <p:cNvSpPr/>
          <p:nvPr/>
        </p:nvSpPr>
        <p:spPr>
          <a:xfrm>
            <a:off x="4462272" y="3675888"/>
            <a:ext cx="1503641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1" name="Text 17"/>
          <p:cNvSpPr txBox="1"/>
          <p:nvPr/>
        </p:nvSpPr>
        <p:spPr>
          <a:xfrm>
            <a:off x="4462272" y="3675888"/>
            <a:ext cx="1503641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Тестовая среда — М6</a:t>
            </a:r>
            <a:endParaRPr lang="en-US" sz="900" dirty="0"/>
          </a:p>
        </p:txBody>
      </p:sp>
      <p:sp>
        <p:nvSpPr>
          <p:cNvPr id="22" name="Text 18"/>
          <p:cNvSpPr txBox="1"/>
          <p:nvPr/>
        </p:nvSpPr>
        <p:spPr>
          <a:xfrm>
            <a:off x="4462272" y="3950208"/>
            <a:ext cx="3264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Ориентир: FCA Digital Sandbox</a:t>
            </a:r>
            <a:endParaRPr lang="en-US" sz="850" dirty="0"/>
          </a:p>
        </p:txBody>
      </p:sp>
      <p:sp>
        <p:nvSpPr>
          <p:cNvPr id="23" name="go:case_digital">
            <a:hlinkClick r:id="rId4" tooltip="Кейс-ориентир" action="ppaction://hlinksldjump"/>
          </p:cNvPr>
          <p:cNvSpPr/>
          <p:nvPr/>
        </p:nvSpPr>
        <p:spPr>
          <a:xfrm>
            <a:off x="4279392" y="1810512"/>
            <a:ext cx="3630168" cy="239572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8055864" y="1810512"/>
            <a:ext cx="3630168" cy="2395728"/>
          </a:xfrm>
          <a:prstGeom prst="roundRect">
            <a:avLst>
              <a:gd name="adj" fmla="val 3817"/>
            </a:avLst>
          </a:prstGeom>
          <a:solidFill>
            <a:schemeClr val="bg2"/>
          </a:solidFill>
          <a:ln/>
        </p:spPr>
      </p:sp>
      <p:sp>
        <p:nvSpPr>
          <p:cNvPr id="25" name="Shape 21"/>
          <p:cNvSpPr/>
          <p:nvPr/>
        </p:nvSpPr>
        <p:spPr>
          <a:xfrm>
            <a:off x="8238744" y="1975104"/>
            <a:ext cx="475488" cy="475488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6" name="Image 2" descr="FlaskConical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43351" y="2079711"/>
            <a:ext cx="266273" cy="266273"/>
          </a:xfrm>
          <a:prstGeom prst="rect">
            <a:avLst/>
          </a:prstGeom>
        </p:spPr>
      </p:pic>
      <p:sp>
        <p:nvSpPr>
          <p:cNvPr id="27" name="Text 22"/>
          <p:cNvSpPr txBox="1"/>
          <p:nvPr/>
        </p:nvSpPr>
        <p:spPr>
          <a:xfrm>
            <a:off x="8833104" y="1956816"/>
            <a:ext cx="271576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chemeClr val="tx1"/>
                </a:solidFill>
              </a:rPr>
              <a:t>Регуляторный эксперимент</a:t>
            </a:r>
            <a:endParaRPr lang="en-US" sz="1400" dirty="0"/>
          </a:p>
        </p:txBody>
      </p:sp>
      <p:sp>
        <p:nvSpPr>
          <p:cNvPr id="28" name="Text 23"/>
          <p:cNvSpPr txBox="1"/>
          <p:nvPr/>
        </p:nvSpPr>
        <p:spPr>
          <a:xfrm>
            <a:off x="8833104" y="2240280"/>
            <a:ext cx="2715768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Трек полноформатной песочницы</a:t>
            </a:r>
            <a:endParaRPr lang="en-US" sz="950" dirty="0"/>
          </a:p>
        </p:txBody>
      </p:sp>
      <p:sp>
        <p:nvSpPr>
          <p:cNvPr id="29" name="Text 24"/>
          <p:cNvSpPr txBox="1"/>
          <p:nvPr/>
        </p:nvSpPr>
        <p:spPr>
          <a:xfrm>
            <a:off x="8238744" y="2596896"/>
            <a:ext cx="3264408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dirty="0">
                <a:solidFill>
                  <a:schemeClr val="tx1"/>
                </a:solidFill>
              </a:rPr>
              <a:t>Тест в реальных условиях: лимиты, меры защиты, порог остановки, при необходимости — согласие регулятора. В первой когорте — не более 3–4 пилотов.</a:t>
            </a:r>
            <a:endParaRPr lang="en-US" sz="1000" dirty="0"/>
          </a:p>
        </p:txBody>
      </p:sp>
      <p:sp>
        <p:nvSpPr>
          <p:cNvPr id="30" name="Shape 25"/>
          <p:cNvSpPr/>
          <p:nvPr/>
        </p:nvSpPr>
        <p:spPr>
          <a:xfrm>
            <a:off x="8238744" y="3675888"/>
            <a:ext cx="1733933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1" name="Text 26"/>
          <p:cNvSpPr txBox="1"/>
          <p:nvPr/>
        </p:nvSpPr>
        <p:spPr>
          <a:xfrm>
            <a:off x="8238744" y="3675888"/>
            <a:ext cx="173393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Набор — М4, допуски — М6</a:t>
            </a:r>
            <a:endParaRPr lang="en-US" sz="900" dirty="0"/>
          </a:p>
        </p:txBody>
      </p:sp>
      <p:sp>
        <p:nvSpPr>
          <p:cNvPr id="32" name="Text 27"/>
          <p:cNvSpPr txBox="1"/>
          <p:nvPr/>
        </p:nvSpPr>
        <p:spPr>
          <a:xfrm>
            <a:off x="8238744" y="3950208"/>
            <a:ext cx="326440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Ориентир: MAS: 15 из 19 с лицензией; FCA</a:t>
            </a:r>
            <a:endParaRPr lang="en-US" sz="850" dirty="0"/>
          </a:p>
        </p:txBody>
      </p:sp>
      <p:sp>
        <p:nvSpPr>
          <p:cNvPr id="33" name="go:case_mas">
            <a:hlinkClick r:id="rId6" tooltip="Кейс-ориентир" action="ppaction://hlinksldjump"/>
          </p:cNvPr>
          <p:cNvSpPr/>
          <p:nvPr/>
        </p:nvSpPr>
        <p:spPr>
          <a:xfrm>
            <a:off x="8055864" y="1810512"/>
            <a:ext cx="3630168" cy="239572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Text 29"/>
          <p:cNvSpPr txBox="1"/>
          <p:nvPr/>
        </p:nvSpPr>
        <p:spPr>
          <a:xfrm>
            <a:off x="502920" y="4352544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tx2"/>
                </a:solidFill>
              </a:rPr>
              <a:t>ПОСЛЕДУЮЩИЕ ТРЕКИ — ТОЛЬКО ПО ДАННЫМ КОГОРТЫ 1</a:t>
            </a:r>
            <a:endParaRPr lang="en-US" sz="950" dirty="0"/>
          </a:p>
        </p:txBody>
      </p:sp>
      <p:sp>
        <p:nvSpPr>
          <p:cNvPr id="35" name="Shape 30"/>
          <p:cNvSpPr/>
          <p:nvPr/>
        </p:nvSpPr>
        <p:spPr>
          <a:xfrm>
            <a:off x="2788920" y="4828032"/>
            <a:ext cx="8732520" cy="0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36" name="Shape 31"/>
          <p:cNvSpPr/>
          <p:nvPr/>
        </p:nvSpPr>
        <p:spPr>
          <a:xfrm>
            <a:off x="2788920" y="4773168"/>
            <a:ext cx="0" cy="109728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37" name="Text 32"/>
          <p:cNvSpPr txBox="1"/>
          <p:nvPr/>
        </p:nvSpPr>
        <p:spPr>
          <a:xfrm>
            <a:off x="2240280" y="45720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М3 · запуск</a:t>
            </a:r>
            <a:endParaRPr lang="en-US" sz="850" dirty="0"/>
          </a:p>
        </p:txBody>
      </p:sp>
      <p:sp>
        <p:nvSpPr>
          <p:cNvPr id="38" name="Shape 33"/>
          <p:cNvSpPr/>
          <p:nvPr/>
        </p:nvSpPr>
        <p:spPr>
          <a:xfrm>
            <a:off x="4036423" y="4773168"/>
            <a:ext cx="0" cy="109728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39" name="Text 34"/>
          <p:cNvSpPr txBox="1"/>
          <p:nvPr/>
        </p:nvSpPr>
        <p:spPr>
          <a:xfrm>
            <a:off x="3487783" y="45720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М6</a:t>
            </a:r>
            <a:endParaRPr lang="en-US" sz="850" dirty="0"/>
          </a:p>
        </p:txBody>
      </p:sp>
      <p:sp>
        <p:nvSpPr>
          <p:cNvPr id="40" name="Shape 35"/>
          <p:cNvSpPr/>
          <p:nvPr/>
        </p:nvSpPr>
        <p:spPr>
          <a:xfrm>
            <a:off x="5283926" y="4773168"/>
            <a:ext cx="0" cy="109728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41" name="Text 36"/>
          <p:cNvSpPr txBox="1"/>
          <p:nvPr/>
        </p:nvSpPr>
        <p:spPr>
          <a:xfrm>
            <a:off x="4735286" y="45720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М9</a:t>
            </a:r>
            <a:endParaRPr lang="en-US" sz="850" dirty="0"/>
          </a:p>
        </p:txBody>
      </p:sp>
      <p:sp>
        <p:nvSpPr>
          <p:cNvPr id="42" name="Shape 37"/>
          <p:cNvSpPr/>
          <p:nvPr/>
        </p:nvSpPr>
        <p:spPr>
          <a:xfrm>
            <a:off x="6531429" y="4773168"/>
            <a:ext cx="0" cy="109728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43" name="Text 38"/>
          <p:cNvSpPr txBox="1"/>
          <p:nvPr/>
        </p:nvSpPr>
        <p:spPr>
          <a:xfrm>
            <a:off x="5982789" y="45720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М12</a:t>
            </a:r>
            <a:endParaRPr lang="en-US" sz="850" dirty="0"/>
          </a:p>
        </p:txBody>
      </p:sp>
      <p:sp>
        <p:nvSpPr>
          <p:cNvPr id="44" name="Shape 39"/>
          <p:cNvSpPr/>
          <p:nvPr/>
        </p:nvSpPr>
        <p:spPr>
          <a:xfrm>
            <a:off x="7778931" y="4773168"/>
            <a:ext cx="0" cy="109728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45" name="Text 40"/>
          <p:cNvSpPr txBox="1"/>
          <p:nvPr/>
        </p:nvSpPr>
        <p:spPr>
          <a:xfrm>
            <a:off x="7230291" y="45720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М15</a:t>
            </a:r>
            <a:endParaRPr lang="en-US" sz="850" dirty="0"/>
          </a:p>
        </p:txBody>
      </p:sp>
      <p:sp>
        <p:nvSpPr>
          <p:cNvPr id="46" name="Shape 41"/>
          <p:cNvSpPr/>
          <p:nvPr/>
        </p:nvSpPr>
        <p:spPr>
          <a:xfrm>
            <a:off x="9026434" y="4773168"/>
            <a:ext cx="0" cy="109728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47" name="Text 42"/>
          <p:cNvSpPr txBox="1"/>
          <p:nvPr/>
        </p:nvSpPr>
        <p:spPr>
          <a:xfrm>
            <a:off x="8477794" y="45720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М18</a:t>
            </a:r>
            <a:endParaRPr lang="en-US" sz="850" dirty="0"/>
          </a:p>
        </p:txBody>
      </p:sp>
      <p:sp>
        <p:nvSpPr>
          <p:cNvPr id="48" name="Shape 43"/>
          <p:cNvSpPr/>
          <p:nvPr/>
        </p:nvSpPr>
        <p:spPr>
          <a:xfrm>
            <a:off x="11521440" y="4773168"/>
            <a:ext cx="0" cy="109728"/>
          </a:xfrm>
          <a:prstGeom prst="line">
            <a:avLst/>
          </a:prstGeom>
          <a:noFill/>
          <a:ln w="9525">
            <a:solidFill>
              <a:schemeClr val="tx2"/>
            </a:solidFill>
            <a:prstDash val="solid"/>
          </a:ln>
        </p:spPr>
      </p:sp>
      <p:sp>
        <p:nvSpPr>
          <p:cNvPr id="49" name="Text 44"/>
          <p:cNvSpPr txBox="1"/>
          <p:nvPr/>
        </p:nvSpPr>
        <p:spPr>
          <a:xfrm>
            <a:off x="10972800" y="4572000"/>
            <a:ext cx="10972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М24</a:t>
            </a:r>
            <a:endParaRPr lang="en-US" sz="850" dirty="0"/>
          </a:p>
        </p:txBody>
      </p:sp>
      <p:sp>
        <p:nvSpPr>
          <p:cNvPr id="50" name="Text 45"/>
          <p:cNvSpPr txBox="1"/>
          <p:nvPr/>
        </p:nvSpPr>
        <p:spPr>
          <a:xfrm>
            <a:off x="502920" y="4956048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Экспресс-трек</a:t>
            </a:r>
            <a:endParaRPr lang="en-US" sz="950" dirty="0"/>
          </a:p>
        </p:txBody>
      </p:sp>
      <p:sp>
        <p:nvSpPr>
          <p:cNvPr id="51" name="Shape 46"/>
          <p:cNvSpPr/>
          <p:nvPr/>
        </p:nvSpPr>
        <p:spPr>
          <a:xfrm>
            <a:off x="5283926" y="4956048"/>
            <a:ext cx="1247503" cy="292608"/>
          </a:xfrm>
          <a:prstGeom prst="roundRect">
            <a:avLst>
              <a:gd name="adj" fmla="val 18750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52" name="Text 47"/>
          <p:cNvSpPr txBox="1"/>
          <p:nvPr/>
        </p:nvSpPr>
        <p:spPr>
          <a:xfrm>
            <a:off x="5357078" y="4956048"/>
            <a:ext cx="11011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категории по данным когорты 1</a:t>
            </a:r>
            <a:endParaRPr lang="en-US" sz="850" dirty="0"/>
          </a:p>
        </p:txBody>
      </p:sp>
      <p:sp>
        <p:nvSpPr>
          <p:cNvPr id="53" name="Shape 48"/>
          <p:cNvSpPr/>
          <p:nvPr/>
        </p:nvSpPr>
        <p:spPr>
          <a:xfrm>
            <a:off x="7155180" y="4956048"/>
            <a:ext cx="4366260" cy="292608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/>
        </p:spPr>
      </p:sp>
      <p:sp>
        <p:nvSpPr>
          <p:cNvPr id="54" name="Text 49"/>
          <p:cNvSpPr txBox="1"/>
          <p:nvPr/>
        </p:nvSpPr>
        <p:spPr>
          <a:xfrm>
            <a:off x="7228332" y="4956048"/>
            <a:ext cx="42199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пилот ≈ с М13–М14 (MAS Express: цель 21 день, T)</a:t>
            </a:r>
            <a:endParaRPr lang="en-US" sz="850" dirty="0"/>
          </a:p>
        </p:txBody>
      </p:sp>
      <p:sp>
        <p:nvSpPr>
          <p:cNvPr id="55" name="Text 50"/>
          <p:cNvSpPr txBox="1"/>
          <p:nvPr/>
        </p:nvSpPr>
        <p:spPr>
          <a:xfrm>
            <a:off x="502920" y="530352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Трек прототипирования регулирования</a:t>
            </a:r>
            <a:endParaRPr lang="en-US" sz="950" dirty="0"/>
          </a:p>
        </p:txBody>
      </p:sp>
      <p:sp>
        <p:nvSpPr>
          <p:cNvPr id="56" name="Shape 51"/>
          <p:cNvSpPr/>
          <p:nvPr/>
        </p:nvSpPr>
        <p:spPr>
          <a:xfrm>
            <a:off x="7155180" y="5303520"/>
            <a:ext cx="4366260" cy="292608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/>
        </p:spPr>
      </p:sp>
      <p:sp>
        <p:nvSpPr>
          <p:cNvPr id="57" name="Text 52"/>
          <p:cNvSpPr txBox="1"/>
          <p:nvPr/>
        </p:nvSpPr>
        <p:spPr>
          <a:xfrm>
            <a:off x="7228332" y="5303520"/>
            <a:ext cx="421995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пилот ≈ с М13–М14; записки о выводах — при выходе когорты 1</a:t>
            </a:r>
            <a:endParaRPr lang="en-US" sz="850" dirty="0"/>
          </a:p>
        </p:txBody>
      </p:sp>
      <p:sp>
        <p:nvSpPr>
          <p:cNvPr id="58" name="Text 53"/>
          <p:cNvSpPr txBox="1"/>
          <p:nvPr/>
        </p:nvSpPr>
        <p:spPr>
          <a:xfrm>
            <a:off x="502920" y="5650992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Трансграничный трек</a:t>
            </a:r>
            <a:endParaRPr lang="en-US" sz="950" dirty="0"/>
          </a:p>
        </p:txBody>
      </p:sp>
      <p:sp>
        <p:nvSpPr>
          <p:cNvPr id="59" name="Shape 54"/>
          <p:cNvSpPr/>
          <p:nvPr/>
        </p:nvSpPr>
        <p:spPr>
          <a:xfrm>
            <a:off x="2788920" y="5650992"/>
            <a:ext cx="4116759" cy="292608"/>
          </a:xfrm>
          <a:prstGeom prst="roundRect">
            <a:avLst>
              <a:gd name="adj" fmla="val 18750"/>
            </a:avLst>
          </a:prstGeom>
          <a:solidFill>
            <a:schemeClr val="accent1">
              <a:alpha val="14000"/>
            </a:schemeClr>
          </a:solidFill>
          <a:ln w="9525">
            <a:solidFill>
              <a:schemeClr val="accent1"/>
            </a:solidFill>
            <a:prstDash val="dash"/>
          </a:ln>
        </p:spPr>
      </p:sp>
      <p:sp>
        <p:nvSpPr>
          <p:cNvPr id="60" name="Text 55"/>
          <p:cNvSpPr txBox="1"/>
          <p:nvPr/>
        </p:nvSpPr>
        <p:spPr>
          <a:xfrm>
            <a:off x="2862072" y="5650992"/>
            <a:ext cx="397045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accent5"/>
                </a:solidFill>
              </a:rPr>
              <a:t>только переговоры о MoU</a:t>
            </a:r>
            <a:endParaRPr lang="en-US" sz="850" dirty="0"/>
          </a:p>
        </p:txBody>
      </p:sp>
      <p:sp>
        <p:nvSpPr>
          <p:cNvPr id="61" name="Shape 56"/>
          <p:cNvSpPr/>
          <p:nvPr/>
        </p:nvSpPr>
        <p:spPr>
          <a:xfrm>
            <a:off x="6947263" y="5650992"/>
            <a:ext cx="4574177" cy="292608"/>
          </a:xfrm>
          <a:prstGeom prst="roundRect">
            <a:avLst>
              <a:gd name="adj" fmla="val 18750"/>
            </a:avLst>
          </a:prstGeom>
          <a:solidFill>
            <a:schemeClr val="accent1"/>
          </a:solidFill>
          <a:ln/>
        </p:spPr>
      </p:sp>
      <p:sp>
        <p:nvSpPr>
          <p:cNvPr id="62" name="Text 57"/>
          <p:cNvSpPr txBox="1"/>
          <p:nvPr/>
        </p:nvSpPr>
        <p:spPr>
          <a:xfrm>
            <a:off x="7020415" y="5650992"/>
            <a:ext cx="442787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2-й год, если выполнено условие (GFIN: 0 из 8 начали тест)</a:t>
            </a:r>
            <a:endParaRPr lang="en-US" sz="850" dirty="0"/>
          </a:p>
        </p:txBody>
      </p:sp>
      <p:sp>
        <p:nvSpPr>
          <p:cNvPr id="63" name="Text 58"/>
          <p:cNvSpPr txBox="1"/>
          <p:nvPr/>
        </p:nvSpPr>
        <p:spPr>
          <a:xfrm>
            <a:off x="502920" y="5998464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Грантовый трек</a:t>
            </a:r>
            <a:endParaRPr lang="en-US" sz="950" dirty="0"/>
          </a:p>
        </p:txBody>
      </p:sp>
      <p:sp>
        <p:nvSpPr>
          <p:cNvPr id="64" name="Text 59"/>
          <p:cNvSpPr txBox="1"/>
          <p:nvPr/>
        </p:nvSpPr>
        <p:spPr>
          <a:xfrm>
            <a:off x="2788920" y="5998464"/>
            <a:ext cx="8732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i="1" dirty="0">
                <a:solidFill>
                  <a:schemeClr val="accent4"/>
                </a:solidFill>
              </a:rPr>
              <a:t>не вводится без подтвержденного спроса (MAS Sandbox Plus: 0 одобрений)</a:t>
            </a:r>
            <a:endParaRPr lang="en-US" sz="900" dirty="0"/>
          </a:p>
        </p:txBody>
      </p:sp>
      <p:sp>
        <p:nvSpPr>
          <p:cNvPr id="65" name="source"/>
          <p:cNvSpPr txBox="1"/>
          <p:nvPr/>
        </p:nvSpPr>
        <p:spPr>
          <a:xfrm>
            <a:off x="502920" y="6400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Иллюстрации 10 и 16 отчета; карточки 3.2–3.4. Сроки — плановые допущения.</a:t>
            </a:r>
            <a:endParaRPr lang="en-US" sz="800" dirty="0"/>
          </a:p>
        </p:txBody>
      </p:sp>
      <p:sp>
        <p:nvSpPr>
          <p:cNvPr id="66" name="Text 61"/>
          <p:cNvSpPr txBox="1"/>
          <p:nvPr/>
        </p:nvSpPr>
        <p:spPr>
          <a:xfrm>
            <a:off x="6288405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67" name="go:nav">
            <a:hlinkClick r:id="rId7" tooltip="Раздел: Меню" action="ppaction://hlinksldjump"/>
          </p:cNvPr>
          <p:cNvSpPr/>
          <p:nvPr/>
        </p:nvSpPr>
        <p:spPr>
          <a:xfrm>
            <a:off x="6288405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8" name="Text 63"/>
          <p:cNvSpPr txBox="1"/>
          <p:nvPr/>
        </p:nvSpPr>
        <p:spPr>
          <a:xfrm>
            <a:off x="6819138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69" name="go:key5">
            <a:hlinkClick r:id="rId8" tooltip="Раздел: Главное" action="ppaction://hlinksldjump"/>
          </p:cNvPr>
          <p:cNvSpPr/>
          <p:nvPr/>
        </p:nvSpPr>
        <p:spPr>
          <a:xfrm>
            <a:off x="6819138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0" name="Text 65"/>
          <p:cNvSpPr txBox="1"/>
          <p:nvPr/>
        </p:nvSpPr>
        <p:spPr>
          <a:xfrm>
            <a:off x="7513955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71" name="go:numbers">
            <a:hlinkClick r:id="rId9" tooltip="Раздел: Мир" action="ppaction://hlinksldjump"/>
          </p:cNvPr>
          <p:cNvSpPr/>
          <p:nvPr/>
        </p:nvSpPr>
        <p:spPr>
          <a:xfrm>
            <a:off x="7513955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2" name="Text 67"/>
          <p:cNvSpPr txBox="1"/>
          <p:nvPr/>
        </p:nvSpPr>
        <p:spPr>
          <a:xfrm>
            <a:off x="7948168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Кейсы</a:t>
            </a:r>
            <a:endParaRPr lang="en-US" sz="950" dirty="0"/>
          </a:p>
        </p:txBody>
      </p:sp>
      <p:sp>
        <p:nvSpPr>
          <p:cNvPr id="73" name="go:casemap">
            <a:hlinkClick r:id="rId10" tooltip="Раздел: Кейсы" action="ppaction://hlinksldjump"/>
          </p:cNvPr>
          <p:cNvSpPr/>
          <p:nvPr/>
        </p:nvSpPr>
        <p:spPr>
          <a:xfrm>
            <a:off x="7948168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4" name="Shape 69"/>
          <p:cNvSpPr/>
          <p:nvPr/>
        </p:nvSpPr>
        <p:spPr>
          <a:xfrm>
            <a:off x="8544052" y="219456"/>
            <a:ext cx="727405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75" name="Text 70"/>
          <p:cNvSpPr txBox="1"/>
          <p:nvPr/>
        </p:nvSpPr>
        <p:spPr>
          <a:xfrm>
            <a:off x="8544052" y="219456"/>
            <a:ext cx="7274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Модель</a:t>
            </a:r>
            <a:endParaRPr lang="en-US" sz="950" dirty="0"/>
          </a:p>
        </p:txBody>
      </p:sp>
      <p:sp>
        <p:nvSpPr>
          <p:cNvPr id="76" name="go:ecosystem">
            <a:hlinkClick r:id="rId11" tooltip="Раздел: Модель" action="ppaction://hlinksldjump"/>
          </p:cNvPr>
          <p:cNvSpPr/>
          <p:nvPr/>
        </p:nvSpPr>
        <p:spPr>
          <a:xfrm>
            <a:off x="8544052" y="219456"/>
            <a:ext cx="727405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7" name="Text 72"/>
          <p:cNvSpPr txBox="1"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78" name="go:path">
            <a:hlinkClick r:id="rId12" tooltip="Раздел: Этапы" action="ppaction://hlinksldjump"/>
          </p:cNvPr>
          <p:cNvSpPr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9" name="Text 74"/>
          <p:cNvSpPr txBox="1"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80" name="go:criteria">
            <a:hlinkClick r:id="rId13" tooltip="Раздел: Защита" action="ppaction://hlinksldjump"/>
          </p:cNvPr>
          <p:cNvSpPr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1" name="Text 76"/>
          <p:cNvSpPr txBox="1"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82" name="go:pilots">
            <a:hlinkClick r:id="rId14" tooltip="Раздел: Пилоты" action="ppaction://hlinksldjump"/>
          </p:cNvPr>
          <p:cNvSpPr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3" name="Text 78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84" name="go:plan90">
            <a:hlinkClick r:id="rId15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Почему МЦЦТ: охват новых технологий и сроки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Лидеры уже имеют подтвержденные результаты: МЦЦТ не нужно конкурировать за поток финтех-проектов</a:t>
            </a:r>
            <a:endParaRPr lang="en-US" sz="1400" dirty="0"/>
          </a:p>
        </p:txBody>
      </p:sp>
      <p:graphicFrame>
        <p:nvGraphicFramePr>
          <p:cNvPr id="21" name="table positioning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10512"/>
          <a:ext cx="7498080" cy="914400"/>
        </p:xfrm>
        <a:graphic>
          <a:graphicData uri="http://schemas.openxmlformats.org/drawingml/2006/table">
            <a:tbl>
              <a:tblPr/>
              <a:tblGrid>
                <a:gridCol w="1188720"/>
                <a:gridCol w="1463040"/>
                <a:gridCol w="1691640"/>
                <a:gridCol w="1463040"/>
                <a:gridCol w="1691640"/>
              </a:tblGrid>
              <a:tr h="384048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Параметр</a:t>
                      </a:r>
                      <a:endParaRPr lang="en-US" sz="9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Сингапур (MAS)</a:t>
                      </a:r>
                      <a:endParaRPr lang="en-US" sz="9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Великобритания (FCA, ICO, Ofgem)</a:t>
                      </a:r>
                      <a:endParaRPr lang="en-US" sz="9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ОАЭ (ADGM, DFSA)</a:t>
                      </a:r>
                      <a:endParaRPr lang="en-US" sz="9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tx2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50" b="1" dirty="0">
                          <a:solidFill>
                            <a:schemeClr val="bg1"/>
                          </a:solidFill>
                        </a:rPr>
                        <a:t>МЦЦТ (предлагается)</a:t>
                      </a:r>
                      <a:endParaRPr lang="en-US" sz="950" dirty="0"/>
                    </a:p>
                  </a:txBody>
                  <a:tcPr marL="64008" marR="64008" marT="45720" marB="45720" anchor="ctr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1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2925"/>
                          </a:solidFill>
                        </a:rPr>
                        <a:t>Сфера охвата</a:t>
                      </a:r>
                      <a:endParaRPr lang="en-US" sz="9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2925"/>
                          </a:solidFill>
                        </a:rPr>
                        <a:t>Финансовые услуги; три трека</a:t>
                      </a:r>
                      <a:endParaRPr lang="en-US" sz="9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2925"/>
                          </a:solidFill>
                        </a:rPr>
                        <a:t>Своя песочница у каждого регулятора: финансы, данные, энергетика</a:t>
                      </a:r>
                      <a:endParaRPr lang="en-US" sz="9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2925"/>
                          </a:solidFill>
                        </a:rPr>
                        <a:t>Финансовые услуги</a:t>
                      </a:r>
                      <a:endParaRPr lang="en-US" sz="9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</a:rPr>
                        <a:t>«Единое окно» для ИИ, данных, торговых технологий и цифровой идентификации (S; A)</a:t>
                      </a:r>
                      <a:endParaRPr lang="en-US" sz="9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60350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2925"/>
                          </a:solidFill>
                        </a:rPr>
                        <a:t>Результаты</a:t>
                      </a:r>
                      <a:endParaRPr lang="en-US" sz="9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2925"/>
                          </a:solidFill>
                        </a:rPr>
                        <a:t>15 из 19 вышли с лицензией (R)</a:t>
                      </a:r>
                      <a:endParaRPr lang="en-US" sz="9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2925"/>
                          </a:solidFill>
                        </a:rPr>
                        <a:t>FCA: 172 из 629 принято (R); +15% к капиталу (I)</a:t>
                      </a:r>
                      <a:endParaRPr lang="en-US" sz="9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2925"/>
                          </a:solidFill>
                        </a:rPr>
                        <a:t>ADGM: 32 из 83 (R); DFSA: 67 из 130 (R)</a:t>
                      </a:r>
                      <a:endParaRPr lang="en-US" sz="9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</a:rPr>
                        <a:t>Пока нет</a:t>
                      </a:r>
                      <a:endParaRPr lang="en-US" sz="9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71323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2925"/>
                          </a:solidFill>
                        </a:rPr>
                        <a:t>Срок рассмотрения</a:t>
                      </a:r>
                      <a:endParaRPr lang="en-US" sz="9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2925"/>
                          </a:solidFill>
                        </a:rPr>
                        <a:t>Медиана ≈ 3 мес. (R); Express: цель 21 день (T)</a:t>
                      </a:r>
                      <a:endParaRPr lang="en-US" sz="9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2925"/>
                          </a:solidFill>
                        </a:rPr>
                        <a:t>FCA: 2–3 и 8–12 недель — ориентиры (T)</a:t>
                      </a:r>
                      <a:endParaRPr lang="en-US" sz="9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2925"/>
                          </a:solidFill>
                        </a:rPr>
                        <a:t>DFSA: обычно 10–12 недель (T)</a:t>
                      </a:r>
                      <a:endParaRPr lang="en-US" sz="9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</a:rPr>
                        <a:t>50 р. д. (плановое допущение) и ежеквартальный отчет о соблюдении</a:t>
                      </a:r>
                      <a:endParaRPr lang="en-US" sz="9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2925"/>
                          </a:solidFill>
                        </a:rPr>
                        <a:t>Выход</a:t>
                      </a:r>
                      <a:endParaRPr lang="en-US" sz="9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2925"/>
                          </a:solidFill>
                        </a:rPr>
                        <a:t>В действующее лицензирование</a:t>
                      </a:r>
                      <a:endParaRPr lang="en-US" sz="9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2925"/>
                          </a:solidFill>
                        </a:rPr>
                        <a:t>FCA: через ограниченное разрешение</a:t>
                      </a:r>
                      <a:endParaRPr lang="en-US" sz="9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2925"/>
                          </a:solidFill>
                        </a:rPr>
                        <a:t>DFSA: требования полного разрешения</a:t>
                      </a:r>
                      <a:endParaRPr lang="en-US" sz="9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5"/>
                          </a:solidFill>
                        </a:rPr>
                        <a:t>Варианты выхода — при допуске</a:t>
                      </a:r>
                      <a:endParaRPr lang="en-US" sz="9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0F2925"/>
                          </a:solidFill>
                        </a:rPr>
                        <a:t>Пока не доказано</a:t>
                      </a:r>
                      <a:endParaRPr lang="en-US" sz="9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292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292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0F2925"/>
                          </a:solidFill>
                        </a:rPr>
                        <a:t>—</a:t>
                      </a:r>
                      <a:endParaRPr lang="en-US" sz="9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chemeClr val="accent4"/>
                          </a:solidFill>
                        </a:rPr>
                        <a:t>Результаты, правовая основа, MoU о признании, спрос</a:t>
                      </a:r>
                      <a:endParaRPr lang="en-US" sz="900" dirty="0"/>
                    </a:p>
                  </a:txBody>
                  <a:tcPr marL="64008" marR="64008" marT="45720" marB="45720" anchor="t">
                    <a:lnL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F1F6F4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8183880" y="1810512"/>
            <a:ext cx="3502152" cy="4315968"/>
          </a:xfrm>
          <a:prstGeom prst="roundRect">
            <a:avLst>
              <a:gd name="adj" fmla="val 2611"/>
            </a:avLst>
          </a:prstGeom>
          <a:solidFill>
            <a:schemeClr val="bg2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8366760" y="1920240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УСЛУГИ ПРИ ЗАПУСКЕ</a:t>
            </a:r>
            <a:endParaRPr lang="en-US" sz="950" dirty="0"/>
          </a:p>
        </p:txBody>
      </p:sp>
      <p:pic>
        <p:nvPicPr>
          <p:cNvPr id="7" name="Image 0" descr="CircleCheck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66760" y="2212848"/>
            <a:ext cx="201168" cy="201168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8641080" y="219456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Опубликованные позиции (разъяснения)</a:t>
            </a:r>
            <a:endParaRPr lang="en-US" sz="950" dirty="0"/>
          </a:p>
        </p:txBody>
      </p:sp>
      <p:pic>
        <p:nvPicPr>
          <p:cNvPr id="9" name="Image 1" descr="Circle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366760" y="2551176"/>
            <a:ext cx="201168" cy="201168"/>
          </a:xfrm>
          <a:prstGeom prst="rect">
            <a:avLst/>
          </a:prstGeom>
        </p:spPr>
      </p:pic>
      <p:sp>
        <p:nvSpPr>
          <p:cNvPr id="10" name="Text 5"/>
          <p:cNvSpPr txBox="1"/>
          <p:nvPr/>
        </p:nvSpPr>
        <p:spPr>
          <a:xfrm>
            <a:off x="8641080" y="253288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Предварительная проверка — 10 р. д.</a:t>
            </a:r>
            <a:endParaRPr lang="en-US" sz="950" dirty="0"/>
          </a:p>
        </p:txBody>
      </p:sp>
      <p:pic>
        <p:nvPicPr>
          <p:cNvPr id="11" name="Image 2" descr="CircleChec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66760" y="2889504"/>
            <a:ext cx="201168" cy="201168"/>
          </a:xfrm>
          <a:prstGeom prst="rect">
            <a:avLst/>
          </a:prstGeom>
        </p:spPr>
      </p:pic>
      <p:sp>
        <p:nvSpPr>
          <p:cNvPr id="12" name="Text 6"/>
          <p:cNvSpPr txBox="1"/>
          <p:nvPr/>
        </p:nvSpPr>
        <p:spPr>
          <a:xfrm>
            <a:off x="8641080" y="2871216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Закрепленный куратор проекта</a:t>
            </a:r>
            <a:endParaRPr lang="en-US" sz="950" dirty="0"/>
          </a:p>
        </p:txBody>
      </p:sp>
      <p:pic>
        <p:nvPicPr>
          <p:cNvPr id="13" name="Image 3" descr="Circle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366760" y="3227832"/>
            <a:ext cx="201168" cy="201168"/>
          </a:xfrm>
          <a:prstGeom prst="rect">
            <a:avLst/>
          </a:prstGeom>
        </p:spPr>
      </p:pic>
      <p:sp>
        <p:nvSpPr>
          <p:cNvPr id="14" name="Text 7"/>
          <p:cNvSpPr txBox="1"/>
          <p:nvPr/>
        </p:nvSpPr>
        <p:spPr>
          <a:xfrm>
            <a:off x="8641080" y="3209544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Условия теста и меры защиты в Правилах</a:t>
            </a:r>
            <a:endParaRPr lang="en-US" sz="950" dirty="0"/>
          </a:p>
        </p:txBody>
      </p:sp>
      <p:pic>
        <p:nvPicPr>
          <p:cNvPr id="15" name="Image 4" descr="CircleCheck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366760" y="3566160"/>
            <a:ext cx="201168" cy="201168"/>
          </a:xfrm>
          <a:prstGeom prst="rect">
            <a:avLst/>
          </a:prstGeom>
        </p:spPr>
      </p:pic>
      <p:sp>
        <p:nvSpPr>
          <p:cNvPr id="16" name="Text 8"/>
          <p:cNvSpPr txBox="1"/>
          <p:nvPr/>
        </p:nvSpPr>
        <p:spPr>
          <a:xfrm>
            <a:off x="8641080" y="3547872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Регуляторная гибкость с М6 — только нормы в ведении МЦЦТ</a:t>
            </a:r>
            <a:endParaRPr lang="en-US" sz="950" dirty="0"/>
          </a:p>
        </p:txBody>
      </p:sp>
      <p:pic>
        <p:nvPicPr>
          <p:cNvPr id="17" name="Image 5" descr="Circle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366760" y="3904488"/>
            <a:ext cx="201168" cy="201168"/>
          </a:xfrm>
          <a:prstGeom prst="rect">
            <a:avLst/>
          </a:prstGeom>
        </p:spPr>
      </p:pic>
      <p:sp>
        <p:nvSpPr>
          <p:cNvPr id="18" name="Text 9"/>
          <p:cNvSpPr txBox="1"/>
          <p:nvPr/>
        </p:nvSpPr>
        <p:spPr>
          <a:xfrm>
            <a:off x="8641080" y="3886200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Платформа заявок; тестовая среда — М6</a:t>
            </a:r>
            <a:endParaRPr lang="en-US" sz="950" dirty="0"/>
          </a:p>
        </p:txBody>
      </p:sp>
      <p:pic>
        <p:nvPicPr>
          <p:cNvPr id="19" name="Image 6" descr="CircleCheck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366760" y="4242816"/>
            <a:ext cx="201168" cy="201168"/>
          </a:xfrm>
          <a:prstGeom prst="rect">
            <a:avLst/>
          </a:prstGeom>
        </p:spPr>
      </p:pic>
      <p:sp>
        <p:nvSpPr>
          <p:cNvPr id="20" name="Text 10"/>
          <p:cNvSpPr txBox="1"/>
          <p:nvPr/>
        </p:nvSpPr>
        <p:spPr>
          <a:xfrm>
            <a:off x="8641080" y="4224528"/>
            <a:ext cx="29260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Контакты с лицензирующими органами</a:t>
            </a:r>
            <a:endParaRPr lang="en-US" sz="950" dirty="0"/>
          </a:p>
        </p:txBody>
      </p:sp>
      <p:sp>
        <p:nvSpPr>
          <p:cNvPr id="21" name="Text 11"/>
          <p:cNvSpPr txBox="1"/>
          <p:nvPr/>
        </p:nvSpPr>
        <p:spPr>
          <a:xfrm>
            <a:off x="8366760" y="4626864"/>
            <a:ext cx="31089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tx2"/>
                </a:solidFill>
              </a:rPr>
              <a:t>ПОЗЖЕ — КОНКУРЕНТНОЕ ОТЛИЧИЕ</a:t>
            </a:r>
            <a:endParaRPr lang="en-US" sz="950" dirty="0"/>
          </a:p>
        </p:txBody>
      </p:sp>
      <p:sp>
        <p:nvSpPr>
          <p:cNvPr id="22" name="Text 12"/>
          <p:cNvSpPr txBox="1"/>
          <p:nvPr/>
        </p:nvSpPr>
        <p:spPr>
          <a:xfrm>
            <a:off x="8366760" y="4901184"/>
            <a:ext cx="315468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Экспресс-решения за 21 календарный день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Больше данных и вычислений; постоянная лаборатория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Демо-дни и доступ к инвесторам</a:t>
            </a:r>
            <a:endParaRPr lang="en-US" sz="950" dirty="0"/>
          </a:p>
        </p:txBody>
      </p:sp>
      <p:sp>
        <p:nvSpPr>
          <p:cNvPr id="23" name="Shape 13"/>
          <p:cNvSpPr/>
          <p:nvPr/>
        </p:nvSpPr>
        <p:spPr>
          <a:xfrm>
            <a:off x="502920" y="5440680"/>
            <a:ext cx="7498080" cy="685800"/>
          </a:xfrm>
          <a:prstGeom prst="roundRect">
            <a:avLst>
              <a:gd name="adj" fmla="val 10667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24" name="Text 14"/>
          <p:cNvSpPr txBox="1"/>
          <p:nvPr/>
        </p:nvSpPr>
        <p:spPr>
          <a:xfrm>
            <a:off x="640080" y="5440680"/>
            <a:ext cx="72237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Позиционирование:</a:t>
            </a:r>
            <a:r>
              <a:rPr lang="en-US" sz="1000" dirty="0">
                <a:solidFill>
                  <a:schemeClr val="tx1"/>
                </a:solidFill>
              </a:rPr>
              <a:t> конкурировать охватом новых технологий и опубликованными сроками принятия решений, а не числом финтех-проектов; не заявлять о превосходстве над давно действующими песочницами.</a:t>
            </a:r>
            <a:endParaRPr lang="en-US" sz="1000" dirty="0"/>
          </a:p>
        </p:txBody>
      </p:sp>
      <p:sp>
        <p:nvSpPr>
          <p:cNvPr id="25" name="source"/>
          <p:cNvSpPr txBox="1"/>
          <p:nvPr/>
        </p:nvSpPr>
        <p:spPr>
          <a:xfrm>
            <a:off x="502920" y="6400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Иллюстрации 11 и 11a отчета: [S1] [S2] [S3] [S7] [S8] [S14] [S27] [S39] [S49] [S50]. Столбцы напрямую не сопоставимы.</a:t>
            </a:r>
            <a:endParaRPr lang="en-US" sz="800" dirty="0"/>
          </a:p>
        </p:txBody>
      </p:sp>
      <p:sp>
        <p:nvSpPr>
          <p:cNvPr id="26" name="Text 16"/>
          <p:cNvSpPr txBox="1"/>
          <p:nvPr/>
        </p:nvSpPr>
        <p:spPr>
          <a:xfrm>
            <a:off x="6288405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27" name="go:nav">
            <a:hlinkClick r:id="rId8" tooltip="Раздел: Меню" action="ppaction://hlinksldjump"/>
          </p:cNvPr>
          <p:cNvSpPr/>
          <p:nvPr/>
        </p:nvSpPr>
        <p:spPr>
          <a:xfrm>
            <a:off x="6288405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8" name="Text 18"/>
          <p:cNvSpPr txBox="1"/>
          <p:nvPr/>
        </p:nvSpPr>
        <p:spPr>
          <a:xfrm>
            <a:off x="6819138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29" name="go:key5">
            <a:hlinkClick r:id="rId9" tooltip="Раздел: Главное" action="ppaction://hlinksldjump"/>
          </p:cNvPr>
          <p:cNvSpPr/>
          <p:nvPr/>
        </p:nvSpPr>
        <p:spPr>
          <a:xfrm>
            <a:off x="6819138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0" name="Text 20"/>
          <p:cNvSpPr txBox="1"/>
          <p:nvPr/>
        </p:nvSpPr>
        <p:spPr>
          <a:xfrm>
            <a:off x="7513955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31" name="go:numbers">
            <a:hlinkClick r:id="rId10" tooltip="Раздел: Мир" action="ppaction://hlinksldjump"/>
          </p:cNvPr>
          <p:cNvSpPr/>
          <p:nvPr/>
        </p:nvSpPr>
        <p:spPr>
          <a:xfrm>
            <a:off x="7513955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2" name="Text 22"/>
          <p:cNvSpPr txBox="1"/>
          <p:nvPr/>
        </p:nvSpPr>
        <p:spPr>
          <a:xfrm>
            <a:off x="7948168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Кейсы</a:t>
            </a:r>
            <a:endParaRPr lang="en-US" sz="950" dirty="0"/>
          </a:p>
        </p:txBody>
      </p:sp>
      <p:sp>
        <p:nvSpPr>
          <p:cNvPr id="33" name="go:casemap">
            <a:hlinkClick r:id="rId11" tooltip="Раздел: Кейсы" action="ppaction://hlinksldjump"/>
          </p:cNvPr>
          <p:cNvSpPr/>
          <p:nvPr/>
        </p:nvSpPr>
        <p:spPr>
          <a:xfrm>
            <a:off x="7948168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Shape 24"/>
          <p:cNvSpPr/>
          <p:nvPr/>
        </p:nvSpPr>
        <p:spPr>
          <a:xfrm>
            <a:off x="8544052" y="219456"/>
            <a:ext cx="727405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35" name="Text 25"/>
          <p:cNvSpPr txBox="1"/>
          <p:nvPr/>
        </p:nvSpPr>
        <p:spPr>
          <a:xfrm>
            <a:off x="8544052" y="219456"/>
            <a:ext cx="7274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Модель</a:t>
            </a:r>
            <a:endParaRPr lang="en-US" sz="950" dirty="0"/>
          </a:p>
        </p:txBody>
      </p:sp>
      <p:sp>
        <p:nvSpPr>
          <p:cNvPr id="36" name="go:ecosystem">
            <a:hlinkClick r:id="rId12" tooltip="Раздел: Модель" action="ppaction://hlinksldjump"/>
          </p:cNvPr>
          <p:cNvSpPr/>
          <p:nvPr/>
        </p:nvSpPr>
        <p:spPr>
          <a:xfrm>
            <a:off x="8544052" y="219456"/>
            <a:ext cx="727405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7" name="Text 27"/>
          <p:cNvSpPr txBox="1"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38" name="go:path">
            <a:hlinkClick r:id="rId13" tooltip="Раздел: Этапы" action="ppaction://hlinksldjump"/>
          </p:cNvPr>
          <p:cNvSpPr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9" name="Text 29"/>
          <p:cNvSpPr txBox="1"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40" name="go:criteria">
            <a:hlinkClick r:id="rId14" tooltip="Раздел: Защита" action="ppaction://hlinksldjump"/>
          </p:cNvPr>
          <p:cNvSpPr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1" name="Text 31"/>
          <p:cNvSpPr txBox="1"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42" name="go:pilots">
            <a:hlinkClick r:id="rId15" tooltip="Раздел: Пилоты" action="ppaction://hlinksldjump"/>
          </p:cNvPr>
          <p:cNvSpPr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3" name="Text 33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44" name="go:plan90">
            <a:hlinkClick r:id="rId16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Правовая основа и статус проверки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Что установлено законом, что предлагается МЦЦТ и что берем из международной практики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10512"/>
            <a:ext cx="3575304" cy="2542032"/>
          </a:xfrm>
          <a:prstGeom prst="roundRect">
            <a:avLst>
              <a:gd name="adj" fmla="val 3597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685800" y="1975104"/>
            <a:ext cx="733457" cy="237744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975104"/>
            <a:ext cx="733457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ЗАКОН</a:t>
            </a:r>
            <a:endParaRPr lang="en-US" sz="85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13432"/>
            <a:ext cx="3209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Конституционный закон о Центре (ЗРУ-1169), статьи 39–43*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798064"/>
            <a:ext cx="325526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Песочница и экспериментальный правовой режим (W); временное освобождение от отдельных требований (S)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Срок теста — до 12 месяцев, если Совет не установит иной (S)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Требования к плану — ст. 41*; продолжение и расширение в Центре — решение Совета (ст. 43*)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В силу с 21.01.2027 — по данным одного издания; до этого — указы (УП-233)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306824" y="1810512"/>
            <a:ext cx="3575304" cy="2542032"/>
          </a:xfrm>
          <a:prstGeom prst="roundRect">
            <a:avLst>
              <a:gd name="adj" fmla="val 3597"/>
            </a:avLst>
          </a:prstGeom>
          <a:solidFill>
            <a:schemeClr val="bg2"/>
          </a:solidFill>
          <a:ln/>
        </p:spPr>
      </p:sp>
      <p:sp>
        <p:nvSpPr>
          <p:cNvPr id="10" name="Shape 8"/>
          <p:cNvSpPr/>
          <p:nvPr/>
        </p:nvSpPr>
        <p:spPr>
          <a:xfrm>
            <a:off x="4489704" y="1975104"/>
            <a:ext cx="1299439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489704" y="1975104"/>
            <a:ext cx="1299439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ПРЕДЛАГАЕТСЯ</a:t>
            </a:r>
            <a:endParaRPr lang="en-US" sz="850" dirty="0"/>
          </a:p>
        </p:txBody>
      </p:sp>
      <p:sp>
        <p:nvSpPr>
          <p:cNvPr id="12" name="Text 10"/>
          <p:cNvSpPr txBox="1"/>
          <p:nvPr/>
        </p:nvSpPr>
        <p:spPr>
          <a:xfrm>
            <a:off x="4489704" y="2313432"/>
            <a:ext cx="3209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Организационная модель МЦЦТ: подлежит согласованию</a:t>
            </a:r>
            <a:endParaRPr lang="en-US" sz="1200" dirty="0"/>
          </a:p>
        </p:txBody>
      </p:sp>
      <p:sp>
        <p:nvSpPr>
          <p:cNvPr id="13" name="Text 11"/>
          <p:cNvSpPr txBox="1"/>
          <p:nvPr/>
        </p:nvSpPr>
        <p:spPr>
          <a:xfrm>
            <a:off x="4489704" y="2798064"/>
            <a:ext cx="325526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Единая точка входа, семь этапов, выбор формата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Комитет по песочнице по делегированию Совета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Правила песочницы: проект — День 75, принятие — М4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Data Lake, фокус-группы, взаимодействие с IT Park</a:t>
            </a:r>
            <a:endParaRPr lang="en-US" sz="950" dirty="0"/>
          </a:p>
        </p:txBody>
      </p:sp>
      <p:sp>
        <p:nvSpPr>
          <p:cNvPr id="14" name="Shape 12"/>
          <p:cNvSpPr/>
          <p:nvPr/>
        </p:nvSpPr>
        <p:spPr>
          <a:xfrm>
            <a:off x="8110728" y="1810512"/>
            <a:ext cx="3575304" cy="2542032"/>
          </a:xfrm>
          <a:prstGeom prst="roundRect">
            <a:avLst>
              <a:gd name="adj" fmla="val 3597"/>
            </a:avLst>
          </a:prstGeom>
          <a:solidFill>
            <a:schemeClr val="bg2"/>
          </a:solidFill>
          <a:ln/>
        </p:spPr>
      </p:sp>
      <p:sp>
        <p:nvSpPr>
          <p:cNvPr id="15" name="Shape 13"/>
          <p:cNvSpPr/>
          <p:nvPr/>
        </p:nvSpPr>
        <p:spPr>
          <a:xfrm>
            <a:off x="8293608" y="1975104"/>
            <a:ext cx="2059240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8293608" y="1975104"/>
            <a:ext cx="2059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tx2"/>
                </a:solidFill>
              </a:rPr>
              <a:t>МЕЖДУНАРОДНЫЙ ОРИЕНТИР</a:t>
            </a:r>
            <a:endParaRPr lang="en-US" sz="850" dirty="0"/>
          </a:p>
        </p:txBody>
      </p:sp>
      <p:sp>
        <p:nvSpPr>
          <p:cNvPr id="17" name="Text 15"/>
          <p:cNvSpPr txBox="1"/>
          <p:nvPr/>
        </p:nvSpPr>
        <p:spPr>
          <a:xfrm>
            <a:off x="8293608" y="2313432"/>
            <a:ext cx="32095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Подтверждают отдельные инструменты, а не модель целиком</a:t>
            </a:r>
            <a:endParaRPr lang="en-US" sz="1200" dirty="0"/>
          </a:p>
        </p:txBody>
      </p:sp>
      <p:sp>
        <p:nvSpPr>
          <p:cNvPr id="18" name="Text 16"/>
          <p:cNvSpPr txBox="1"/>
          <p:nvPr/>
        </p:nvSpPr>
        <p:spPr>
          <a:xfrm>
            <a:off x="8293608" y="2798064"/>
            <a:ext cx="3255264" cy="15179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FCA может менять только собственные правила, но не закон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Зарубежные лицензии, сроки и освобождения не переносятся автоматически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В обзоре отчета: FCA, ICO, Ofgem, MAS, ADGM, DFSA, HKMA, SAMA, ASIC, ЕС, Япония, Корея</a:t>
            </a:r>
            <a:endParaRPr lang="en-US" sz="950" dirty="0"/>
          </a:p>
          <a:p>
            <a:pPr marL="139700" indent="-139700">
              <a:spcAft>
                <a:spcPts val="3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AFSA — лишь в Илл. 20 и Прил. A; ЦБ Ирландии в отчете нет</a:t>
            </a:r>
            <a:endParaRPr lang="en-US" sz="950" dirty="0"/>
          </a:p>
        </p:txBody>
      </p:sp>
      <p:sp>
        <p:nvSpPr>
          <p:cNvPr id="19" name="Text 17"/>
          <p:cNvSpPr txBox="1"/>
          <p:nvPr/>
        </p:nvSpPr>
        <p:spPr>
          <a:xfrm>
            <a:off x="502920" y="4407408"/>
            <a:ext cx="1118311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* Номера статей — по рабочим материалам МЦЦТ (W); с официальным текстом закона не сверены.</a:t>
            </a:r>
            <a:endParaRPr lang="en-US" sz="900" dirty="0"/>
          </a:p>
        </p:txBody>
      </p:sp>
      <p:sp>
        <p:nvSpPr>
          <p:cNvPr id="20" name="Text 18"/>
          <p:cNvSpPr txBox="1"/>
          <p:nvPr/>
        </p:nvSpPr>
        <p:spPr>
          <a:xfrm>
            <a:off x="502920" y="470001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ПРАВОВОЙ СПРИНТ: ПЕРВЫЕ ВОПРОСЫ ЮРИСТАМ (ДНИ 20–25)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502920" y="4974336"/>
            <a:ext cx="1737360" cy="1152144"/>
          </a:xfrm>
          <a:prstGeom prst="roundRect">
            <a:avLst>
              <a:gd name="adj" fmla="val 634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12648" y="504748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1</a:t>
            </a:r>
            <a:endParaRPr lang="en-US" sz="1100" dirty="0"/>
          </a:p>
        </p:txBody>
      </p:sp>
      <p:sp>
        <p:nvSpPr>
          <p:cNvPr id="23" name="Text 21"/>
          <p:cNvSpPr txBox="1"/>
          <p:nvPr/>
        </p:nvSpPr>
        <p:spPr>
          <a:xfrm>
            <a:off x="612648" y="5285232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Кто вводит песочницу и устанавливает объем освобождений: Совет или Администрация?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2331720" y="4974336"/>
            <a:ext cx="1737360" cy="1152144"/>
          </a:xfrm>
          <a:prstGeom prst="roundRect">
            <a:avLst>
              <a:gd name="adj" fmla="val 634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2441448" y="504748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2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2441448" y="5285232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Может ли Совет делегировать допуск Комитету? Иначе — решения Совета в заочном порядке</a:t>
            </a:r>
            <a:endParaRPr lang="en-US" sz="900" dirty="0"/>
          </a:p>
        </p:txBody>
      </p:sp>
      <p:sp>
        <p:nvSpPr>
          <p:cNvPr id="27" name="Shape 25"/>
          <p:cNvSpPr/>
          <p:nvPr/>
        </p:nvSpPr>
        <p:spPr>
          <a:xfrm>
            <a:off x="4160520" y="4974336"/>
            <a:ext cx="1737360" cy="1152144"/>
          </a:xfrm>
          <a:prstGeom prst="roundRect">
            <a:avLst>
              <a:gd name="adj" fmla="val 634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4270248" y="504748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3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4270248" y="5285232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Какие акты Совета действуют до вступления закона в силу?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5989320" y="4974336"/>
            <a:ext cx="1737360" cy="1152144"/>
          </a:xfrm>
          <a:prstGeom prst="roundRect">
            <a:avLst>
              <a:gd name="adj" fmla="val 6349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31" name="Text 29"/>
          <p:cNvSpPr txBox="1"/>
          <p:nvPr/>
        </p:nvSpPr>
        <p:spPr>
          <a:xfrm>
            <a:off x="6099048" y="5047488"/>
            <a:ext cx="2743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4</a:t>
            </a:r>
            <a:endParaRPr lang="en-US" sz="1100" dirty="0"/>
          </a:p>
        </p:txBody>
      </p:sp>
      <p:sp>
        <p:nvSpPr>
          <p:cNvPr id="32" name="Text 30"/>
          <p:cNvSpPr txBox="1"/>
          <p:nvPr/>
        </p:nvSpPr>
        <p:spPr>
          <a:xfrm>
            <a:off x="6099048" y="5285232"/>
            <a:ext cx="153619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Как разграничить режимы с ЦБ (песочница в финуслугах, до 3 лет) и NAPP?</a:t>
            </a:r>
            <a:endParaRPr lang="en-US" sz="900" dirty="0"/>
          </a:p>
        </p:txBody>
      </p:sp>
      <p:sp>
        <p:nvSpPr>
          <p:cNvPr id="33" name="go:plan90">
            <a:hlinkClick r:id="rId1" tooltip="План на 90 дней" action="ppaction://hlinksldjump"/>
          </p:cNvPr>
          <p:cNvSpPr/>
          <p:nvPr/>
        </p:nvSpPr>
        <p:spPr>
          <a:xfrm>
            <a:off x="502920" y="4974336"/>
            <a:ext cx="7223760" cy="1152144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4" name="Shape 32"/>
          <p:cNvSpPr/>
          <p:nvPr/>
        </p:nvSpPr>
        <p:spPr>
          <a:xfrm>
            <a:off x="7909560" y="4700016"/>
            <a:ext cx="3776472" cy="1426464"/>
          </a:xfrm>
          <a:prstGeom prst="roundRect">
            <a:avLst>
              <a:gd name="adj" fmla="val 6410"/>
            </a:avLst>
          </a:prstGeom>
          <a:solidFill>
            <a:schemeClr val="accent4">
              <a:alpha val="8000"/>
            </a:schemeClr>
          </a:solidFill>
          <a:ln/>
        </p:spPr>
      </p:sp>
      <p:sp>
        <p:nvSpPr>
          <p:cNvPr id="35" name="Text 33"/>
          <p:cNvSpPr txBox="1"/>
          <p:nvPr/>
        </p:nvSpPr>
        <p:spPr>
          <a:xfrm>
            <a:off x="8074152" y="4791456"/>
            <a:ext cx="34747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chemeClr val="accent4"/>
                </a:solidFill>
              </a:rPr>
              <a:t>ЕСЛИ ОСНОВА ОКАЖЕТСЯ УЖЕ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8074152" y="5029200"/>
            <a:ext cx="3474720" cy="1051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Сохраняются:</a:t>
            </a:r>
            <a:r>
              <a:rPr lang="en-US" sz="950" dirty="0">
                <a:solidFill>
                  <a:schemeClr val="tx1"/>
                </a:solidFill>
              </a:rPr>
              <a:t> Трек разъяснений (мнения без обязательной силы), Комитет (решения Совета — запасной вариант), договорные меры защиты. </a:t>
            </a:r>
            <a:r>
              <a:rPr lang="en-US" sz="950" b="1" dirty="0">
                <a:solidFill>
                  <a:schemeClr val="tx1"/>
                </a:solidFill>
              </a:rPr>
              <a:t>Зависят от подтверждения:</a:t>
            </a:r>
            <a:r>
              <a:rPr lang="en-US" sz="950" dirty="0">
                <a:solidFill>
                  <a:schemeClr val="tx1"/>
                </a:solidFill>
              </a:rPr>
              <a:t> освобождения, Экспресс-трек, прототипирование.</a:t>
            </a:r>
            <a:endParaRPr lang="en-US" sz="950" dirty="0"/>
          </a:p>
        </p:txBody>
      </p:sp>
      <p:sp>
        <p:nvSpPr>
          <p:cNvPr id="37" name="source"/>
          <p:cNvSpPr txBox="1"/>
          <p:nvPr/>
        </p:nvSpPr>
        <p:spPr>
          <a:xfrm>
            <a:off x="502920" y="6400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Раздел 5.6 и Приложение C отчета: [S27] Gazeta.uz; [S28] lex.uz, УП-233; [S31] рабочие материалы (W); [S57] lex.uz, ЗРУ-1169.</a:t>
            </a:r>
            <a:endParaRPr lang="en-US" sz="800" dirty="0"/>
          </a:p>
        </p:txBody>
      </p:sp>
      <p:sp>
        <p:nvSpPr>
          <p:cNvPr id="38" name="Text 36"/>
          <p:cNvSpPr txBox="1"/>
          <p:nvPr/>
        </p:nvSpPr>
        <p:spPr>
          <a:xfrm>
            <a:off x="6288405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39" name="go:nav">
            <a:hlinkClick r:id="rId2" tooltip="Раздел: Меню" action="ppaction://hlinksldjump"/>
          </p:cNvPr>
          <p:cNvSpPr/>
          <p:nvPr/>
        </p:nvSpPr>
        <p:spPr>
          <a:xfrm>
            <a:off x="6288405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6819138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41" name="go:key5">
            <a:hlinkClick r:id="rId3" tooltip="Раздел: Главное" action="ppaction://hlinksldjump"/>
          </p:cNvPr>
          <p:cNvSpPr/>
          <p:nvPr/>
        </p:nvSpPr>
        <p:spPr>
          <a:xfrm>
            <a:off x="6819138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7513955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43" name="go:numbers">
            <a:hlinkClick r:id="rId4" tooltip="Раздел: Мир" action="ppaction://hlinksldjump"/>
          </p:cNvPr>
          <p:cNvSpPr/>
          <p:nvPr/>
        </p:nvSpPr>
        <p:spPr>
          <a:xfrm>
            <a:off x="7513955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7948168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Кейсы</a:t>
            </a:r>
            <a:endParaRPr lang="en-US" sz="950" dirty="0"/>
          </a:p>
        </p:txBody>
      </p:sp>
      <p:sp>
        <p:nvSpPr>
          <p:cNvPr id="45" name="go:casemap">
            <a:hlinkClick r:id="rId5" tooltip="Раздел: Кейсы" action="ppaction://hlinksldjump"/>
          </p:cNvPr>
          <p:cNvSpPr/>
          <p:nvPr/>
        </p:nvSpPr>
        <p:spPr>
          <a:xfrm>
            <a:off x="7948168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6" name="Shape 44"/>
          <p:cNvSpPr/>
          <p:nvPr/>
        </p:nvSpPr>
        <p:spPr>
          <a:xfrm>
            <a:off x="8544052" y="219456"/>
            <a:ext cx="727405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47" name="Text 45"/>
          <p:cNvSpPr txBox="1"/>
          <p:nvPr/>
        </p:nvSpPr>
        <p:spPr>
          <a:xfrm>
            <a:off x="8544052" y="219456"/>
            <a:ext cx="7274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Модель</a:t>
            </a:r>
            <a:endParaRPr lang="en-US" sz="950" dirty="0"/>
          </a:p>
        </p:txBody>
      </p:sp>
      <p:sp>
        <p:nvSpPr>
          <p:cNvPr id="48" name="go:ecosystem">
            <a:hlinkClick r:id="rId6" tooltip="Раздел: Модель" action="ppaction://hlinksldjump"/>
          </p:cNvPr>
          <p:cNvSpPr/>
          <p:nvPr/>
        </p:nvSpPr>
        <p:spPr>
          <a:xfrm>
            <a:off x="8544052" y="219456"/>
            <a:ext cx="727405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50" name="go:path">
            <a:hlinkClick r:id="rId7" tooltip="Раздел: Этапы" action="ppaction://hlinksldjump"/>
          </p:cNvPr>
          <p:cNvSpPr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52" name="go:criteria">
            <a:hlinkClick r:id="rId8" tooltip="Раздел: Защита" action="ppaction://hlinksldjump"/>
          </p:cNvPr>
          <p:cNvSpPr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54" name="go:pilots">
            <a:hlinkClick r:id="rId9" tooltip="Раздел: Пилоты" action="ppaction://hlinksldjump"/>
          </p:cNvPr>
          <p:cNvSpPr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56" name="go:plan90">
            <a:hlinkClick r:id="rId10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Кто решает: Совет, Комитет, Администрация, органы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Каждое решение принимает уполномоченный; согласие регулятора получают до допуска и никогда не презюмируют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10512"/>
            <a:ext cx="2679192" cy="2432304"/>
          </a:xfrm>
          <a:prstGeom prst="roundRect">
            <a:avLst>
              <a:gd name="adj" fmla="val 3759"/>
            </a:avLst>
          </a:prstGeom>
          <a:solidFill>
            <a:schemeClr val="accent5"/>
          </a:solidFill>
          <a:ln/>
        </p:spPr>
      </p:sp>
      <p:pic>
        <p:nvPicPr>
          <p:cNvPr id="5" name="Image 0" descr="Gavel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85800" y="1993392"/>
            <a:ext cx="329184" cy="329184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1106424" y="1975104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Управляющий совет</a:t>
            </a:r>
            <a:endParaRPr lang="en-US" sz="1300" dirty="0"/>
          </a:p>
        </p:txBody>
      </p:sp>
      <p:sp>
        <p:nvSpPr>
          <p:cNvPr id="7" name="Text 4"/>
          <p:cNvSpPr txBox="1"/>
          <p:nvPr/>
        </p:nvSpPr>
        <p:spPr>
          <a:xfrm>
            <a:off x="685800" y="2468880"/>
            <a:ext cx="23317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Правила песочницы и стандартные условия; категории освобождений в пределах полномочий МЦЦТ; перечень треков; апелляции (коллегия из трех членов); по итогам теста — внедрение, продолжение и расширение в Центре (ст. 43*)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3337560" y="1810512"/>
            <a:ext cx="2679192" cy="2432304"/>
          </a:xfrm>
          <a:prstGeom prst="roundRect">
            <a:avLst>
              <a:gd name="adj" fmla="val 3759"/>
            </a:avLst>
          </a:prstGeom>
          <a:solidFill>
            <a:schemeClr val="accent1"/>
          </a:solidFill>
          <a:ln/>
        </p:spPr>
      </p:sp>
      <p:pic>
        <p:nvPicPr>
          <p:cNvPr id="9" name="Image 1" descr="UserCheck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20440" y="1993392"/>
            <a:ext cx="329184" cy="329184"/>
          </a:xfrm>
          <a:prstGeom prst="rect">
            <a:avLst/>
          </a:prstGeom>
        </p:spPr>
      </p:pic>
      <p:sp>
        <p:nvSpPr>
          <p:cNvPr id="10" name="Text 6"/>
          <p:cNvSpPr txBox="1"/>
          <p:nvPr/>
        </p:nvSpPr>
        <p:spPr>
          <a:xfrm>
            <a:off x="3941064" y="1975104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bg1"/>
                </a:solidFill>
              </a:rPr>
              <a:t>Комитет по песочнице</a:t>
            </a:r>
            <a:endParaRPr lang="en-US" sz="1300" dirty="0"/>
          </a:p>
        </p:txBody>
      </p:sp>
      <p:sp>
        <p:nvSpPr>
          <p:cNvPr id="11" name="Text 7"/>
          <p:cNvSpPr txBox="1"/>
          <p:nvPr/>
        </p:nvSpPr>
        <p:spPr>
          <a:xfrm>
            <a:off x="3520440" y="2468880"/>
            <a:ext cx="23317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По делегированию Совета: допуск, условия, индивидуальные освобождения, продление, приостановление, выход. Голоса: председатель (решающий), главный юрисконсульт, два независимых эксперта; регулятор — без права голоса</a:t>
            </a:r>
            <a:endParaRPr lang="en-US" sz="950" dirty="0"/>
          </a:p>
        </p:txBody>
      </p:sp>
      <p:sp>
        <p:nvSpPr>
          <p:cNvPr id="12" name="Shape 8"/>
          <p:cNvSpPr/>
          <p:nvPr/>
        </p:nvSpPr>
        <p:spPr>
          <a:xfrm>
            <a:off x="6172200" y="1810512"/>
            <a:ext cx="2679192" cy="2432304"/>
          </a:xfrm>
          <a:prstGeom prst="roundRect">
            <a:avLst>
              <a:gd name="adj" fmla="val 3759"/>
            </a:avLst>
          </a:prstGeom>
          <a:solidFill>
            <a:schemeClr val="bg1"/>
          </a:solidFill>
          <a:ln w="15875">
            <a:solidFill>
              <a:schemeClr val="accent1"/>
            </a:solidFill>
            <a:prstDash val="solid"/>
          </a:ln>
        </p:spPr>
      </p:sp>
      <p:pic>
        <p:nvPicPr>
          <p:cNvPr id="13" name="Image 2" descr="Landmark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55080" y="1993392"/>
            <a:ext cx="329184" cy="329184"/>
          </a:xfrm>
          <a:prstGeom prst="rect">
            <a:avLst/>
          </a:prstGeom>
        </p:spPr>
      </p:pic>
      <p:sp>
        <p:nvSpPr>
          <p:cNvPr id="14" name="Text 9"/>
          <p:cNvSpPr txBox="1"/>
          <p:nvPr/>
        </p:nvSpPr>
        <p:spPr>
          <a:xfrm>
            <a:off x="6775704" y="1975104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Администрация МЦЦТ</a:t>
            </a:r>
            <a:endParaRPr lang="en-US" sz="1300" dirty="0"/>
          </a:p>
        </p:txBody>
      </p:sp>
      <p:sp>
        <p:nvSpPr>
          <p:cNvPr id="15" name="Text 10"/>
          <p:cNvSpPr txBox="1"/>
          <p:nvPr/>
        </p:nvSpPr>
        <p:spPr>
          <a:xfrm>
            <a:off x="6355080" y="2468880"/>
            <a:ext cx="23317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Единая точка входа, оценка, сопровождение, мониторинг. Секретариат: около 6 человек во главе с руководителем песочницы (плановое допущение); закрепленный куратор проекта</a:t>
            </a:r>
            <a:endParaRPr lang="en-US" sz="950" dirty="0"/>
          </a:p>
        </p:txBody>
      </p:sp>
      <p:sp>
        <p:nvSpPr>
          <p:cNvPr id="16" name="Shape 11"/>
          <p:cNvSpPr/>
          <p:nvPr/>
        </p:nvSpPr>
        <p:spPr>
          <a:xfrm>
            <a:off x="9006840" y="1810512"/>
            <a:ext cx="2679192" cy="2432304"/>
          </a:xfrm>
          <a:prstGeom prst="roundRect">
            <a:avLst>
              <a:gd name="adj" fmla="val 3759"/>
            </a:avLst>
          </a:prstGeom>
          <a:solidFill>
            <a:schemeClr val="bg1"/>
          </a:solidFill>
          <a:ln w="15875">
            <a:solidFill>
              <a:schemeClr val="accent5"/>
            </a:solidFill>
            <a:prstDash val="solid"/>
          </a:ln>
        </p:spPr>
      </p:sp>
      <p:pic>
        <p:nvPicPr>
          <p:cNvPr id="17" name="Image 3" descr="Scal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1993392"/>
            <a:ext cx="329184" cy="329184"/>
          </a:xfrm>
          <a:prstGeom prst="rect">
            <a:avLst/>
          </a:prstGeom>
        </p:spPr>
      </p:pic>
      <p:sp>
        <p:nvSpPr>
          <p:cNvPr id="18" name="Text 12"/>
          <p:cNvSpPr txBox="1"/>
          <p:nvPr/>
        </p:nvSpPr>
        <p:spPr>
          <a:xfrm>
            <a:off x="9610344" y="1975104"/>
            <a:ext cx="194767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chemeClr val="tx1"/>
                </a:solidFill>
              </a:rPr>
              <a:t>Компетентные органы</a:t>
            </a:r>
            <a:endParaRPr lang="en-US" sz="1300" dirty="0"/>
          </a:p>
        </p:txBody>
      </p:sp>
      <p:sp>
        <p:nvSpPr>
          <p:cNvPr id="19" name="Text 13"/>
          <p:cNvSpPr txBox="1"/>
          <p:nvPr/>
        </p:nvSpPr>
        <p:spPr>
          <a:xfrm>
            <a:off x="9189720" y="2468880"/>
            <a:ext cx="2331720" cy="17007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Лицензии и разрешения по своей компетенции; письменное согласие на регулируемые элементы теста; нормы вне полномочий МЦЦТ. Молчание не означает согласия</a:t>
            </a:r>
            <a:endParaRPr lang="en-US" sz="950" dirty="0"/>
          </a:p>
        </p:txBody>
      </p:sp>
      <p:sp>
        <p:nvSpPr>
          <p:cNvPr id="20" name="Text 14"/>
          <p:cNvSpPr txBox="1"/>
          <p:nvPr/>
        </p:nvSpPr>
        <p:spPr>
          <a:xfrm>
            <a:off x="502920" y="4425696"/>
            <a:ext cx="73152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tx2"/>
                </a:solidFill>
              </a:rPr>
              <a:t>ЕСЛИ РЕГУЛЯТОР ДАЕТ, НЕ ДАЕТ ИЛИ ОТЗЫВАЕТ СОГЛАСИЕ</a:t>
            </a:r>
            <a:endParaRPr lang="en-US" sz="950" dirty="0"/>
          </a:p>
        </p:txBody>
      </p:sp>
      <p:sp>
        <p:nvSpPr>
          <p:cNvPr id="21" name="Shape 15"/>
          <p:cNvSpPr/>
          <p:nvPr/>
        </p:nvSpPr>
        <p:spPr>
          <a:xfrm>
            <a:off x="502920" y="4700016"/>
            <a:ext cx="2679192" cy="1426464"/>
          </a:xfrm>
          <a:prstGeom prst="roundRect">
            <a:avLst>
              <a:gd name="adj" fmla="val 5128"/>
            </a:avLst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22" name="Text 16"/>
          <p:cNvSpPr txBox="1"/>
          <p:nvPr/>
        </p:nvSpPr>
        <p:spPr>
          <a:xfrm>
            <a:off x="667512" y="4791456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1"/>
                </a:solidFill>
              </a:rPr>
              <a:t>Согласие</a:t>
            </a:r>
            <a:endParaRPr lang="en-US" sz="1100" dirty="0"/>
          </a:p>
        </p:txBody>
      </p:sp>
      <p:sp>
        <p:nvSpPr>
          <p:cNvPr id="23" name="Text 17"/>
          <p:cNvSpPr txBox="1"/>
          <p:nvPr/>
        </p:nvSpPr>
        <p:spPr>
          <a:xfrm>
            <a:off x="667512" y="5084064"/>
            <a:ext cx="23500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Условия переносятся в план дословно; Комитет может ужесточить их, но не смягчить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3337560" y="4700016"/>
            <a:ext cx="2679192" cy="1426464"/>
          </a:xfrm>
          <a:prstGeom prst="roundRect">
            <a:avLst>
              <a:gd name="adj" fmla="val 5128"/>
            </a:avLst>
          </a:prstGeom>
          <a:solidFill>
            <a:schemeClr val="accent4">
              <a:alpha val="8000"/>
            </a:schemeClr>
          </a:solidFill>
          <a:ln/>
        </p:spPr>
      </p:sp>
      <p:sp>
        <p:nvSpPr>
          <p:cNvPr id="25" name="Text 19"/>
          <p:cNvSpPr txBox="1"/>
          <p:nvPr/>
        </p:nvSpPr>
        <p:spPr>
          <a:xfrm>
            <a:off x="3502152" y="4791456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Отказ</a:t>
            </a:r>
            <a:endParaRPr lang="en-US" sz="1100" dirty="0"/>
          </a:p>
        </p:txBody>
      </p:sp>
      <p:sp>
        <p:nvSpPr>
          <p:cNvPr id="26" name="Text 20"/>
          <p:cNvSpPr txBox="1"/>
          <p:nvPr/>
        </p:nvSpPr>
        <p:spPr>
          <a:xfrm>
            <a:off x="3502152" y="5084064"/>
            <a:ext cx="23500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В течение 5 р. д. — письмо с вариантами: изменение рамок теста, Трек разъяснений, перенаправление (ЦБ, NAPP) или закрытие дела</a:t>
            </a:r>
            <a:endParaRPr lang="en-US" sz="950" dirty="0"/>
          </a:p>
        </p:txBody>
      </p:sp>
      <p:sp>
        <p:nvSpPr>
          <p:cNvPr id="27" name="Shape 21"/>
          <p:cNvSpPr/>
          <p:nvPr/>
        </p:nvSpPr>
        <p:spPr>
          <a:xfrm>
            <a:off x="6172200" y="4700016"/>
            <a:ext cx="2679192" cy="1426464"/>
          </a:xfrm>
          <a:prstGeom prst="roundRect">
            <a:avLst>
              <a:gd name="adj" fmla="val 5128"/>
            </a:avLst>
          </a:prstGeom>
          <a:solidFill>
            <a:schemeClr val="accent4">
              <a:alpha val="8000"/>
            </a:schemeClr>
          </a:solidFill>
          <a:ln/>
        </p:spPr>
      </p:sp>
      <p:sp>
        <p:nvSpPr>
          <p:cNvPr id="28" name="Text 22"/>
          <p:cNvSpPr txBox="1"/>
          <p:nvPr/>
        </p:nvSpPr>
        <p:spPr>
          <a:xfrm>
            <a:off x="6336792" y="4791456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Нет ответа в срок MoU</a:t>
            </a:r>
            <a:endParaRPr lang="en-US" sz="1100" dirty="0"/>
          </a:p>
        </p:txBody>
      </p:sp>
      <p:sp>
        <p:nvSpPr>
          <p:cNvPr id="29" name="Text 23"/>
          <p:cNvSpPr txBox="1"/>
          <p:nvPr/>
        </p:nvSpPr>
        <p:spPr>
          <a:xfrm>
            <a:off x="6336792" y="5084064"/>
            <a:ext cx="23500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Эскалация: куратор → руководитель песочницы → Исполнительный директор; дело приостанавливается или закрывается по выбору заявителя</a:t>
            </a:r>
            <a:endParaRPr lang="en-US" sz="950" dirty="0"/>
          </a:p>
        </p:txBody>
      </p:sp>
      <p:sp>
        <p:nvSpPr>
          <p:cNvPr id="30" name="Shape 24"/>
          <p:cNvSpPr/>
          <p:nvPr/>
        </p:nvSpPr>
        <p:spPr>
          <a:xfrm>
            <a:off x="9006840" y="4700016"/>
            <a:ext cx="2679192" cy="1426464"/>
          </a:xfrm>
          <a:prstGeom prst="roundRect">
            <a:avLst>
              <a:gd name="adj" fmla="val 5128"/>
            </a:avLst>
          </a:prstGeom>
          <a:solidFill>
            <a:schemeClr val="accent4">
              <a:alpha val="8000"/>
            </a:schemeClr>
          </a:solidFill>
          <a:ln/>
        </p:spPr>
      </p:sp>
      <p:sp>
        <p:nvSpPr>
          <p:cNvPr id="31" name="Text 25"/>
          <p:cNvSpPr txBox="1"/>
          <p:nvPr/>
        </p:nvSpPr>
        <p:spPr>
          <a:xfrm>
            <a:off x="9171432" y="4791456"/>
            <a:ext cx="235000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Отзыв в ходе теста</a:t>
            </a:r>
            <a:endParaRPr lang="en-US" sz="1100" dirty="0"/>
          </a:p>
        </p:txBody>
      </p:sp>
      <p:sp>
        <p:nvSpPr>
          <p:cNvPr id="32" name="Text 26"/>
          <p:cNvSpPr txBox="1"/>
          <p:nvPr/>
        </p:nvSpPr>
        <p:spPr>
          <a:xfrm>
            <a:off x="9171432" y="5084064"/>
            <a:ext cx="2350008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Регулируемый элемент останавливается; применяется план свертывания; Комитет подтверждает остановку в течение 2 р. д.</a:t>
            </a:r>
            <a:endParaRPr lang="en-US" sz="950" dirty="0"/>
          </a:p>
        </p:txBody>
      </p:sp>
      <p:sp>
        <p:nvSpPr>
          <p:cNvPr id="33" name="source"/>
          <p:cNvSpPr txBox="1"/>
          <p:nvPr/>
        </p:nvSpPr>
        <p:spPr>
          <a:xfrm>
            <a:off x="502920" y="6400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Иллюстрации 7, 15 и 15a отчета. * Ст. 43 — по материалам МЦЦТ. Сроки — плановые допущения.</a:t>
            </a:r>
            <a:endParaRPr lang="en-US" sz="800" dirty="0"/>
          </a:p>
        </p:txBody>
      </p:sp>
      <p:sp>
        <p:nvSpPr>
          <p:cNvPr id="34" name="Text 28"/>
          <p:cNvSpPr txBox="1"/>
          <p:nvPr/>
        </p:nvSpPr>
        <p:spPr>
          <a:xfrm>
            <a:off x="6288405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35" name="go:nav">
            <a:hlinkClick r:id="rId5" tooltip="Раздел: Меню" action="ppaction://hlinksldjump"/>
          </p:cNvPr>
          <p:cNvSpPr/>
          <p:nvPr/>
        </p:nvSpPr>
        <p:spPr>
          <a:xfrm>
            <a:off x="6288405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6" name="Text 30"/>
          <p:cNvSpPr txBox="1"/>
          <p:nvPr/>
        </p:nvSpPr>
        <p:spPr>
          <a:xfrm>
            <a:off x="6819138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37" name="go:key5">
            <a:hlinkClick r:id="rId6" tooltip="Раздел: Главное" action="ppaction://hlinksldjump"/>
          </p:cNvPr>
          <p:cNvSpPr/>
          <p:nvPr/>
        </p:nvSpPr>
        <p:spPr>
          <a:xfrm>
            <a:off x="6819138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38" name="Text 32"/>
          <p:cNvSpPr txBox="1"/>
          <p:nvPr/>
        </p:nvSpPr>
        <p:spPr>
          <a:xfrm>
            <a:off x="7513955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39" name="go:numbers">
            <a:hlinkClick r:id="rId7" tooltip="Раздел: Мир" action="ppaction://hlinksldjump"/>
          </p:cNvPr>
          <p:cNvSpPr/>
          <p:nvPr/>
        </p:nvSpPr>
        <p:spPr>
          <a:xfrm>
            <a:off x="7513955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0" name="Text 34"/>
          <p:cNvSpPr txBox="1"/>
          <p:nvPr/>
        </p:nvSpPr>
        <p:spPr>
          <a:xfrm>
            <a:off x="7948168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Кейсы</a:t>
            </a:r>
            <a:endParaRPr lang="en-US" sz="950" dirty="0"/>
          </a:p>
        </p:txBody>
      </p:sp>
      <p:sp>
        <p:nvSpPr>
          <p:cNvPr id="41" name="go:casemap">
            <a:hlinkClick r:id="rId8" tooltip="Раздел: Кейсы" action="ppaction://hlinksldjump"/>
          </p:cNvPr>
          <p:cNvSpPr/>
          <p:nvPr/>
        </p:nvSpPr>
        <p:spPr>
          <a:xfrm>
            <a:off x="7948168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2" name="Shape 36"/>
          <p:cNvSpPr/>
          <p:nvPr/>
        </p:nvSpPr>
        <p:spPr>
          <a:xfrm>
            <a:off x="8544052" y="219456"/>
            <a:ext cx="727405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43" name="Text 37"/>
          <p:cNvSpPr txBox="1"/>
          <p:nvPr/>
        </p:nvSpPr>
        <p:spPr>
          <a:xfrm>
            <a:off x="8544052" y="219456"/>
            <a:ext cx="72740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Модель</a:t>
            </a:r>
            <a:endParaRPr lang="en-US" sz="950" dirty="0"/>
          </a:p>
        </p:txBody>
      </p:sp>
      <p:sp>
        <p:nvSpPr>
          <p:cNvPr id="44" name="go:ecosystem">
            <a:hlinkClick r:id="rId9" tooltip="Раздел: Модель" action="ppaction://hlinksldjump"/>
          </p:cNvPr>
          <p:cNvSpPr/>
          <p:nvPr/>
        </p:nvSpPr>
        <p:spPr>
          <a:xfrm>
            <a:off x="8544052" y="219456"/>
            <a:ext cx="727405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5" name="Text 39"/>
          <p:cNvSpPr txBox="1"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46" name="go:path">
            <a:hlinkClick r:id="rId10" tooltip="Раздел: Этапы" action="ppaction://hlinksldjump"/>
          </p:cNvPr>
          <p:cNvSpPr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7" name="Text 41"/>
          <p:cNvSpPr txBox="1"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48" name="go:criteria">
            <a:hlinkClick r:id="rId11" tooltip="Раздел: Защита" action="ppaction://hlinksldjump"/>
          </p:cNvPr>
          <p:cNvSpPr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9" name="Text 43"/>
          <p:cNvSpPr txBox="1"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50" name="go:pilots">
            <a:hlinkClick r:id="rId12" tooltip="Раздел: Пилоты" action="ppaction://hlinksldjump"/>
          </p:cNvPr>
          <p:cNvSpPr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1" name="Text 45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52" name="go:plan90">
            <a:hlinkClick r:id="rId13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Путь заявки: кто ведет, что решается, какой срок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Сроки — плановые допущения (рабочие дни); отсчет приостанавливается, пока ожидается ответ заявителя или регулятора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2596896"/>
            <a:ext cx="120700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2"/>
                </a:solidFill>
              </a:rPr>
              <a:t>Кто ведет</a:t>
            </a:r>
            <a:endParaRPr lang="en-US" sz="950" dirty="0"/>
          </a:p>
        </p:txBody>
      </p:sp>
      <p:sp>
        <p:nvSpPr>
          <p:cNvPr id="5" name="Text 3"/>
          <p:cNvSpPr txBox="1"/>
          <p:nvPr/>
        </p:nvSpPr>
        <p:spPr>
          <a:xfrm>
            <a:off x="502920" y="3218688"/>
            <a:ext cx="1207008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2"/>
                </a:solidFill>
              </a:rPr>
              <a:t>Что происходит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502920" y="4462272"/>
            <a:ext cx="1207008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2"/>
                </a:solidFill>
              </a:rPr>
              <a:t>Решение</a:t>
            </a:r>
            <a:endParaRPr lang="en-US" sz="950" dirty="0"/>
          </a:p>
        </p:txBody>
      </p:sp>
      <p:sp>
        <p:nvSpPr>
          <p:cNvPr id="7" name="Text 5"/>
          <p:cNvSpPr txBox="1"/>
          <p:nvPr/>
        </p:nvSpPr>
        <p:spPr>
          <a:xfrm>
            <a:off x="502920" y="5413248"/>
            <a:ext cx="120700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2"/>
                </a:solidFill>
              </a:rPr>
              <a:t>Возможный выход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1810512" y="1810512"/>
            <a:ext cx="1359843" cy="73152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1883664" y="1847088"/>
            <a:ext cx="121353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1  Обращение</a:t>
            </a:r>
            <a:endParaRPr lang="en-US" sz="950" dirty="0"/>
          </a:p>
        </p:txBody>
      </p:sp>
      <p:sp>
        <p:nvSpPr>
          <p:cNvPr id="10" name="Text 8"/>
          <p:cNvSpPr txBox="1"/>
          <p:nvPr/>
        </p:nvSpPr>
        <p:spPr>
          <a:xfrm>
            <a:off x="1883664" y="2286000"/>
            <a:ext cx="12135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5 р. д.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810512" y="2596896"/>
            <a:ext cx="1359843" cy="566928"/>
          </a:xfrm>
          <a:prstGeom prst="roundRect">
            <a:avLst>
              <a:gd name="adj" fmla="val 8065"/>
            </a:avLst>
          </a:prstGeom>
          <a:solidFill>
            <a:schemeClr val="bg2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1874520" y="2596896"/>
            <a:ext cx="12318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Компания; куратор проекта МЦЦТ</a:t>
            </a:r>
            <a:endParaRPr lang="en-US" sz="900" dirty="0"/>
          </a:p>
        </p:txBody>
      </p:sp>
      <p:sp>
        <p:nvSpPr>
          <p:cNvPr id="13" name="Shape 11"/>
          <p:cNvSpPr/>
          <p:nvPr/>
        </p:nvSpPr>
        <p:spPr>
          <a:xfrm>
            <a:off x="1810512" y="3218688"/>
            <a:ext cx="1359843" cy="118872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1874520" y="3218688"/>
            <a:ext cx="123182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Онлайн-форма, контрольный перечень готовности, сведения о заявках в другие песочницы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1810512" y="4462272"/>
            <a:ext cx="1359843" cy="896112"/>
          </a:xfrm>
          <a:prstGeom prst="roundRect">
            <a:avLst>
              <a:gd name="adj" fmla="val 5102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1874520" y="4462272"/>
            <a:ext cx="123182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Комплект полный? Номер дела и карточка проекта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1810512" y="5413248"/>
            <a:ext cx="1359843" cy="384048"/>
          </a:xfrm>
          <a:prstGeom prst="roundRect">
            <a:avLst>
              <a:gd name="adj" fmla="val 11905"/>
            </a:avLst>
          </a:prstGeom>
          <a:solidFill>
            <a:schemeClr val="accent4">
              <a:alpha val="7000"/>
            </a:schemeClr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1874520" y="5413248"/>
            <a:ext cx="12318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Доработка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3225219" y="1810512"/>
            <a:ext cx="1359843" cy="73152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298371" y="1847088"/>
            <a:ext cx="121353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2  Правовая и проектная оценка</a:t>
            </a:r>
            <a:endParaRPr lang="en-US" sz="950" dirty="0"/>
          </a:p>
        </p:txBody>
      </p:sp>
      <p:sp>
        <p:nvSpPr>
          <p:cNvPr id="21" name="Text 19"/>
          <p:cNvSpPr txBox="1"/>
          <p:nvPr/>
        </p:nvSpPr>
        <p:spPr>
          <a:xfrm>
            <a:off x="3298371" y="2286000"/>
            <a:ext cx="12135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25 р. д.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3225219" y="2596896"/>
            <a:ext cx="1359843" cy="566928"/>
          </a:xfrm>
          <a:prstGeom prst="roundRect">
            <a:avLst>
              <a:gd name="adj" fmla="val 8065"/>
            </a:avLst>
          </a:prstGeom>
          <a:solidFill>
            <a:schemeClr val="bg2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3289227" y="2596896"/>
            <a:ext cx="12318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Секретариат; юрисконсульт с регуляторами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3225219" y="3218688"/>
            <a:ext cx="1359843" cy="118872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3289227" y="3218688"/>
            <a:ext cx="123182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Критерии допуска: новизна, конкретный барьер, польза, готовность, благонадежность; картирование норм и согласий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3225219" y="4462272"/>
            <a:ext cx="1359843" cy="896112"/>
          </a:xfrm>
          <a:prstGeom prst="roundRect">
            <a:avLst>
              <a:gd name="adj" fmla="val 5102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3289227" y="4462272"/>
            <a:ext cx="123182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К тесту или в Трек разъяснений; чье согласие нужно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3225219" y="5413248"/>
            <a:ext cx="1359843" cy="384048"/>
          </a:xfrm>
          <a:prstGeom prst="roundRect">
            <a:avLst>
              <a:gd name="adj" fmla="val 11905"/>
            </a:avLst>
          </a:prstGeom>
          <a:solidFill>
            <a:schemeClr val="accent4">
              <a:alpha val="7000"/>
            </a:schemeClr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3289227" y="5413248"/>
            <a:ext cx="12318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Отказ, переадресация</a:t>
            </a:r>
            <a:endParaRPr lang="en-US" sz="900" dirty="0"/>
          </a:p>
        </p:txBody>
      </p:sp>
      <p:sp>
        <p:nvSpPr>
          <p:cNvPr id="30" name="Shape 28"/>
          <p:cNvSpPr/>
          <p:nvPr/>
        </p:nvSpPr>
        <p:spPr>
          <a:xfrm>
            <a:off x="4639927" y="1810512"/>
            <a:ext cx="1359843" cy="73152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713079" y="1847088"/>
            <a:ext cx="121353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3  Выбор формата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713079" y="2286000"/>
            <a:ext cx="12135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3–4: 25 р. д.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4639927" y="2596896"/>
            <a:ext cx="1359843" cy="566928"/>
          </a:xfrm>
          <a:prstGeom prst="roundRect">
            <a:avLst>
              <a:gd name="adj" fmla="val 8065"/>
            </a:avLst>
          </a:prstGeom>
          <a:solidFill>
            <a:schemeClr val="bg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703935" y="2596896"/>
            <a:ext cx="12318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Куратор, участник, эксперт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4639927" y="3218688"/>
            <a:ext cx="1359843" cy="118872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4703935" y="3218688"/>
            <a:ext cx="123182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Техническое тестирование или регуляторный эксперимент; нужны ли Data Lake и фокус-группы</a:t>
            </a:r>
            <a:endParaRPr lang="en-US" sz="900" dirty="0"/>
          </a:p>
        </p:txBody>
      </p:sp>
      <p:sp>
        <p:nvSpPr>
          <p:cNvPr id="37" name="Shape 35"/>
          <p:cNvSpPr/>
          <p:nvPr/>
        </p:nvSpPr>
        <p:spPr>
          <a:xfrm>
            <a:off x="4639927" y="4462272"/>
            <a:ext cx="1359843" cy="896112"/>
          </a:xfrm>
          <a:prstGeom prst="roundRect">
            <a:avLst>
              <a:gd name="adj" fmla="val 5102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4703935" y="4462272"/>
            <a:ext cx="123182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Формат и подключаемые механизмы</a:t>
            </a:r>
            <a:endParaRPr lang="en-US" sz="900" dirty="0"/>
          </a:p>
        </p:txBody>
      </p:sp>
      <p:sp>
        <p:nvSpPr>
          <p:cNvPr id="39" name="Shape 37"/>
          <p:cNvSpPr/>
          <p:nvPr/>
        </p:nvSpPr>
        <p:spPr>
          <a:xfrm>
            <a:off x="4639927" y="5413248"/>
            <a:ext cx="1359843" cy="384048"/>
          </a:xfrm>
          <a:prstGeom prst="roundRect">
            <a:avLst>
              <a:gd name="adj" fmla="val 11905"/>
            </a:avLst>
          </a:prstGeom>
          <a:solidFill>
            <a:schemeClr val="accent4">
              <a:alpha val="7000"/>
            </a:schemeClr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4703935" y="5413248"/>
            <a:ext cx="12318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—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6054634" y="1810512"/>
            <a:ext cx="1359843" cy="73152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6127786" y="1847088"/>
            <a:ext cx="121353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4  План и готовность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6127786" y="2286000"/>
            <a:ext cx="12135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3–4: 25 р. д.</a:t>
            </a:r>
            <a:endParaRPr lang="en-US" sz="900" dirty="0"/>
          </a:p>
        </p:txBody>
      </p:sp>
      <p:sp>
        <p:nvSpPr>
          <p:cNvPr id="44" name="Shape 42"/>
          <p:cNvSpPr/>
          <p:nvPr/>
        </p:nvSpPr>
        <p:spPr>
          <a:xfrm>
            <a:off x="6054634" y="2596896"/>
            <a:ext cx="1359843" cy="566928"/>
          </a:xfrm>
          <a:prstGeom prst="roundRect">
            <a:avLst>
              <a:gd name="adj" fmla="val 8065"/>
            </a:avLst>
          </a:prstGeom>
          <a:solidFill>
            <a:schemeClr val="bg2"/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6118642" y="2596896"/>
            <a:ext cx="12318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Комитет по песочнице (согласие регулятора*)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6054634" y="3218688"/>
            <a:ext cx="1359843" cy="118872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47" name="Text 45"/>
          <p:cNvSpPr txBox="1"/>
          <p:nvPr/>
        </p:nvSpPr>
        <p:spPr>
          <a:xfrm>
            <a:off x="6118642" y="3218688"/>
            <a:ext cx="123182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План: рамки, лимиты, меры защиты, KPI, доказательства для выхода, план свертывания</a:t>
            </a:r>
            <a:endParaRPr lang="en-US" sz="900" dirty="0"/>
          </a:p>
        </p:txBody>
      </p:sp>
      <p:sp>
        <p:nvSpPr>
          <p:cNvPr id="48" name="Shape 46"/>
          <p:cNvSpPr/>
          <p:nvPr/>
        </p:nvSpPr>
        <p:spPr>
          <a:xfrm>
            <a:off x="6054634" y="4462272"/>
            <a:ext cx="1359843" cy="896112"/>
          </a:xfrm>
          <a:prstGeom prst="roundRect">
            <a:avLst>
              <a:gd name="adj" fmla="val 5102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49" name="Text 47"/>
          <p:cNvSpPr txBox="1"/>
          <p:nvPr/>
        </p:nvSpPr>
        <p:spPr>
          <a:xfrm>
            <a:off x="6118642" y="4462272"/>
            <a:ext cx="123182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Допуск, допуск с условиями или отказ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6054634" y="5413248"/>
            <a:ext cx="1359843" cy="384048"/>
          </a:xfrm>
          <a:prstGeom prst="roundRect">
            <a:avLst>
              <a:gd name="adj" fmla="val 11905"/>
            </a:avLst>
          </a:prstGeom>
          <a:solidFill>
            <a:schemeClr val="accent4">
              <a:alpha val="7000"/>
            </a:schemeClr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6118642" y="5413248"/>
            <a:ext cx="12318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Отказ (можно обжаловать)</a:t>
            </a:r>
            <a:endParaRPr lang="en-US" sz="900" dirty="0"/>
          </a:p>
        </p:txBody>
      </p:sp>
      <p:sp>
        <p:nvSpPr>
          <p:cNvPr id="52" name="Shape 50"/>
          <p:cNvSpPr/>
          <p:nvPr/>
        </p:nvSpPr>
        <p:spPr>
          <a:xfrm>
            <a:off x="7469342" y="1810512"/>
            <a:ext cx="1359843" cy="731520"/>
          </a:xfrm>
          <a:prstGeom prst="roundRect">
            <a:avLst>
              <a:gd name="adj" fmla="val 7500"/>
            </a:avLst>
          </a:prstGeom>
          <a:solidFill>
            <a:schemeClr val="accent5"/>
          </a:solidFill>
          <a:ln/>
        </p:spPr>
      </p:sp>
      <p:sp>
        <p:nvSpPr>
          <p:cNvPr id="53" name="Text 51"/>
          <p:cNvSpPr txBox="1"/>
          <p:nvPr/>
        </p:nvSpPr>
        <p:spPr>
          <a:xfrm>
            <a:off x="7542494" y="1847088"/>
            <a:ext cx="121353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5  Тестирование</a:t>
            </a:r>
            <a:endParaRPr lang="en-US" sz="950" dirty="0"/>
          </a:p>
        </p:txBody>
      </p:sp>
      <p:sp>
        <p:nvSpPr>
          <p:cNvPr id="54" name="Text 52"/>
          <p:cNvSpPr txBox="1"/>
          <p:nvPr/>
        </p:nvSpPr>
        <p:spPr>
          <a:xfrm>
            <a:off x="7542494" y="2286000"/>
            <a:ext cx="12135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до 12 мес.</a:t>
            </a:r>
            <a:endParaRPr lang="en-US" sz="900" dirty="0"/>
          </a:p>
        </p:txBody>
      </p:sp>
      <p:sp>
        <p:nvSpPr>
          <p:cNvPr id="55" name="Shape 53"/>
          <p:cNvSpPr/>
          <p:nvPr/>
        </p:nvSpPr>
        <p:spPr>
          <a:xfrm>
            <a:off x="7469342" y="2596896"/>
            <a:ext cx="1359843" cy="566928"/>
          </a:xfrm>
          <a:prstGeom prst="roundRect">
            <a:avLst>
              <a:gd name="adj" fmla="val 8065"/>
            </a:avLst>
          </a:prstGeom>
          <a:solidFill>
            <a:schemeClr val="bg2"/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7533350" y="2596896"/>
            <a:ext cx="12318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Участник; Секретариат — ежемесячный мониторинг</a:t>
            </a:r>
            <a:endParaRPr lang="en-US" sz="900" dirty="0"/>
          </a:p>
        </p:txBody>
      </p:sp>
      <p:sp>
        <p:nvSpPr>
          <p:cNvPr id="57" name="Shape 55"/>
          <p:cNvSpPr/>
          <p:nvPr/>
        </p:nvSpPr>
        <p:spPr>
          <a:xfrm>
            <a:off x="7469342" y="3218688"/>
            <a:ext cx="1359843" cy="118872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7533350" y="3218688"/>
            <a:ext cx="123182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Тест в пределах лимитов; об инцидентах — в течение 2 р. д.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7469342" y="4462272"/>
            <a:ext cx="1359843" cy="896112"/>
          </a:xfrm>
          <a:prstGeom prst="roundRect">
            <a:avLst>
              <a:gd name="adj" fmla="val 5102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7533350" y="4462272"/>
            <a:ext cx="123182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Продолжение, корректировка или остановка (председатель Комитета — немедленно)</a:t>
            </a:r>
            <a:endParaRPr lang="en-US" sz="900" dirty="0"/>
          </a:p>
        </p:txBody>
      </p:sp>
      <p:sp>
        <p:nvSpPr>
          <p:cNvPr id="61" name="Shape 59"/>
          <p:cNvSpPr/>
          <p:nvPr/>
        </p:nvSpPr>
        <p:spPr>
          <a:xfrm>
            <a:off x="7469342" y="5413248"/>
            <a:ext cx="1359843" cy="384048"/>
          </a:xfrm>
          <a:prstGeom prst="roundRect">
            <a:avLst>
              <a:gd name="adj" fmla="val 11905"/>
            </a:avLst>
          </a:prstGeom>
          <a:solidFill>
            <a:schemeClr val="accent4">
              <a:alpha val="7000"/>
            </a:schemeClr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7533350" y="5413248"/>
            <a:ext cx="12318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Остановка теста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8884049" y="1810512"/>
            <a:ext cx="1359843" cy="73152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8957201" y="1847088"/>
            <a:ext cx="121353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6  Оценка результата</a:t>
            </a:r>
            <a:endParaRPr lang="en-US" sz="950" dirty="0"/>
          </a:p>
        </p:txBody>
      </p:sp>
      <p:sp>
        <p:nvSpPr>
          <p:cNvPr id="65" name="Text 63"/>
          <p:cNvSpPr txBox="1"/>
          <p:nvPr/>
        </p:nvSpPr>
        <p:spPr>
          <a:xfrm>
            <a:off x="8957201" y="2286000"/>
            <a:ext cx="12135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30 р. д.</a:t>
            </a:r>
            <a:endParaRPr lang="en-US" sz="900" dirty="0"/>
          </a:p>
        </p:txBody>
      </p:sp>
      <p:sp>
        <p:nvSpPr>
          <p:cNvPr id="66" name="Shape 64"/>
          <p:cNvSpPr/>
          <p:nvPr/>
        </p:nvSpPr>
        <p:spPr>
          <a:xfrm>
            <a:off x="8884049" y="2596896"/>
            <a:ext cx="1359843" cy="566928"/>
          </a:xfrm>
          <a:prstGeom prst="roundRect">
            <a:avLst>
              <a:gd name="adj" fmla="val 8065"/>
            </a:avLst>
          </a:prstGeom>
          <a:solidFill>
            <a:schemeClr val="bg2"/>
          </a:solidFill>
          <a:ln/>
        </p:spPr>
      </p:sp>
      <p:sp>
        <p:nvSpPr>
          <p:cNvPr id="67" name="Text 65"/>
          <p:cNvSpPr txBox="1"/>
          <p:nvPr/>
        </p:nvSpPr>
        <p:spPr>
          <a:xfrm>
            <a:off x="8948057" y="2596896"/>
            <a:ext cx="12318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Секретариат с экспертом</a:t>
            </a:r>
            <a:endParaRPr lang="en-US" sz="900" dirty="0"/>
          </a:p>
        </p:txBody>
      </p:sp>
      <p:sp>
        <p:nvSpPr>
          <p:cNvPr id="68" name="Shape 66"/>
          <p:cNvSpPr/>
          <p:nvPr/>
        </p:nvSpPr>
        <p:spPr>
          <a:xfrm>
            <a:off x="8884049" y="3218688"/>
            <a:ext cx="1359843" cy="118872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8948057" y="3218688"/>
            <a:ext cx="123182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Итоговый отчет по KPI, итогам для пользователей и рискам</a:t>
            </a:r>
            <a:endParaRPr lang="en-US" sz="900" dirty="0"/>
          </a:p>
        </p:txBody>
      </p:sp>
      <p:sp>
        <p:nvSpPr>
          <p:cNvPr id="70" name="Shape 68"/>
          <p:cNvSpPr/>
          <p:nvPr/>
        </p:nvSpPr>
        <p:spPr>
          <a:xfrm>
            <a:off x="8884049" y="4462272"/>
            <a:ext cx="1359843" cy="896112"/>
          </a:xfrm>
          <a:prstGeom prst="roundRect">
            <a:avLst>
              <a:gd name="adj" fmla="val 5102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71" name="Text 69"/>
          <p:cNvSpPr txBox="1"/>
          <p:nvPr/>
        </p:nvSpPr>
        <p:spPr>
          <a:xfrm>
            <a:off x="8948057" y="4462272"/>
            <a:ext cx="123182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Два вывода — по проекту и по регулированию; публикуются</a:t>
            </a:r>
            <a:endParaRPr lang="en-US" sz="900" dirty="0"/>
          </a:p>
        </p:txBody>
      </p:sp>
      <p:sp>
        <p:nvSpPr>
          <p:cNvPr id="72" name="Shape 70"/>
          <p:cNvSpPr/>
          <p:nvPr/>
        </p:nvSpPr>
        <p:spPr>
          <a:xfrm>
            <a:off x="8884049" y="5413248"/>
            <a:ext cx="1359843" cy="384048"/>
          </a:xfrm>
          <a:prstGeom prst="roundRect">
            <a:avLst>
              <a:gd name="adj" fmla="val 11905"/>
            </a:avLst>
          </a:prstGeom>
          <a:solidFill>
            <a:schemeClr val="accent4">
              <a:alpha val="7000"/>
            </a:schemeClr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8948057" y="5413248"/>
            <a:ext cx="12318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—</a:t>
            </a:r>
            <a:endParaRPr lang="en-US" sz="900" dirty="0"/>
          </a:p>
        </p:txBody>
      </p:sp>
      <p:sp>
        <p:nvSpPr>
          <p:cNvPr id="74" name="Shape 72"/>
          <p:cNvSpPr/>
          <p:nvPr/>
        </p:nvSpPr>
        <p:spPr>
          <a:xfrm>
            <a:off x="10298757" y="1810512"/>
            <a:ext cx="1359843" cy="731520"/>
          </a:xfrm>
          <a:prstGeom prst="roundRect">
            <a:avLst>
              <a:gd name="adj" fmla="val 7500"/>
            </a:avLst>
          </a:prstGeom>
          <a:solidFill>
            <a:schemeClr val="accent1"/>
          </a:solidFill>
          <a:ln/>
        </p:spPr>
      </p:sp>
      <p:sp>
        <p:nvSpPr>
          <p:cNvPr id="75" name="Text 73"/>
          <p:cNvSpPr txBox="1"/>
          <p:nvPr/>
        </p:nvSpPr>
        <p:spPr>
          <a:xfrm>
            <a:off x="10371909" y="1847088"/>
            <a:ext cx="1213539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bg1"/>
                </a:solidFill>
              </a:rPr>
              <a:t>7  Выход и исполнение</a:t>
            </a:r>
            <a:endParaRPr lang="en-US" sz="950" dirty="0"/>
          </a:p>
        </p:txBody>
      </p:sp>
      <p:sp>
        <p:nvSpPr>
          <p:cNvPr id="76" name="Text 74"/>
          <p:cNvSpPr txBox="1"/>
          <p:nvPr/>
        </p:nvSpPr>
        <p:spPr>
          <a:xfrm>
            <a:off x="10371909" y="2286000"/>
            <a:ext cx="1213539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20 р. д.</a:t>
            </a:r>
            <a:endParaRPr lang="en-US" sz="900" dirty="0"/>
          </a:p>
        </p:txBody>
      </p:sp>
      <p:sp>
        <p:nvSpPr>
          <p:cNvPr id="77" name="Shape 75"/>
          <p:cNvSpPr/>
          <p:nvPr/>
        </p:nvSpPr>
        <p:spPr>
          <a:xfrm>
            <a:off x="10298757" y="2596896"/>
            <a:ext cx="1359843" cy="566928"/>
          </a:xfrm>
          <a:prstGeom prst="roundRect">
            <a:avLst>
              <a:gd name="adj" fmla="val 8065"/>
            </a:avLst>
          </a:prstGeom>
          <a:solidFill>
            <a:schemeClr val="bg2"/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10362765" y="2596896"/>
            <a:ext cx="1231827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Комитет; Совет — правила и ст. 43; органы — лицензии</a:t>
            </a:r>
            <a:endParaRPr lang="en-US" sz="900" dirty="0"/>
          </a:p>
        </p:txBody>
      </p:sp>
      <p:sp>
        <p:nvSpPr>
          <p:cNvPr id="79" name="Shape 77"/>
          <p:cNvSpPr/>
          <p:nvPr/>
        </p:nvSpPr>
        <p:spPr>
          <a:xfrm>
            <a:off x="10298757" y="3218688"/>
            <a:ext cx="1359843" cy="1188720"/>
          </a:xfrm>
          <a:prstGeom prst="roundRect">
            <a:avLst>
              <a:gd name="adj" fmla="val 3846"/>
            </a:avLst>
          </a:prstGeom>
          <a:solidFill>
            <a:schemeClr val="bg2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10362765" y="3218688"/>
            <a:ext cx="1231827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Вариант выхода, обязательства перед пользователями, закрытие доступа к данным</a:t>
            </a:r>
            <a:endParaRPr lang="en-US" sz="900" dirty="0"/>
          </a:p>
        </p:txBody>
      </p:sp>
      <p:sp>
        <p:nvSpPr>
          <p:cNvPr id="81" name="Shape 79"/>
          <p:cNvSpPr/>
          <p:nvPr/>
        </p:nvSpPr>
        <p:spPr>
          <a:xfrm>
            <a:off x="10298757" y="4462272"/>
            <a:ext cx="1359843" cy="896112"/>
          </a:xfrm>
          <a:prstGeom prst="roundRect">
            <a:avLst>
              <a:gd name="adj" fmla="val 5102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10362765" y="4462272"/>
            <a:ext cx="1231827" cy="8961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Внедрение, продолжение, лицензия, изменение правил или закрытие</a:t>
            </a:r>
            <a:endParaRPr lang="en-US" sz="900" dirty="0"/>
          </a:p>
        </p:txBody>
      </p:sp>
      <p:sp>
        <p:nvSpPr>
          <p:cNvPr id="83" name="Shape 81"/>
          <p:cNvSpPr/>
          <p:nvPr/>
        </p:nvSpPr>
        <p:spPr>
          <a:xfrm>
            <a:off x="10298757" y="5413248"/>
            <a:ext cx="1359843" cy="384048"/>
          </a:xfrm>
          <a:prstGeom prst="roundRect">
            <a:avLst>
              <a:gd name="adj" fmla="val 11905"/>
            </a:avLst>
          </a:prstGeom>
          <a:solidFill>
            <a:schemeClr val="accent4">
              <a:alpha val="7000"/>
            </a:schemeClr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10362765" y="5413248"/>
            <a:ext cx="1231827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accent4"/>
                </a:solidFill>
              </a:rPr>
              <a:t>Закрытие проекта</a:t>
            </a:r>
            <a:endParaRPr lang="en-US" sz="900" dirty="0"/>
          </a:p>
        </p:txBody>
      </p:sp>
      <p:sp>
        <p:nvSpPr>
          <p:cNvPr id="85" name="go:stages7">
            <a:hlinkClick r:id="rId1" tooltip="Семь этапов: расширенный вид" action="ppaction://hlinksldjump"/>
          </p:cNvPr>
          <p:cNvSpPr/>
          <p:nvPr/>
        </p:nvSpPr>
        <p:spPr>
          <a:xfrm>
            <a:off x="1783080" y="1810512"/>
            <a:ext cx="9902952" cy="7315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6" name="Shape 84"/>
          <p:cNvSpPr/>
          <p:nvPr/>
        </p:nvSpPr>
        <p:spPr>
          <a:xfrm>
            <a:off x="502920" y="5888736"/>
            <a:ext cx="11183112" cy="420624"/>
          </a:xfrm>
          <a:prstGeom prst="roundRect">
            <a:avLst>
              <a:gd name="adj" fmla="val 13043"/>
            </a:avLst>
          </a:prstGeom>
          <a:solidFill>
            <a:schemeClr val="bg2"/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640080" y="5888736"/>
            <a:ext cx="109270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Соответствие девяти этапам отчета:</a:t>
            </a:r>
            <a:r>
              <a:rPr lang="en-US" sz="900" dirty="0">
                <a:solidFill>
                  <a:schemeClr val="tx1"/>
                </a:solidFill>
              </a:rPr>
              <a:t> 1 — заявка · 2 — предварительная проверка (10 р. д.) и регуляторное картирование (15 р. д.) · 3–4 — проектирование теста (15 р. д.) и одобрение (10 р. д.*) · 5 — тестирование и мониторинг · 6 — оценка · 7 — выход</a:t>
            </a:r>
            <a:endParaRPr lang="en-US" sz="900" dirty="0"/>
          </a:p>
        </p:txBody>
      </p:sp>
      <p:sp>
        <p:nvSpPr>
          <p:cNvPr id="88" name="source"/>
          <p:cNvSpPr txBox="1"/>
          <p:nvPr/>
        </p:nvSpPr>
        <p:spPr>
          <a:xfrm>
            <a:off x="502920" y="6400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Иллюстрации 8 и 9 отчета. * Срок согласия регулятора устанавливается меморандумом. Ст. 43 — по материалам МЦЦТ.</a:t>
            </a:r>
            <a:endParaRPr lang="en-US" sz="800" dirty="0"/>
          </a:p>
        </p:txBody>
      </p:sp>
      <p:sp>
        <p:nvSpPr>
          <p:cNvPr id="89" name="Text 87"/>
          <p:cNvSpPr txBox="1"/>
          <p:nvPr/>
        </p:nvSpPr>
        <p:spPr>
          <a:xfrm>
            <a:off x="6290770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90" name="go:nav">
            <a:hlinkClick r:id="rId2" tooltip="Раздел: Меню" action="ppaction://hlinksldjump"/>
          </p:cNvPr>
          <p:cNvSpPr/>
          <p:nvPr/>
        </p:nvSpPr>
        <p:spPr>
          <a:xfrm>
            <a:off x="6290770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6821503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92" name="go:key5">
            <a:hlinkClick r:id="rId3" tooltip="Раздел: Главное" action="ppaction://hlinksldjump"/>
          </p:cNvPr>
          <p:cNvSpPr/>
          <p:nvPr/>
        </p:nvSpPr>
        <p:spPr>
          <a:xfrm>
            <a:off x="6821503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7516320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94" name="go:numbers">
            <a:hlinkClick r:id="rId4" tooltip="Раздел: Мир" action="ppaction://hlinksldjump"/>
          </p:cNvPr>
          <p:cNvSpPr/>
          <p:nvPr/>
        </p:nvSpPr>
        <p:spPr>
          <a:xfrm>
            <a:off x="7516320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795053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Кейсы</a:t>
            </a:r>
            <a:endParaRPr lang="en-US" sz="950" dirty="0"/>
          </a:p>
        </p:txBody>
      </p:sp>
      <p:sp>
        <p:nvSpPr>
          <p:cNvPr id="96" name="go:casemap">
            <a:hlinkClick r:id="rId5" tooltip="Раздел: Кейсы" action="ppaction://hlinksldjump"/>
          </p:cNvPr>
          <p:cNvSpPr/>
          <p:nvPr/>
        </p:nvSpPr>
        <p:spPr>
          <a:xfrm>
            <a:off x="795053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7" name="Text 95"/>
          <p:cNvSpPr txBox="1"/>
          <p:nvPr/>
        </p:nvSpPr>
        <p:spPr>
          <a:xfrm>
            <a:off x="8546417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98" name="go:ecosystem">
            <a:hlinkClick r:id="rId6" tooltip="Раздел: Модель" action="ppaction://hlinksldjump"/>
          </p:cNvPr>
          <p:cNvSpPr/>
          <p:nvPr/>
        </p:nvSpPr>
        <p:spPr>
          <a:xfrm>
            <a:off x="8546417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9" name="Shape 97"/>
          <p:cNvSpPr/>
          <p:nvPr/>
        </p:nvSpPr>
        <p:spPr>
          <a:xfrm>
            <a:off x="9176083" y="219456"/>
            <a:ext cx="691258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00" name="Text 98"/>
          <p:cNvSpPr txBox="1"/>
          <p:nvPr/>
        </p:nvSpPr>
        <p:spPr>
          <a:xfrm>
            <a:off x="9176083" y="219456"/>
            <a:ext cx="691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Этапы</a:t>
            </a:r>
            <a:endParaRPr lang="en-US" sz="950" dirty="0"/>
          </a:p>
        </p:txBody>
      </p:sp>
      <p:sp>
        <p:nvSpPr>
          <p:cNvPr id="101" name="go:path">
            <a:hlinkClick r:id="rId7" tooltip="Раздел: Этапы" action="ppaction://hlinksldjump"/>
          </p:cNvPr>
          <p:cNvSpPr/>
          <p:nvPr/>
        </p:nvSpPr>
        <p:spPr>
          <a:xfrm>
            <a:off x="9176083" y="219456"/>
            <a:ext cx="69125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2" name="Text 100"/>
          <p:cNvSpPr txBox="1"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103" name="go:criteria">
            <a:hlinkClick r:id="rId8" tooltip="Раздел: Защита" action="ppaction://hlinksldjump"/>
          </p:cNvPr>
          <p:cNvSpPr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105" name="go:pilots">
            <a:hlinkClick r:id="rId9" tooltip="Раздел: Пилоты" action="ppaction://hlinksldjump"/>
          </p:cNvPr>
          <p:cNvSpPr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6" name="Text 104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107" name="go:plan90">
            <a:hlinkClick r:id="rId10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Семь этапов: что подключается на каждом этапе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Data Lake и фокус-группы — не отдельные этапы, а механизмы, которые подключаются при необходимости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1856232" y="1783080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chemeClr val="tx2"/>
                </a:solidFill>
              </a:rPr>
              <a:t>ВХОД И ОТБОР</a:t>
            </a:r>
            <a:endParaRPr lang="en-US" sz="850" dirty="0"/>
          </a:p>
        </p:txBody>
      </p:sp>
      <p:sp>
        <p:nvSpPr>
          <p:cNvPr id="5" name="Shape 3"/>
          <p:cNvSpPr/>
          <p:nvPr/>
        </p:nvSpPr>
        <p:spPr>
          <a:xfrm>
            <a:off x="1856232" y="2002536"/>
            <a:ext cx="2761488" cy="0"/>
          </a:xfrm>
          <a:prstGeom prst="line">
            <a:avLst/>
          </a:prstGeom>
          <a:noFill/>
          <a:ln w="9525">
            <a:solidFill>
              <a:schemeClr val="tx2">
                <a:alpha val="50000"/>
              </a:schemeClr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4672584" y="1783080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chemeClr val="tx2"/>
                </a:solidFill>
              </a:rPr>
              <a:t>ПОДГОТОВКА</a:t>
            </a:r>
            <a:endParaRPr lang="en-US" sz="850" dirty="0"/>
          </a:p>
        </p:txBody>
      </p:sp>
      <p:sp>
        <p:nvSpPr>
          <p:cNvPr id="7" name="Shape 5"/>
          <p:cNvSpPr/>
          <p:nvPr/>
        </p:nvSpPr>
        <p:spPr>
          <a:xfrm>
            <a:off x="4672584" y="2002536"/>
            <a:ext cx="2761488" cy="0"/>
          </a:xfrm>
          <a:prstGeom prst="line">
            <a:avLst/>
          </a:prstGeom>
          <a:noFill/>
          <a:ln w="9525">
            <a:solidFill>
              <a:schemeClr val="tx2">
                <a:alpha val="50000"/>
              </a:schemeClr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7488936" y="1783080"/>
            <a:ext cx="1353312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chemeClr val="tx2"/>
                </a:solidFill>
              </a:rPr>
              <a:t>ТЕСТ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7488936" y="2002536"/>
            <a:ext cx="1353312" cy="0"/>
          </a:xfrm>
          <a:prstGeom prst="line">
            <a:avLst/>
          </a:prstGeom>
          <a:noFill/>
          <a:ln w="9525">
            <a:solidFill>
              <a:schemeClr val="tx2">
                <a:alpha val="50000"/>
              </a:schemeClr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8897112" y="1783080"/>
            <a:ext cx="2761488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50" b="1" spc="100" kern="0" dirty="0">
                <a:solidFill>
                  <a:schemeClr val="tx2"/>
                </a:solidFill>
              </a:rPr>
              <a:t>ИТОГИ И ВЫХОД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8897112" y="2002536"/>
            <a:ext cx="2761488" cy="0"/>
          </a:xfrm>
          <a:prstGeom prst="line">
            <a:avLst/>
          </a:prstGeom>
          <a:noFill/>
          <a:ln w="9525">
            <a:solidFill>
              <a:schemeClr val="tx2">
                <a:alpha val="50000"/>
              </a:scheme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1856232" y="2066544"/>
            <a:ext cx="1353312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1920240" y="2066544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01  Обращение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3264408" y="2066544"/>
            <a:ext cx="1353312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3328416" y="2066544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02  Правовая и проектная оценка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4672584" y="2066544"/>
            <a:ext cx="1353312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4736592" y="2066544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03  Выбор формата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6080760" y="2066544"/>
            <a:ext cx="1353312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144768" y="2066544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04  План и готовность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7488936" y="2066544"/>
            <a:ext cx="1353312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7552944" y="2066544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05  Тестирование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8897112" y="2066544"/>
            <a:ext cx="1353312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961120" y="2066544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06  Оценка результата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10305288" y="2066544"/>
            <a:ext cx="1353312" cy="502920"/>
          </a:xfrm>
          <a:prstGeom prst="roundRect">
            <a:avLst>
              <a:gd name="adj" fmla="val 10909"/>
            </a:avLst>
          </a:prstGeom>
          <a:solidFill>
            <a:schemeClr val="accent1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10369296" y="2066544"/>
            <a:ext cx="1225296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07  Выход и исполнение</a:t>
            </a:r>
            <a:endParaRPr lang="en-US" sz="900" dirty="0"/>
          </a:p>
        </p:txBody>
      </p:sp>
      <p:pic>
        <p:nvPicPr>
          <p:cNvPr id="26" name="Image 0" descr="Route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2743200"/>
            <a:ext cx="237744" cy="237744"/>
          </a:xfrm>
          <a:prstGeom prst="rect">
            <a:avLst/>
          </a:prstGeom>
        </p:spPr>
      </p:pic>
      <p:sp>
        <p:nvSpPr>
          <p:cNvPr id="27" name="Text 24"/>
          <p:cNvSpPr txBox="1"/>
          <p:nvPr/>
        </p:nvSpPr>
        <p:spPr>
          <a:xfrm>
            <a:off x="804672" y="2706624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Основной процесс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1856232" y="2633472"/>
            <a:ext cx="1353312" cy="658368"/>
          </a:xfrm>
          <a:prstGeom prst="roundRect">
            <a:avLst>
              <a:gd name="adj" fmla="val 6944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29" name="Text 26"/>
          <p:cNvSpPr txBox="1"/>
          <p:nvPr/>
        </p:nvSpPr>
        <p:spPr>
          <a:xfrm>
            <a:off x="1920240" y="263347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Компания описывает технологию и цели теста</a:t>
            </a:r>
            <a:endParaRPr lang="en-US" sz="850" dirty="0"/>
          </a:p>
        </p:txBody>
      </p:sp>
      <p:sp>
        <p:nvSpPr>
          <p:cNvPr id="30" name="Shape 27"/>
          <p:cNvSpPr/>
          <p:nvPr/>
        </p:nvSpPr>
        <p:spPr>
          <a:xfrm>
            <a:off x="3264408" y="2633472"/>
            <a:ext cx="1353312" cy="658368"/>
          </a:xfrm>
          <a:prstGeom prst="roundRect">
            <a:avLst>
              <a:gd name="adj" fmla="val 6944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31" name="Text 28"/>
          <p:cNvSpPr txBox="1"/>
          <p:nvPr/>
        </p:nvSpPr>
        <p:spPr>
          <a:xfrm>
            <a:off x="3328416" y="263347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МЦЦТ оценивает право, пользу, риски и ресурсы</a:t>
            </a:r>
            <a:endParaRPr lang="en-US" sz="850" dirty="0"/>
          </a:p>
        </p:txBody>
      </p:sp>
      <p:sp>
        <p:nvSpPr>
          <p:cNvPr id="32" name="Shape 29"/>
          <p:cNvSpPr/>
          <p:nvPr/>
        </p:nvSpPr>
        <p:spPr>
          <a:xfrm>
            <a:off x="4672584" y="2633472"/>
            <a:ext cx="1353312" cy="658368"/>
          </a:xfrm>
          <a:prstGeom prst="roundRect">
            <a:avLst>
              <a:gd name="adj" fmla="val 6944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33" name="Text 30"/>
          <p:cNvSpPr txBox="1"/>
          <p:nvPr/>
        </p:nvSpPr>
        <p:spPr>
          <a:xfrm>
            <a:off x="4736592" y="263347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Техническое тестирование или регуляторный эксперимент</a:t>
            </a:r>
            <a:endParaRPr lang="en-US" sz="850" dirty="0"/>
          </a:p>
        </p:txBody>
      </p:sp>
      <p:sp>
        <p:nvSpPr>
          <p:cNvPr id="34" name="Shape 31"/>
          <p:cNvSpPr/>
          <p:nvPr/>
        </p:nvSpPr>
        <p:spPr>
          <a:xfrm>
            <a:off x="6080760" y="2633472"/>
            <a:ext cx="1353312" cy="658368"/>
          </a:xfrm>
          <a:prstGeom prst="roundRect">
            <a:avLst>
              <a:gd name="adj" fmla="val 6944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35" name="Text 32"/>
          <p:cNvSpPr txBox="1"/>
          <p:nvPr/>
        </p:nvSpPr>
        <p:spPr>
          <a:xfrm>
            <a:off x="6144768" y="263347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Цели, сроки, лимиты, меры защиты, условия остановки</a:t>
            </a:r>
            <a:endParaRPr lang="en-US" sz="850" dirty="0"/>
          </a:p>
        </p:txBody>
      </p:sp>
      <p:sp>
        <p:nvSpPr>
          <p:cNvPr id="36" name="Shape 33"/>
          <p:cNvSpPr/>
          <p:nvPr/>
        </p:nvSpPr>
        <p:spPr>
          <a:xfrm>
            <a:off x="7488936" y="2633472"/>
            <a:ext cx="1353312" cy="658368"/>
          </a:xfrm>
          <a:prstGeom prst="roundRect">
            <a:avLst>
              <a:gd name="adj" fmla="val 6944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37" name="Text 34"/>
          <p:cNvSpPr txBox="1"/>
          <p:nvPr/>
        </p:nvSpPr>
        <p:spPr>
          <a:xfrm>
            <a:off x="7552944" y="263347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Тест по плану под мониторингом МЦЦТ</a:t>
            </a:r>
            <a:endParaRPr lang="en-US" sz="850" dirty="0"/>
          </a:p>
        </p:txBody>
      </p:sp>
      <p:sp>
        <p:nvSpPr>
          <p:cNvPr id="38" name="Shape 35"/>
          <p:cNvSpPr/>
          <p:nvPr/>
        </p:nvSpPr>
        <p:spPr>
          <a:xfrm>
            <a:off x="8897112" y="2633472"/>
            <a:ext cx="1353312" cy="658368"/>
          </a:xfrm>
          <a:prstGeom prst="roundRect">
            <a:avLst>
              <a:gd name="adj" fmla="val 6944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39" name="Text 36"/>
          <p:cNvSpPr txBox="1"/>
          <p:nvPr/>
        </p:nvSpPr>
        <p:spPr>
          <a:xfrm>
            <a:off x="8961120" y="263347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Итоговый отчет: эффективность, безопасность, риски</a:t>
            </a:r>
            <a:endParaRPr lang="en-US" sz="850" dirty="0"/>
          </a:p>
        </p:txBody>
      </p:sp>
      <p:sp>
        <p:nvSpPr>
          <p:cNvPr id="40" name="Shape 37"/>
          <p:cNvSpPr/>
          <p:nvPr/>
        </p:nvSpPr>
        <p:spPr>
          <a:xfrm>
            <a:off x="10305288" y="2633472"/>
            <a:ext cx="1353312" cy="658368"/>
          </a:xfrm>
          <a:prstGeom prst="roundRect">
            <a:avLst>
              <a:gd name="adj" fmla="val 6944"/>
            </a:avLst>
          </a:prstGeom>
          <a:solidFill>
            <a:schemeClr val="accent1">
              <a:alpha val="10000"/>
            </a:schemeClr>
          </a:solidFill>
          <a:ln w="9525">
            <a:solidFill>
              <a:schemeClr val="accent1">
                <a:alpha val="40000"/>
              </a:schemeClr>
            </a:solidFill>
            <a:prstDash val="solid"/>
          </a:ln>
        </p:spPr>
      </p:sp>
      <p:sp>
        <p:nvSpPr>
          <p:cNvPr id="41" name="Text 38"/>
          <p:cNvSpPr txBox="1"/>
          <p:nvPr/>
        </p:nvSpPr>
        <p:spPr>
          <a:xfrm>
            <a:off x="10369296" y="2633472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Решение о режиме, предложения по правилам</a:t>
            </a:r>
            <a:endParaRPr lang="en-US" sz="850" dirty="0"/>
          </a:p>
        </p:txBody>
      </p:sp>
      <p:pic>
        <p:nvPicPr>
          <p:cNvPr id="42" name="Image 1" descr="Datab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3456432"/>
            <a:ext cx="237744" cy="237744"/>
          </a:xfrm>
          <a:prstGeom prst="rect">
            <a:avLst/>
          </a:prstGeom>
        </p:spPr>
      </p:pic>
      <p:sp>
        <p:nvSpPr>
          <p:cNvPr id="43" name="Text 39"/>
          <p:cNvSpPr txBox="1"/>
          <p:nvPr/>
        </p:nvSpPr>
        <p:spPr>
          <a:xfrm>
            <a:off x="804672" y="3419856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2"/>
                </a:solidFill>
              </a:rPr>
              <a:t>Data Lake</a:t>
            </a:r>
            <a:endParaRPr lang="en-US" sz="900" dirty="0"/>
          </a:p>
        </p:txBody>
      </p:sp>
      <p:sp>
        <p:nvSpPr>
          <p:cNvPr id="44" name="Text 40"/>
          <p:cNvSpPr txBox="1"/>
          <p:nvPr/>
        </p:nvSpPr>
        <p:spPr>
          <a:xfrm>
            <a:off x="804672" y="3730752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chemeClr val="tx2"/>
                </a:solidFill>
              </a:rPr>
              <a:t>при необходимости</a:t>
            </a:r>
            <a:endParaRPr lang="en-US" sz="750" dirty="0"/>
          </a:p>
        </p:txBody>
      </p:sp>
      <p:sp>
        <p:nvSpPr>
          <p:cNvPr id="45" name="Shape 41"/>
          <p:cNvSpPr/>
          <p:nvPr/>
        </p:nvSpPr>
        <p:spPr>
          <a:xfrm>
            <a:off x="1856232" y="3346704"/>
            <a:ext cx="1353312" cy="658368"/>
          </a:xfrm>
          <a:prstGeom prst="roundRect">
            <a:avLst>
              <a:gd name="adj" fmla="val 6944"/>
            </a:avLst>
          </a:prstGeom>
          <a:solidFill>
            <a:schemeClr val="accent2">
              <a:alpha val="5000"/>
            </a:schemeClr>
          </a:solidFill>
          <a:ln w="9525">
            <a:solidFill>
              <a:schemeClr val="accent2"/>
            </a:solidFill>
            <a:prstDash val="dash"/>
          </a:ln>
        </p:spPr>
      </p:sp>
      <p:sp>
        <p:nvSpPr>
          <p:cNvPr id="46" name="Text 42"/>
          <p:cNvSpPr txBox="1"/>
          <p:nvPr/>
        </p:nvSpPr>
        <p:spPr>
          <a:xfrm>
            <a:off x="1920240" y="3346704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Какие данные нужны, есть ли собственные</a:t>
            </a:r>
            <a:endParaRPr lang="en-US" sz="850" dirty="0"/>
          </a:p>
        </p:txBody>
      </p:sp>
      <p:sp>
        <p:nvSpPr>
          <p:cNvPr id="47" name="Shape 43"/>
          <p:cNvSpPr/>
          <p:nvPr/>
        </p:nvSpPr>
        <p:spPr>
          <a:xfrm>
            <a:off x="3264408" y="3346704"/>
            <a:ext cx="1353312" cy="658368"/>
          </a:xfrm>
          <a:prstGeom prst="roundRect">
            <a:avLst>
              <a:gd name="adj" fmla="val 6944"/>
            </a:avLst>
          </a:prstGeom>
          <a:solidFill>
            <a:schemeClr val="accent2">
              <a:alpha val="5000"/>
            </a:schemeClr>
          </a:solidFill>
          <a:ln w="9525">
            <a:solidFill>
              <a:schemeClr val="accent2"/>
            </a:solidFill>
            <a:prstDash val="dash"/>
          </a:ln>
        </p:spPr>
      </p:sp>
      <p:sp>
        <p:nvSpPr>
          <p:cNvPr id="48" name="Text 44"/>
          <p:cNvSpPr txBox="1"/>
          <p:nvPr/>
        </p:nvSpPr>
        <p:spPr>
          <a:xfrm>
            <a:off x="3328416" y="3346704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Законность и доступность данных</a:t>
            </a:r>
            <a:endParaRPr lang="en-US" sz="850" dirty="0"/>
          </a:p>
        </p:txBody>
      </p:sp>
      <p:sp>
        <p:nvSpPr>
          <p:cNvPr id="49" name="Shape 45"/>
          <p:cNvSpPr/>
          <p:nvPr/>
        </p:nvSpPr>
        <p:spPr>
          <a:xfrm>
            <a:off x="4672584" y="3346704"/>
            <a:ext cx="1353312" cy="658368"/>
          </a:xfrm>
          <a:prstGeom prst="roundRect">
            <a:avLst>
              <a:gd name="adj" fmla="val 6944"/>
            </a:avLst>
          </a:prstGeom>
          <a:solidFill>
            <a:schemeClr val="accent2">
              <a:alpha val="5000"/>
            </a:schemeClr>
          </a:solidFill>
          <a:ln w="9525">
            <a:solidFill>
              <a:schemeClr val="accent2"/>
            </a:solidFill>
            <a:prstDash val="dash"/>
          </a:ln>
        </p:spPr>
      </p:sp>
      <p:sp>
        <p:nvSpPr>
          <p:cNvPr id="50" name="Text 46"/>
          <p:cNvSpPr txBox="1"/>
          <p:nvPr/>
        </p:nvSpPr>
        <p:spPr>
          <a:xfrm>
            <a:off x="4736592" y="3346704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Нужен ли Data Lake и какие источники</a:t>
            </a:r>
            <a:endParaRPr lang="en-US" sz="850" dirty="0"/>
          </a:p>
        </p:txBody>
      </p:sp>
      <p:sp>
        <p:nvSpPr>
          <p:cNvPr id="51" name="Shape 47"/>
          <p:cNvSpPr/>
          <p:nvPr/>
        </p:nvSpPr>
        <p:spPr>
          <a:xfrm>
            <a:off x="6080760" y="3346704"/>
            <a:ext cx="1353312" cy="658368"/>
          </a:xfrm>
          <a:prstGeom prst="roundRect">
            <a:avLst>
              <a:gd name="adj" fmla="val 6944"/>
            </a:avLst>
          </a:prstGeom>
          <a:solidFill>
            <a:schemeClr val="accent2">
              <a:alpha val="5000"/>
            </a:schemeClr>
          </a:solidFill>
          <a:ln w="9525">
            <a:solidFill>
              <a:schemeClr val="accent2"/>
            </a:solidFill>
            <a:prstDash val="dash"/>
          </a:ln>
        </p:spPr>
      </p:sp>
      <p:sp>
        <p:nvSpPr>
          <p:cNvPr id="52" name="Text 48"/>
          <p:cNvSpPr txBox="1"/>
          <p:nvPr/>
        </p:nvSpPr>
        <p:spPr>
          <a:xfrm>
            <a:off x="6144768" y="3346704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Основания, условия доступа, безопасность</a:t>
            </a:r>
            <a:endParaRPr lang="en-US" sz="850" dirty="0"/>
          </a:p>
        </p:txBody>
      </p:sp>
      <p:sp>
        <p:nvSpPr>
          <p:cNvPr id="53" name="Shape 49"/>
          <p:cNvSpPr/>
          <p:nvPr/>
        </p:nvSpPr>
        <p:spPr>
          <a:xfrm>
            <a:off x="7488936" y="3346704"/>
            <a:ext cx="1353312" cy="658368"/>
          </a:xfrm>
          <a:prstGeom prst="roundRect">
            <a:avLst>
              <a:gd name="adj" fmla="val 6944"/>
            </a:avLst>
          </a:prstGeom>
          <a:solidFill>
            <a:schemeClr val="accent2">
              <a:alpha val="5000"/>
            </a:schemeClr>
          </a:solidFill>
          <a:ln w="9525">
            <a:solidFill>
              <a:schemeClr val="accent2"/>
            </a:solidFill>
            <a:prstDash val="dash"/>
          </a:ln>
        </p:spPr>
      </p:sp>
      <p:sp>
        <p:nvSpPr>
          <p:cNvPr id="54" name="Text 50"/>
          <p:cNvSpPr txBox="1"/>
          <p:nvPr/>
        </p:nvSpPr>
        <p:spPr>
          <a:xfrm>
            <a:off x="7552944" y="3346704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Только согласованные данные по плану</a:t>
            </a:r>
            <a:endParaRPr lang="en-US" sz="850" dirty="0"/>
          </a:p>
        </p:txBody>
      </p:sp>
      <p:sp>
        <p:nvSpPr>
          <p:cNvPr id="55" name="Shape 51"/>
          <p:cNvSpPr/>
          <p:nvPr/>
        </p:nvSpPr>
        <p:spPr>
          <a:xfrm>
            <a:off x="8897112" y="3346704"/>
            <a:ext cx="1353312" cy="658368"/>
          </a:xfrm>
          <a:prstGeom prst="roundRect">
            <a:avLst>
              <a:gd name="adj" fmla="val 6944"/>
            </a:avLst>
          </a:prstGeom>
          <a:solidFill>
            <a:schemeClr val="accent2">
              <a:alpha val="5000"/>
            </a:schemeClr>
          </a:solidFill>
          <a:ln w="9525">
            <a:solidFill>
              <a:schemeClr val="accent2"/>
            </a:solidFill>
            <a:prstDash val="dash"/>
          </a:ln>
        </p:spPr>
      </p:sp>
      <p:sp>
        <p:nvSpPr>
          <p:cNvPr id="56" name="Text 52"/>
          <p:cNvSpPr txBox="1"/>
          <p:nvPr/>
        </p:nvSpPr>
        <p:spPr>
          <a:xfrm>
            <a:off x="8961120" y="3346704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Качество данных и достоверность выводов</a:t>
            </a:r>
            <a:endParaRPr lang="en-US" sz="850" dirty="0"/>
          </a:p>
        </p:txBody>
      </p:sp>
      <p:sp>
        <p:nvSpPr>
          <p:cNvPr id="57" name="Shape 53"/>
          <p:cNvSpPr/>
          <p:nvPr/>
        </p:nvSpPr>
        <p:spPr>
          <a:xfrm>
            <a:off x="10305288" y="3346704"/>
            <a:ext cx="1353312" cy="658368"/>
          </a:xfrm>
          <a:prstGeom prst="roundRect">
            <a:avLst>
              <a:gd name="adj" fmla="val 6944"/>
            </a:avLst>
          </a:prstGeom>
          <a:solidFill>
            <a:schemeClr val="accent2">
              <a:alpha val="5000"/>
            </a:schemeClr>
          </a:solidFill>
          <a:ln w="9525">
            <a:solidFill>
              <a:schemeClr val="accent2"/>
            </a:solidFill>
            <a:prstDash val="dash"/>
          </a:ln>
        </p:spPr>
      </p:sp>
      <p:sp>
        <p:nvSpPr>
          <p:cNvPr id="58" name="Text 54"/>
          <p:cNvSpPr txBox="1"/>
          <p:nvPr/>
        </p:nvSpPr>
        <p:spPr>
          <a:xfrm>
            <a:off x="10369296" y="3346704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Закрытие доступа, хранение или удаление</a:t>
            </a:r>
            <a:endParaRPr lang="en-US" sz="850" dirty="0"/>
          </a:p>
        </p:txBody>
      </p:sp>
      <p:sp>
        <p:nvSpPr>
          <p:cNvPr id="59" name="go:datalake">
            <a:hlinkClick r:id="rId3" tooltip="Data Lake" action="ppaction://hlinksldjump"/>
          </p:cNvPr>
          <p:cNvSpPr/>
          <p:nvPr/>
        </p:nvSpPr>
        <p:spPr>
          <a:xfrm>
            <a:off x="457200" y="3346704"/>
            <a:ext cx="11228832" cy="65836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pic>
        <p:nvPicPr>
          <p:cNvPr id="60" name="Image 2" descr="Us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2920" y="4169664"/>
            <a:ext cx="237744" cy="237744"/>
          </a:xfrm>
          <a:prstGeom prst="rect">
            <a:avLst/>
          </a:prstGeom>
        </p:spPr>
      </p:pic>
      <p:sp>
        <p:nvSpPr>
          <p:cNvPr id="61" name="Text 56"/>
          <p:cNvSpPr txBox="1"/>
          <p:nvPr/>
        </p:nvSpPr>
        <p:spPr>
          <a:xfrm>
            <a:off x="804672" y="4133088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3"/>
                </a:solidFill>
              </a:rPr>
              <a:t>Фокус-группы</a:t>
            </a:r>
            <a:endParaRPr lang="en-US" sz="900" dirty="0"/>
          </a:p>
        </p:txBody>
      </p:sp>
      <p:sp>
        <p:nvSpPr>
          <p:cNvPr id="62" name="Text 57"/>
          <p:cNvSpPr txBox="1"/>
          <p:nvPr/>
        </p:nvSpPr>
        <p:spPr>
          <a:xfrm>
            <a:off x="804672" y="4443984"/>
            <a:ext cx="10058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dirty="0">
                <a:solidFill>
                  <a:schemeClr val="tx2"/>
                </a:solidFill>
              </a:rPr>
              <a:t>при необходимости</a:t>
            </a:r>
            <a:endParaRPr lang="en-US" sz="750" dirty="0"/>
          </a:p>
        </p:txBody>
      </p:sp>
      <p:sp>
        <p:nvSpPr>
          <p:cNvPr id="63" name="Shape 58"/>
          <p:cNvSpPr/>
          <p:nvPr/>
        </p:nvSpPr>
        <p:spPr>
          <a:xfrm>
            <a:off x="1856232" y="4059936"/>
            <a:ext cx="1353312" cy="658368"/>
          </a:xfrm>
          <a:prstGeom prst="roundRect">
            <a:avLst>
              <a:gd name="adj" fmla="val 6944"/>
            </a:avLst>
          </a:prstGeom>
          <a:solidFill>
            <a:schemeClr val="accent3">
              <a:alpha val="500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64" name="Text 59"/>
          <p:cNvSpPr txBox="1"/>
          <p:nvPr/>
        </p:nvSpPr>
        <p:spPr>
          <a:xfrm>
            <a:off x="1920240" y="4059936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Нужны ли реальные пользователи</a:t>
            </a:r>
            <a:endParaRPr lang="en-US" sz="850" dirty="0"/>
          </a:p>
        </p:txBody>
      </p:sp>
      <p:sp>
        <p:nvSpPr>
          <p:cNvPr id="65" name="Shape 60"/>
          <p:cNvSpPr/>
          <p:nvPr/>
        </p:nvSpPr>
        <p:spPr>
          <a:xfrm>
            <a:off x="3264408" y="4059936"/>
            <a:ext cx="1353312" cy="658368"/>
          </a:xfrm>
          <a:prstGeom prst="roundRect">
            <a:avLst>
              <a:gd name="adj" fmla="val 6944"/>
            </a:avLst>
          </a:prstGeom>
          <a:solidFill>
            <a:schemeClr val="accent3">
              <a:alpha val="500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66" name="Text 61"/>
          <p:cNvSpPr txBox="1"/>
          <p:nvPr/>
        </p:nvSpPr>
        <p:spPr>
          <a:xfrm>
            <a:off x="3328416" y="4059936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Возможность привлечения и риски</a:t>
            </a:r>
            <a:endParaRPr lang="en-US" sz="850" dirty="0"/>
          </a:p>
        </p:txBody>
      </p:sp>
      <p:sp>
        <p:nvSpPr>
          <p:cNvPr id="67" name="Shape 62"/>
          <p:cNvSpPr/>
          <p:nvPr/>
        </p:nvSpPr>
        <p:spPr>
          <a:xfrm>
            <a:off x="4672584" y="4059936"/>
            <a:ext cx="1353312" cy="658368"/>
          </a:xfrm>
          <a:prstGeom prst="roundRect">
            <a:avLst>
              <a:gd name="adj" fmla="val 6944"/>
            </a:avLst>
          </a:prstGeom>
          <a:solidFill>
            <a:schemeClr val="accent3">
              <a:alpha val="500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68" name="Text 63"/>
          <p:cNvSpPr txBox="1"/>
          <p:nvPr/>
        </p:nvSpPr>
        <p:spPr>
          <a:xfrm>
            <a:off x="4736592" y="4059936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Нужна ли фокус-группа, какие партнеры</a:t>
            </a:r>
            <a:endParaRPr lang="en-US" sz="850" dirty="0"/>
          </a:p>
        </p:txBody>
      </p:sp>
      <p:sp>
        <p:nvSpPr>
          <p:cNvPr id="69" name="Shape 64"/>
          <p:cNvSpPr/>
          <p:nvPr/>
        </p:nvSpPr>
        <p:spPr>
          <a:xfrm>
            <a:off x="6080760" y="4059936"/>
            <a:ext cx="1353312" cy="658368"/>
          </a:xfrm>
          <a:prstGeom prst="roundRect">
            <a:avLst>
              <a:gd name="adj" fmla="val 6944"/>
            </a:avLst>
          </a:prstGeom>
          <a:solidFill>
            <a:schemeClr val="accent3">
              <a:alpha val="500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70" name="Text 65"/>
          <p:cNvSpPr txBox="1"/>
          <p:nvPr/>
        </p:nvSpPr>
        <p:spPr>
          <a:xfrm>
            <a:off x="6144768" y="4059936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Критерии отбора, договоры, права сторон</a:t>
            </a:r>
            <a:endParaRPr lang="en-US" sz="850" dirty="0"/>
          </a:p>
        </p:txBody>
      </p:sp>
      <p:sp>
        <p:nvSpPr>
          <p:cNvPr id="71" name="Shape 66"/>
          <p:cNvSpPr/>
          <p:nvPr/>
        </p:nvSpPr>
        <p:spPr>
          <a:xfrm>
            <a:off x="7488936" y="4059936"/>
            <a:ext cx="1353312" cy="658368"/>
          </a:xfrm>
          <a:prstGeom prst="roundRect">
            <a:avLst>
              <a:gd name="adj" fmla="val 6944"/>
            </a:avLst>
          </a:prstGeom>
          <a:solidFill>
            <a:schemeClr val="accent3">
              <a:alpha val="500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72" name="Text 67"/>
          <p:cNvSpPr txBox="1"/>
          <p:nvPr/>
        </p:nvSpPr>
        <p:spPr>
          <a:xfrm>
            <a:off x="7552944" y="4059936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Использование продукта под контролем</a:t>
            </a:r>
            <a:endParaRPr lang="en-US" sz="850" dirty="0"/>
          </a:p>
        </p:txBody>
      </p:sp>
      <p:sp>
        <p:nvSpPr>
          <p:cNvPr id="73" name="Shape 68"/>
          <p:cNvSpPr/>
          <p:nvPr/>
        </p:nvSpPr>
        <p:spPr>
          <a:xfrm>
            <a:off x="8897112" y="4059936"/>
            <a:ext cx="1353312" cy="658368"/>
          </a:xfrm>
          <a:prstGeom prst="roundRect">
            <a:avLst>
              <a:gd name="adj" fmla="val 6944"/>
            </a:avLst>
          </a:prstGeom>
          <a:solidFill>
            <a:schemeClr val="accent3">
              <a:alpha val="500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74" name="Text 69"/>
          <p:cNvSpPr txBox="1"/>
          <p:nvPr/>
        </p:nvSpPr>
        <p:spPr>
          <a:xfrm>
            <a:off x="8961120" y="4059936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Обратная связь и показатели группы</a:t>
            </a:r>
            <a:endParaRPr lang="en-US" sz="850" dirty="0"/>
          </a:p>
        </p:txBody>
      </p:sp>
      <p:sp>
        <p:nvSpPr>
          <p:cNvPr id="75" name="Shape 70"/>
          <p:cNvSpPr/>
          <p:nvPr/>
        </p:nvSpPr>
        <p:spPr>
          <a:xfrm>
            <a:off x="10305288" y="4059936"/>
            <a:ext cx="1353312" cy="658368"/>
          </a:xfrm>
          <a:prstGeom prst="roundRect">
            <a:avLst>
              <a:gd name="adj" fmla="val 6944"/>
            </a:avLst>
          </a:prstGeom>
          <a:solidFill>
            <a:schemeClr val="accent3">
              <a:alpha val="500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76" name="Text 71"/>
          <p:cNvSpPr txBox="1"/>
          <p:nvPr/>
        </p:nvSpPr>
        <p:spPr>
          <a:xfrm>
            <a:off x="10369296" y="4059936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1"/>
                </a:solidFill>
              </a:rPr>
              <a:t>Обязательства перед участниками</a:t>
            </a:r>
            <a:endParaRPr lang="en-US" sz="850" dirty="0"/>
          </a:p>
        </p:txBody>
      </p:sp>
      <p:sp>
        <p:nvSpPr>
          <p:cNvPr id="77" name="go:focus">
            <a:hlinkClick r:id="rId5" tooltip="Фокус-группы" action="ppaction://hlinksldjump"/>
          </p:cNvPr>
          <p:cNvSpPr/>
          <p:nvPr/>
        </p:nvSpPr>
        <p:spPr>
          <a:xfrm>
            <a:off x="457200" y="4059936"/>
            <a:ext cx="11228832" cy="65836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pic>
        <p:nvPicPr>
          <p:cNvPr id="78" name="Image 3" descr="Fla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02920" y="4882896"/>
            <a:ext cx="237744" cy="237744"/>
          </a:xfrm>
          <a:prstGeom prst="rect">
            <a:avLst/>
          </a:prstGeom>
        </p:spPr>
      </p:pic>
      <p:sp>
        <p:nvSpPr>
          <p:cNvPr id="79" name="Text 73"/>
          <p:cNvSpPr txBox="1"/>
          <p:nvPr/>
        </p:nvSpPr>
        <p:spPr>
          <a:xfrm>
            <a:off x="804672" y="4846320"/>
            <a:ext cx="10058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5"/>
                </a:solidFill>
              </a:rPr>
              <a:t>Результат этапа</a:t>
            </a:r>
            <a:endParaRPr lang="en-US" sz="900" dirty="0"/>
          </a:p>
        </p:txBody>
      </p:sp>
      <p:sp>
        <p:nvSpPr>
          <p:cNvPr id="80" name="Shape 74"/>
          <p:cNvSpPr/>
          <p:nvPr/>
        </p:nvSpPr>
        <p:spPr>
          <a:xfrm>
            <a:off x="1856232" y="4773168"/>
            <a:ext cx="1353312" cy="658368"/>
          </a:xfrm>
          <a:prstGeom prst="roundRect">
            <a:avLst>
              <a:gd name="adj" fmla="val 6944"/>
            </a:avLst>
          </a:prstGeom>
          <a:solidFill>
            <a:schemeClr val="accent5"/>
          </a:solidFill>
          <a:ln/>
        </p:spPr>
      </p:sp>
      <p:sp>
        <p:nvSpPr>
          <p:cNvPr id="81" name="Text 75"/>
          <p:cNvSpPr txBox="1"/>
          <p:nvPr/>
        </p:nvSpPr>
        <p:spPr>
          <a:xfrm>
            <a:off x="1920240" y="4773168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Карточка проекта и следующий шаг</a:t>
            </a:r>
            <a:endParaRPr lang="en-US" sz="850" dirty="0"/>
          </a:p>
        </p:txBody>
      </p:sp>
      <p:sp>
        <p:nvSpPr>
          <p:cNvPr id="82" name="Shape 76"/>
          <p:cNvSpPr/>
          <p:nvPr/>
        </p:nvSpPr>
        <p:spPr>
          <a:xfrm>
            <a:off x="3264408" y="4773168"/>
            <a:ext cx="1353312" cy="658368"/>
          </a:xfrm>
          <a:prstGeom prst="roundRect">
            <a:avLst>
              <a:gd name="adj" fmla="val 6944"/>
            </a:avLst>
          </a:prstGeom>
          <a:solidFill>
            <a:schemeClr val="accent5"/>
          </a:solidFill>
          <a:ln/>
        </p:spPr>
      </p:sp>
      <p:sp>
        <p:nvSpPr>
          <p:cNvPr id="83" name="Text 77"/>
          <p:cNvSpPr txBox="1"/>
          <p:nvPr/>
        </p:nvSpPr>
        <p:spPr>
          <a:xfrm>
            <a:off x="3328416" y="4773168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Подготовка, уточнение, отказ или переадресация</a:t>
            </a:r>
            <a:endParaRPr lang="en-US" sz="850" dirty="0"/>
          </a:p>
        </p:txBody>
      </p:sp>
      <p:sp>
        <p:nvSpPr>
          <p:cNvPr id="84" name="Shape 78"/>
          <p:cNvSpPr/>
          <p:nvPr/>
        </p:nvSpPr>
        <p:spPr>
          <a:xfrm>
            <a:off x="4672584" y="4773168"/>
            <a:ext cx="1353312" cy="658368"/>
          </a:xfrm>
          <a:prstGeom prst="roundRect">
            <a:avLst>
              <a:gd name="adj" fmla="val 6944"/>
            </a:avLst>
          </a:prstGeom>
          <a:solidFill>
            <a:schemeClr val="accent5"/>
          </a:solidFill>
          <a:ln/>
        </p:spPr>
      </p:sp>
      <p:sp>
        <p:nvSpPr>
          <p:cNvPr id="85" name="Text 79"/>
          <p:cNvSpPr txBox="1"/>
          <p:nvPr/>
        </p:nvSpPr>
        <p:spPr>
          <a:xfrm>
            <a:off x="4736592" y="4773168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Формат и подключаемые механизмы</a:t>
            </a:r>
            <a:endParaRPr lang="en-US" sz="850" dirty="0"/>
          </a:p>
        </p:txBody>
      </p:sp>
      <p:sp>
        <p:nvSpPr>
          <p:cNvPr id="86" name="Shape 80"/>
          <p:cNvSpPr/>
          <p:nvPr/>
        </p:nvSpPr>
        <p:spPr>
          <a:xfrm>
            <a:off x="6080760" y="4773168"/>
            <a:ext cx="1353312" cy="658368"/>
          </a:xfrm>
          <a:prstGeom prst="roundRect">
            <a:avLst>
              <a:gd name="adj" fmla="val 6944"/>
            </a:avLst>
          </a:prstGeom>
          <a:solidFill>
            <a:schemeClr val="accent5"/>
          </a:solidFill>
          <a:ln/>
        </p:spPr>
      </p:sp>
      <p:sp>
        <p:nvSpPr>
          <p:cNvPr id="87" name="Text 81"/>
          <p:cNvSpPr txBox="1"/>
          <p:nvPr/>
        </p:nvSpPr>
        <p:spPr>
          <a:xfrm>
            <a:off x="6144768" y="4773168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Основания получены: допуск к тесту</a:t>
            </a:r>
            <a:endParaRPr lang="en-US" sz="850" dirty="0"/>
          </a:p>
        </p:txBody>
      </p:sp>
      <p:sp>
        <p:nvSpPr>
          <p:cNvPr id="88" name="Shape 82"/>
          <p:cNvSpPr/>
          <p:nvPr/>
        </p:nvSpPr>
        <p:spPr>
          <a:xfrm>
            <a:off x="7488936" y="4773168"/>
            <a:ext cx="1353312" cy="658368"/>
          </a:xfrm>
          <a:prstGeom prst="roundRect">
            <a:avLst>
              <a:gd name="adj" fmla="val 6944"/>
            </a:avLst>
          </a:prstGeom>
          <a:solidFill>
            <a:schemeClr val="accent5"/>
          </a:solidFill>
          <a:ln/>
        </p:spPr>
      </p:sp>
      <p:sp>
        <p:nvSpPr>
          <p:cNvPr id="89" name="Text 83"/>
          <p:cNvSpPr txBox="1"/>
          <p:nvPr/>
        </p:nvSpPr>
        <p:spPr>
          <a:xfrm>
            <a:off x="7552944" y="4773168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Продолжение, корректировка или остановка</a:t>
            </a:r>
            <a:endParaRPr lang="en-US" sz="850" dirty="0"/>
          </a:p>
        </p:txBody>
      </p:sp>
      <p:sp>
        <p:nvSpPr>
          <p:cNvPr id="90" name="Shape 84"/>
          <p:cNvSpPr/>
          <p:nvPr/>
        </p:nvSpPr>
        <p:spPr>
          <a:xfrm>
            <a:off x="8897112" y="4773168"/>
            <a:ext cx="1353312" cy="658368"/>
          </a:xfrm>
          <a:prstGeom prst="roundRect">
            <a:avLst>
              <a:gd name="adj" fmla="val 6944"/>
            </a:avLst>
          </a:prstGeom>
          <a:solidFill>
            <a:schemeClr val="accent5"/>
          </a:solidFill>
          <a:ln/>
        </p:spPr>
      </p:sp>
      <p:sp>
        <p:nvSpPr>
          <p:cNvPr id="91" name="Text 85"/>
          <p:cNvSpPr txBox="1"/>
          <p:nvPr/>
        </p:nvSpPr>
        <p:spPr>
          <a:xfrm>
            <a:off x="8961120" y="4773168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Вывод по проекту и по регулированию</a:t>
            </a:r>
            <a:endParaRPr lang="en-US" sz="850" dirty="0"/>
          </a:p>
        </p:txBody>
      </p:sp>
      <p:sp>
        <p:nvSpPr>
          <p:cNvPr id="92" name="Shape 86"/>
          <p:cNvSpPr/>
          <p:nvPr/>
        </p:nvSpPr>
        <p:spPr>
          <a:xfrm>
            <a:off x="10305288" y="4773168"/>
            <a:ext cx="1353312" cy="658368"/>
          </a:xfrm>
          <a:prstGeom prst="roundRect">
            <a:avLst>
              <a:gd name="adj" fmla="val 6944"/>
            </a:avLst>
          </a:prstGeom>
          <a:solidFill>
            <a:schemeClr val="accent5"/>
          </a:solidFill>
          <a:ln/>
        </p:spPr>
      </p:sp>
      <p:sp>
        <p:nvSpPr>
          <p:cNvPr id="93" name="Text 87"/>
          <p:cNvSpPr txBox="1"/>
          <p:nvPr/>
        </p:nvSpPr>
        <p:spPr>
          <a:xfrm>
            <a:off x="10369296" y="4773168"/>
            <a:ext cx="1225296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Переход, продолжение на условиях или закрытие</a:t>
            </a:r>
            <a:endParaRPr lang="en-US" sz="850" dirty="0"/>
          </a:p>
        </p:txBody>
      </p:sp>
      <p:sp>
        <p:nvSpPr>
          <p:cNvPr id="94" name="Text 88"/>
          <p:cNvSpPr txBox="1"/>
          <p:nvPr/>
        </p:nvSpPr>
        <p:spPr>
          <a:xfrm>
            <a:off x="502920" y="5486400"/>
            <a:ext cx="13258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chemeClr val="tx2"/>
                </a:solidFill>
              </a:rPr>
              <a:t>Ориентир (по модели МЦЦТ)</a:t>
            </a:r>
            <a:endParaRPr lang="en-US" sz="850" dirty="0"/>
          </a:p>
        </p:txBody>
      </p:sp>
      <p:sp>
        <p:nvSpPr>
          <p:cNvPr id="95" name="Shape 89"/>
          <p:cNvSpPr/>
          <p:nvPr/>
        </p:nvSpPr>
        <p:spPr>
          <a:xfrm>
            <a:off x="1901952" y="5504688"/>
            <a:ext cx="1261872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96" name="Text 90"/>
          <p:cNvSpPr txBox="1"/>
          <p:nvPr/>
        </p:nvSpPr>
        <p:spPr>
          <a:xfrm>
            <a:off x="1901952" y="550468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FCA · HKMA</a:t>
            </a:r>
            <a:endParaRPr lang="en-US" sz="800" dirty="0"/>
          </a:p>
        </p:txBody>
      </p:sp>
      <p:sp>
        <p:nvSpPr>
          <p:cNvPr id="97" name="Shape 91"/>
          <p:cNvSpPr/>
          <p:nvPr/>
        </p:nvSpPr>
        <p:spPr>
          <a:xfrm>
            <a:off x="3310128" y="5504688"/>
            <a:ext cx="1261872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98" name="Text 92"/>
          <p:cNvSpPr txBox="1"/>
          <p:nvPr/>
        </p:nvSpPr>
        <p:spPr>
          <a:xfrm>
            <a:off x="3310128" y="550468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FCA · AFSA</a:t>
            </a:r>
            <a:endParaRPr lang="en-US" sz="800" dirty="0"/>
          </a:p>
        </p:txBody>
      </p:sp>
      <p:sp>
        <p:nvSpPr>
          <p:cNvPr id="99" name="Shape 93"/>
          <p:cNvSpPr/>
          <p:nvPr/>
        </p:nvSpPr>
        <p:spPr>
          <a:xfrm>
            <a:off x="4718304" y="5504688"/>
            <a:ext cx="1261872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00" name="Text 94"/>
          <p:cNvSpPr txBox="1"/>
          <p:nvPr/>
        </p:nvSpPr>
        <p:spPr>
          <a:xfrm>
            <a:off x="4718304" y="550468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FCA · MAS</a:t>
            </a:r>
            <a:endParaRPr lang="en-US" sz="800" dirty="0"/>
          </a:p>
        </p:txBody>
      </p:sp>
      <p:sp>
        <p:nvSpPr>
          <p:cNvPr id="101" name="Shape 95"/>
          <p:cNvSpPr/>
          <p:nvPr/>
        </p:nvSpPr>
        <p:spPr>
          <a:xfrm>
            <a:off x="6126480" y="5504688"/>
            <a:ext cx="1261872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02" name="Text 96"/>
          <p:cNvSpPr txBox="1"/>
          <p:nvPr/>
        </p:nvSpPr>
        <p:spPr>
          <a:xfrm>
            <a:off x="6126480" y="550468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DFSA · FSRA · AFSA</a:t>
            </a:r>
            <a:endParaRPr lang="en-US" sz="800" dirty="0"/>
          </a:p>
        </p:txBody>
      </p:sp>
      <p:sp>
        <p:nvSpPr>
          <p:cNvPr id="103" name="Shape 97"/>
          <p:cNvSpPr/>
          <p:nvPr/>
        </p:nvSpPr>
        <p:spPr>
          <a:xfrm>
            <a:off x="7534656" y="5504688"/>
            <a:ext cx="1261872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04" name="Text 98"/>
          <p:cNvSpPr txBox="1"/>
          <p:nvPr/>
        </p:nvSpPr>
        <p:spPr>
          <a:xfrm>
            <a:off x="7534656" y="550468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DFSA</a:t>
            </a:r>
            <a:endParaRPr lang="en-US" sz="800" dirty="0"/>
          </a:p>
        </p:txBody>
      </p:sp>
      <p:sp>
        <p:nvSpPr>
          <p:cNvPr id="105" name="Shape 99"/>
          <p:cNvSpPr/>
          <p:nvPr/>
        </p:nvSpPr>
        <p:spPr>
          <a:xfrm>
            <a:off x="8942832" y="5504688"/>
            <a:ext cx="1261872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06" name="Text 100"/>
          <p:cNvSpPr txBox="1"/>
          <p:nvPr/>
        </p:nvSpPr>
        <p:spPr>
          <a:xfrm>
            <a:off x="8942832" y="550468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FCA · DFSA</a:t>
            </a:r>
            <a:endParaRPr lang="en-US" sz="800" dirty="0"/>
          </a:p>
        </p:txBody>
      </p:sp>
      <p:sp>
        <p:nvSpPr>
          <p:cNvPr id="107" name="Shape 101"/>
          <p:cNvSpPr/>
          <p:nvPr/>
        </p:nvSpPr>
        <p:spPr>
          <a:xfrm>
            <a:off x="10351008" y="5504688"/>
            <a:ext cx="1261872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108" name="Text 102"/>
          <p:cNvSpPr txBox="1"/>
          <p:nvPr/>
        </p:nvSpPr>
        <p:spPr>
          <a:xfrm>
            <a:off x="10351008" y="5504688"/>
            <a:ext cx="1261872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DFSA</a:t>
            </a:r>
            <a:endParaRPr lang="en-US" sz="800" dirty="0"/>
          </a:p>
        </p:txBody>
      </p:sp>
      <p:sp>
        <p:nvSpPr>
          <p:cNvPr id="109" name="Shape 103"/>
          <p:cNvSpPr/>
          <p:nvPr/>
        </p:nvSpPr>
        <p:spPr>
          <a:xfrm>
            <a:off x="7461504" y="2066544"/>
            <a:ext cx="0" cy="3749040"/>
          </a:xfrm>
          <a:prstGeom prst="line">
            <a:avLst/>
          </a:prstGeom>
          <a:noFill/>
          <a:ln w="15875">
            <a:solidFill>
              <a:schemeClr val="accent4"/>
            </a:solidFill>
            <a:prstDash val="dash"/>
          </a:ln>
        </p:spPr>
      </p:sp>
      <p:sp>
        <p:nvSpPr>
          <p:cNvPr id="110" name="Shape 104"/>
          <p:cNvSpPr/>
          <p:nvPr/>
        </p:nvSpPr>
        <p:spPr>
          <a:xfrm>
            <a:off x="6894576" y="5815584"/>
            <a:ext cx="1133856" cy="219456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111" name="Text 105"/>
          <p:cNvSpPr txBox="1"/>
          <p:nvPr/>
        </p:nvSpPr>
        <p:spPr>
          <a:xfrm>
            <a:off x="6894576" y="5815584"/>
            <a:ext cx="113385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старт операций</a:t>
            </a:r>
            <a:endParaRPr lang="en-US" sz="800" dirty="0"/>
          </a:p>
        </p:txBody>
      </p:sp>
      <p:sp>
        <p:nvSpPr>
          <p:cNvPr id="112" name="Text 106"/>
          <p:cNvSpPr txBox="1"/>
          <p:nvPr/>
        </p:nvSpPr>
        <p:spPr>
          <a:xfrm>
            <a:off x="502920" y="6089904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Реальные операции — только после этапа 4. Существенные изменения плана оцениваются до внедрения. Ожидание решения не продлевает право на тест.</a:t>
            </a:r>
            <a:endParaRPr lang="en-US" sz="850" dirty="0"/>
          </a:p>
        </p:txBody>
      </p:sp>
      <p:sp>
        <p:nvSpPr>
          <p:cNvPr id="113" name="Shape 107"/>
          <p:cNvSpPr/>
          <p:nvPr/>
        </p:nvSpPr>
        <p:spPr>
          <a:xfrm>
            <a:off x="9249030" y="6409944"/>
            <a:ext cx="1586610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114" name="Text 108"/>
          <p:cNvSpPr txBox="1"/>
          <p:nvPr/>
        </p:nvSpPr>
        <p:spPr>
          <a:xfrm>
            <a:off x="9249030" y="6409944"/>
            <a:ext cx="158661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‹  Путь заявки и сроки</a:t>
            </a:r>
            <a:endParaRPr lang="en-US" sz="900" dirty="0"/>
          </a:p>
        </p:txBody>
      </p:sp>
      <p:sp>
        <p:nvSpPr>
          <p:cNvPr id="115" name="go:path">
            <a:hlinkClick r:id="rId7" tooltip="‹  Путь заявки и сроки" action="ppaction://hlinksldjump"/>
          </p:cNvPr>
          <p:cNvSpPr/>
          <p:nvPr/>
        </p:nvSpPr>
        <p:spPr>
          <a:xfrm>
            <a:off x="9249030" y="6409944"/>
            <a:ext cx="1586610" cy="2560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6" name="Text 110"/>
          <p:cNvSpPr txBox="1"/>
          <p:nvPr/>
        </p:nvSpPr>
        <p:spPr>
          <a:xfrm>
            <a:off x="6290770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117" name="go:nav">
            <a:hlinkClick r:id="rId8" tooltip="Раздел: Меню" action="ppaction://hlinksldjump"/>
          </p:cNvPr>
          <p:cNvSpPr/>
          <p:nvPr/>
        </p:nvSpPr>
        <p:spPr>
          <a:xfrm>
            <a:off x="6290770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18" name="Text 112"/>
          <p:cNvSpPr txBox="1"/>
          <p:nvPr/>
        </p:nvSpPr>
        <p:spPr>
          <a:xfrm>
            <a:off x="6821503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119" name="go:key5">
            <a:hlinkClick r:id="rId9" tooltip="Раздел: Главное" action="ppaction://hlinksldjump"/>
          </p:cNvPr>
          <p:cNvSpPr/>
          <p:nvPr/>
        </p:nvSpPr>
        <p:spPr>
          <a:xfrm>
            <a:off x="6821503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0" name="Text 114"/>
          <p:cNvSpPr txBox="1"/>
          <p:nvPr/>
        </p:nvSpPr>
        <p:spPr>
          <a:xfrm>
            <a:off x="7516320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121" name="go:numbers">
            <a:hlinkClick r:id="rId10" tooltip="Раздел: Мир" action="ppaction://hlinksldjump"/>
          </p:cNvPr>
          <p:cNvSpPr/>
          <p:nvPr/>
        </p:nvSpPr>
        <p:spPr>
          <a:xfrm>
            <a:off x="7516320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2" name="Text 116"/>
          <p:cNvSpPr txBox="1"/>
          <p:nvPr/>
        </p:nvSpPr>
        <p:spPr>
          <a:xfrm>
            <a:off x="795053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Кейсы</a:t>
            </a:r>
            <a:endParaRPr lang="en-US" sz="950" dirty="0"/>
          </a:p>
        </p:txBody>
      </p:sp>
      <p:sp>
        <p:nvSpPr>
          <p:cNvPr id="123" name="go:casemap">
            <a:hlinkClick r:id="rId11" tooltip="Раздел: Кейсы" action="ppaction://hlinksldjump"/>
          </p:cNvPr>
          <p:cNvSpPr/>
          <p:nvPr/>
        </p:nvSpPr>
        <p:spPr>
          <a:xfrm>
            <a:off x="795053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4" name="Text 118"/>
          <p:cNvSpPr txBox="1"/>
          <p:nvPr/>
        </p:nvSpPr>
        <p:spPr>
          <a:xfrm>
            <a:off x="8546417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125" name="go:ecosystem">
            <a:hlinkClick r:id="rId12" tooltip="Раздел: Модель" action="ppaction://hlinksldjump"/>
          </p:cNvPr>
          <p:cNvSpPr/>
          <p:nvPr/>
        </p:nvSpPr>
        <p:spPr>
          <a:xfrm>
            <a:off x="8546417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6" name="Shape 120"/>
          <p:cNvSpPr/>
          <p:nvPr/>
        </p:nvSpPr>
        <p:spPr>
          <a:xfrm>
            <a:off x="9176083" y="219456"/>
            <a:ext cx="691258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27" name="Text 121"/>
          <p:cNvSpPr txBox="1"/>
          <p:nvPr/>
        </p:nvSpPr>
        <p:spPr>
          <a:xfrm>
            <a:off x="9176083" y="219456"/>
            <a:ext cx="691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Этапы</a:t>
            </a:r>
            <a:endParaRPr lang="en-US" sz="950" dirty="0"/>
          </a:p>
        </p:txBody>
      </p:sp>
      <p:sp>
        <p:nvSpPr>
          <p:cNvPr id="128" name="go:path">
            <a:hlinkClick r:id="rId13" tooltip="Раздел: Этапы" action="ppaction://hlinksldjump"/>
          </p:cNvPr>
          <p:cNvSpPr/>
          <p:nvPr/>
        </p:nvSpPr>
        <p:spPr>
          <a:xfrm>
            <a:off x="9176083" y="219456"/>
            <a:ext cx="69125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9" name="Text 123"/>
          <p:cNvSpPr txBox="1"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130" name="go:criteria">
            <a:hlinkClick r:id="rId14" tooltip="Раздел: Защита" action="ppaction://hlinksldjump"/>
          </p:cNvPr>
          <p:cNvSpPr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1" name="Text 125"/>
          <p:cNvSpPr txBox="1"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132" name="go:pilots">
            <a:hlinkClick r:id="rId15" tooltip="Раздел: Пилоты" action="ppaction://hlinksldjump"/>
          </p:cNvPr>
          <p:cNvSpPr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3" name="Text 127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134" name="go:plan90">
            <a:hlinkClick r:id="rId16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Data Lake: данные для проверки решения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Контролируемый доступ к подходящим данным — только в пределах утвержденного плана тестирования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10512"/>
            <a:ext cx="1783080" cy="2395728"/>
          </a:xfrm>
          <a:prstGeom prst="roundRect">
            <a:avLst>
              <a:gd name="adj" fmla="val 5128"/>
            </a:avLst>
          </a:prstGeom>
          <a:solidFill>
            <a:schemeClr val="bg1"/>
          </a:solidFill>
          <a:ln w="9525">
            <a:solidFill>
              <a:schemeClr val="tx2">
                <a:alpha val="50000"/>
              </a:schemeClr>
            </a:solidFill>
            <a:prstDash val="solid"/>
          </a:ln>
        </p:spPr>
      </p:sp>
      <p:pic>
        <p:nvPicPr>
          <p:cNvPr id="5" name="Image 0" descr="Building2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8368" y="1975104"/>
            <a:ext cx="365760" cy="365760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658368" y="2414016"/>
            <a:ext cx="1508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Компания</a:t>
            </a:r>
            <a:endParaRPr lang="en-US" sz="1200" dirty="0"/>
          </a:p>
        </p:txBody>
      </p:sp>
      <p:sp>
        <p:nvSpPr>
          <p:cNvPr id="7" name="Text 4"/>
          <p:cNvSpPr txBox="1"/>
          <p:nvPr/>
        </p:nvSpPr>
        <p:spPr>
          <a:xfrm>
            <a:off x="658368" y="2706624"/>
            <a:ext cx="15087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описывает решение и указывает, какие данные нужны для его проверки</a:t>
            </a:r>
            <a:endParaRPr lang="en-US" sz="950" dirty="0"/>
          </a:p>
        </p:txBody>
      </p:sp>
      <p:sp>
        <p:nvSpPr>
          <p:cNvPr id="8" name="Shape 5"/>
          <p:cNvSpPr/>
          <p:nvPr/>
        </p:nvSpPr>
        <p:spPr>
          <a:xfrm>
            <a:off x="658368" y="3822192"/>
            <a:ext cx="822960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9" name="Text 6"/>
          <p:cNvSpPr txBox="1"/>
          <p:nvPr/>
        </p:nvSpPr>
        <p:spPr>
          <a:xfrm>
            <a:off x="658368" y="3822192"/>
            <a:ext cx="822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5"/>
                </a:solidFill>
              </a:rPr>
              <a:t>этап 1</a:t>
            </a:r>
            <a:endParaRPr lang="en-US" sz="850" dirty="0"/>
          </a:p>
        </p:txBody>
      </p:sp>
      <p:sp>
        <p:nvSpPr>
          <p:cNvPr id="10" name="Text 7"/>
          <p:cNvSpPr txBox="1"/>
          <p:nvPr/>
        </p:nvSpPr>
        <p:spPr>
          <a:xfrm>
            <a:off x="2514600" y="1792224"/>
            <a:ext cx="26517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tx2"/>
                </a:solidFill>
              </a:rPr>
              <a:t>ИСТОЧНИКИ ДАННЫХ</a:t>
            </a:r>
            <a:endParaRPr lang="en-US" sz="950" dirty="0"/>
          </a:p>
        </p:txBody>
      </p:sp>
      <p:sp>
        <p:nvSpPr>
          <p:cNvPr id="11" name="Shape 8"/>
          <p:cNvSpPr/>
          <p:nvPr/>
        </p:nvSpPr>
        <p:spPr>
          <a:xfrm>
            <a:off x="2514600" y="2084832"/>
            <a:ext cx="2651760" cy="640080"/>
          </a:xfrm>
          <a:prstGeom prst="roundRect">
            <a:avLst>
              <a:gd name="adj" fmla="val 11429"/>
            </a:avLst>
          </a:prstGeom>
          <a:solidFill>
            <a:schemeClr val="bg1"/>
          </a:solidFill>
          <a:ln w="9525">
            <a:solidFill>
              <a:schemeClr val="tx2">
                <a:alpha val="50000"/>
              </a:schemeClr>
            </a:solidFill>
            <a:prstDash val="solid"/>
          </a:ln>
        </p:spPr>
      </p:sp>
      <p:pic>
        <p:nvPicPr>
          <p:cNvPr id="12" name="Image 1" descr="Briefcas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633472" y="2240280"/>
            <a:ext cx="310896" cy="310896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3035808" y="2130552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Собственные данные компании</a:t>
            </a:r>
            <a:endParaRPr lang="en-US" sz="950" dirty="0"/>
          </a:p>
        </p:txBody>
      </p:sp>
      <p:sp>
        <p:nvSpPr>
          <p:cNvPr id="14" name="Text 10"/>
          <p:cNvSpPr txBox="1"/>
          <p:nvPr/>
        </p:nvSpPr>
        <p:spPr>
          <a:xfrm>
            <a:off x="3035808" y="2468880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тест возможен и без Data Lake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2514600" y="2798064"/>
            <a:ext cx="2651760" cy="640080"/>
          </a:xfrm>
          <a:prstGeom prst="roundRect">
            <a:avLst>
              <a:gd name="adj" fmla="val 11429"/>
            </a:avLst>
          </a:prstGeom>
          <a:solidFill>
            <a:schemeClr val="accent2">
              <a:alpha val="5000"/>
            </a:schemeClr>
          </a:solidFill>
          <a:ln w="9525">
            <a:solidFill>
              <a:schemeClr val="accent2"/>
            </a:solidFill>
            <a:prstDash val="dash"/>
          </a:ln>
        </p:spPr>
      </p:sp>
      <p:pic>
        <p:nvPicPr>
          <p:cNvPr id="16" name="Image 2" descr="Databas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633472" y="295351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 txBox="1"/>
          <p:nvPr/>
        </p:nvSpPr>
        <p:spPr>
          <a:xfrm>
            <a:off x="3035808" y="2843784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Данные, доступ к которым организует МЦЦТ</a:t>
            </a:r>
            <a:endParaRPr lang="en-US" sz="950" dirty="0"/>
          </a:p>
        </p:txBody>
      </p:sp>
      <p:sp>
        <p:nvSpPr>
          <p:cNvPr id="18" name="Text 13"/>
          <p:cNvSpPr txBox="1"/>
          <p:nvPr/>
        </p:nvSpPr>
        <p:spPr>
          <a:xfrm>
            <a:off x="3035808" y="3182112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при наличии и пригодности</a:t>
            </a:r>
            <a:endParaRPr lang="en-US" sz="800" dirty="0"/>
          </a:p>
        </p:txBody>
      </p:sp>
      <p:sp>
        <p:nvSpPr>
          <p:cNvPr id="19" name="Shape 14"/>
          <p:cNvSpPr/>
          <p:nvPr/>
        </p:nvSpPr>
        <p:spPr>
          <a:xfrm>
            <a:off x="2514600" y="3511296"/>
            <a:ext cx="2651760" cy="640080"/>
          </a:xfrm>
          <a:prstGeom prst="roundRect">
            <a:avLst>
              <a:gd name="adj" fmla="val 11429"/>
            </a:avLst>
          </a:prstGeom>
          <a:solidFill>
            <a:schemeClr val="accent2">
              <a:alpha val="5000"/>
            </a:schemeClr>
          </a:solidFill>
          <a:ln w="9525">
            <a:solidFill>
              <a:schemeClr val="accent2"/>
            </a:solidFill>
            <a:prstDash val="dash"/>
          </a:ln>
        </p:spPr>
      </p:sp>
      <p:pic>
        <p:nvPicPr>
          <p:cNvPr id="20" name="Image 3" descr="Handshake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633472" y="3666744"/>
            <a:ext cx="310896" cy="310896"/>
          </a:xfrm>
          <a:prstGeom prst="rect">
            <a:avLst/>
          </a:prstGeom>
        </p:spPr>
      </p:pic>
      <p:sp>
        <p:nvSpPr>
          <p:cNvPr id="21" name="Text 15"/>
          <p:cNvSpPr txBox="1"/>
          <p:nvPr/>
        </p:nvSpPr>
        <p:spPr>
          <a:xfrm>
            <a:off x="3035808" y="3557016"/>
            <a:ext cx="20574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Данные партнеров</a:t>
            </a:r>
            <a:endParaRPr lang="en-US" sz="950" dirty="0"/>
          </a:p>
        </p:txBody>
      </p:sp>
      <p:sp>
        <p:nvSpPr>
          <p:cNvPr id="22" name="Text 16"/>
          <p:cNvSpPr txBox="1"/>
          <p:nvPr/>
        </p:nvSpPr>
        <p:spPr>
          <a:xfrm>
            <a:off x="3035808" y="3895344"/>
            <a:ext cx="2057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IT Park и другие (предлагается)</a:t>
            </a:r>
            <a:endParaRPr lang="en-US" sz="800" dirty="0"/>
          </a:p>
        </p:txBody>
      </p:sp>
      <p:sp>
        <p:nvSpPr>
          <p:cNvPr id="23" name="Shape 17"/>
          <p:cNvSpPr/>
          <p:nvPr/>
        </p:nvSpPr>
        <p:spPr>
          <a:xfrm>
            <a:off x="5394960" y="1810512"/>
            <a:ext cx="2011680" cy="2395728"/>
          </a:xfrm>
          <a:prstGeom prst="roundRect">
            <a:avLst>
              <a:gd name="adj" fmla="val 4545"/>
            </a:avLst>
          </a:prstGeom>
          <a:solidFill>
            <a:schemeClr val="accent4">
              <a:alpha val="7000"/>
            </a:schemeClr>
          </a:solidFill>
          <a:ln w="15875">
            <a:solidFill>
              <a:schemeClr val="accent4"/>
            </a:solidFill>
            <a:prstDash val="solid"/>
          </a:ln>
        </p:spPr>
      </p:sp>
      <p:pic>
        <p:nvPicPr>
          <p:cNvPr id="24" name="Image 4" descr="Key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50408" y="1975104"/>
            <a:ext cx="347472" cy="347472"/>
          </a:xfrm>
          <a:prstGeom prst="rect">
            <a:avLst/>
          </a:prstGeom>
        </p:spPr>
      </p:pic>
      <p:sp>
        <p:nvSpPr>
          <p:cNvPr id="25" name="Text 18"/>
          <p:cNvSpPr txBox="1"/>
          <p:nvPr/>
        </p:nvSpPr>
        <p:spPr>
          <a:xfrm>
            <a:off x="5550408" y="2377440"/>
            <a:ext cx="1737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4"/>
                </a:solidFill>
              </a:rPr>
              <a:t>Правовой шлюз</a:t>
            </a:r>
            <a:endParaRPr lang="en-US" sz="1200" dirty="0"/>
          </a:p>
        </p:txBody>
      </p:sp>
      <p:sp>
        <p:nvSpPr>
          <p:cNvPr id="26" name="Text 19"/>
          <p:cNvSpPr txBox="1"/>
          <p:nvPr/>
        </p:nvSpPr>
        <p:spPr>
          <a:xfrm>
            <a:off x="5550408" y="2688336"/>
            <a:ext cx="1755648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правовые основания</a:t>
            </a:r>
            <a:endParaRPr lang="en-US" sz="900" dirty="0"/>
          </a:p>
          <a:p>
            <a:pPr marL="139700" indent="-1397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необходимые разрешения</a:t>
            </a:r>
            <a:endParaRPr lang="en-US" sz="900" dirty="0"/>
          </a:p>
          <a:p>
            <a:pPr marL="139700" indent="-1397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требования безопасности</a:t>
            </a:r>
            <a:endParaRPr lang="en-US" sz="900" dirty="0"/>
          </a:p>
          <a:p>
            <a:pPr marL="139700" indent="-139700">
              <a:spcAft>
                <a:spcPts val="1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условия доступа: цель, срок, категории, ограничения</a:t>
            </a:r>
            <a:endParaRPr lang="en-US" sz="900" dirty="0"/>
          </a:p>
        </p:txBody>
      </p:sp>
      <p:sp>
        <p:nvSpPr>
          <p:cNvPr id="27" name="Shape 20"/>
          <p:cNvSpPr/>
          <p:nvPr/>
        </p:nvSpPr>
        <p:spPr>
          <a:xfrm>
            <a:off x="5550408" y="3822192"/>
            <a:ext cx="914400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28" name="Text 21"/>
          <p:cNvSpPr txBox="1"/>
          <p:nvPr/>
        </p:nvSpPr>
        <p:spPr>
          <a:xfrm>
            <a:off x="5550408" y="38221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4"/>
                </a:solidFill>
              </a:rPr>
              <a:t>этапы 2–4</a:t>
            </a:r>
            <a:endParaRPr lang="en-US" sz="850" dirty="0"/>
          </a:p>
        </p:txBody>
      </p:sp>
      <p:sp>
        <p:nvSpPr>
          <p:cNvPr id="29" name="Shape 22"/>
          <p:cNvSpPr/>
          <p:nvPr/>
        </p:nvSpPr>
        <p:spPr>
          <a:xfrm>
            <a:off x="7635240" y="1810512"/>
            <a:ext cx="2011680" cy="2395728"/>
          </a:xfrm>
          <a:prstGeom prst="roundRect">
            <a:avLst>
              <a:gd name="adj" fmla="val 4545"/>
            </a:avLst>
          </a:prstGeom>
          <a:solidFill>
            <a:schemeClr val="accent2">
              <a:alpha val="5000"/>
            </a:schemeClr>
          </a:solidFill>
          <a:ln w="15875">
            <a:solidFill>
              <a:schemeClr val="accent2"/>
            </a:solidFill>
            <a:prstDash val="solid"/>
          </a:ln>
        </p:spPr>
      </p:sp>
      <p:pic>
        <p:nvPicPr>
          <p:cNvPr id="30" name="Image 5" descr="Lo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790688" y="1975104"/>
            <a:ext cx="347472" cy="347472"/>
          </a:xfrm>
          <a:prstGeom prst="rect">
            <a:avLst/>
          </a:prstGeom>
        </p:spPr>
      </p:pic>
      <p:sp>
        <p:nvSpPr>
          <p:cNvPr id="31" name="Text 23"/>
          <p:cNvSpPr txBox="1"/>
          <p:nvPr/>
        </p:nvSpPr>
        <p:spPr>
          <a:xfrm>
            <a:off x="7790688" y="2340864"/>
            <a:ext cx="1737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accent2"/>
                </a:solidFill>
              </a:rPr>
              <a:t>Контролируемый доступ</a:t>
            </a:r>
            <a:endParaRPr lang="en-US" sz="1200" dirty="0"/>
          </a:p>
        </p:txBody>
      </p:sp>
      <p:sp>
        <p:nvSpPr>
          <p:cNvPr id="32" name="Text 24"/>
          <p:cNvSpPr txBox="1"/>
          <p:nvPr/>
        </p:nvSpPr>
        <p:spPr>
          <a:xfrm>
            <a:off x="7790688" y="2761488"/>
            <a:ext cx="173736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только для утвержденного плана тестирования</a:t>
            </a:r>
            <a:endParaRPr lang="en-US" sz="900" dirty="0"/>
          </a:p>
        </p:txBody>
      </p:sp>
      <p:sp>
        <p:nvSpPr>
          <p:cNvPr id="33" name="Text 25"/>
          <p:cNvSpPr txBox="1"/>
          <p:nvPr/>
        </p:nvSpPr>
        <p:spPr>
          <a:xfrm>
            <a:off x="7790688" y="3090672"/>
            <a:ext cx="1737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chemeClr val="accent2"/>
                </a:solidFill>
              </a:rPr>
              <a:t>ФОРМА ДАННЫХ</a:t>
            </a:r>
            <a:endParaRPr lang="en-US" sz="800" dirty="0"/>
          </a:p>
        </p:txBody>
      </p:sp>
      <p:sp>
        <p:nvSpPr>
          <p:cNvPr id="34" name="Shape 26"/>
          <p:cNvSpPr/>
          <p:nvPr/>
        </p:nvSpPr>
        <p:spPr>
          <a:xfrm>
            <a:off x="7790688" y="3291840"/>
            <a:ext cx="841248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5" name="Text 27"/>
          <p:cNvSpPr txBox="1"/>
          <p:nvPr/>
        </p:nvSpPr>
        <p:spPr>
          <a:xfrm>
            <a:off x="7790688" y="329184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2"/>
                </a:solidFill>
              </a:rPr>
              <a:t>обезличенные</a:t>
            </a:r>
            <a:endParaRPr lang="en-US" sz="750" dirty="0"/>
          </a:p>
        </p:txBody>
      </p:sp>
      <p:sp>
        <p:nvSpPr>
          <p:cNvPr id="36" name="Shape 28"/>
          <p:cNvSpPr/>
          <p:nvPr/>
        </p:nvSpPr>
        <p:spPr>
          <a:xfrm>
            <a:off x="8677656" y="3291840"/>
            <a:ext cx="841248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7" name="Text 29"/>
          <p:cNvSpPr txBox="1"/>
          <p:nvPr/>
        </p:nvSpPr>
        <p:spPr>
          <a:xfrm>
            <a:off x="8677656" y="3291840"/>
            <a:ext cx="841248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2"/>
                </a:solidFill>
              </a:rPr>
              <a:t>синтетические</a:t>
            </a:r>
            <a:endParaRPr lang="en-US" sz="750" dirty="0"/>
          </a:p>
        </p:txBody>
      </p:sp>
      <p:sp>
        <p:nvSpPr>
          <p:cNvPr id="38" name="Shape 30"/>
          <p:cNvSpPr/>
          <p:nvPr/>
        </p:nvSpPr>
        <p:spPr>
          <a:xfrm>
            <a:off x="7790688" y="3547872"/>
            <a:ext cx="1728216" cy="219456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39" name="Text 31"/>
          <p:cNvSpPr txBox="1"/>
          <p:nvPr/>
        </p:nvSpPr>
        <p:spPr>
          <a:xfrm>
            <a:off x="7790688" y="3547872"/>
            <a:ext cx="1728216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750" b="1" dirty="0">
                <a:solidFill>
                  <a:schemeClr val="accent2"/>
                </a:solidFill>
              </a:rPr>
              <a:t>иные подходящие</a:t>
            </a:r>
            <a:endParaRPr lang="en-US" sz="750" dirty="0"/>
          </a:p>
        </p:txBody>
      </p:sp>
      <p:sp>
        <p:nvSpPr>
          <p:cNvPr id="40" name="Shape 32"/>
          <p:cNvSpPr/>
          <p:nvPr/>
        </p:nvSpPr>
        <p:spPr>
          <a:xfrm>
            <a:off x="7790688" y="3822192"/>
            <a:ext cx="914400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2"/>
            </a:solidFill>
            <a:prstDash val="solid"/>
          </a:ln>
        </p:spPr>
      </p:sp>
      <p:sp>
        <p:nvSpPr>
          <p:cNvPr id="41" name="Text 33"/>
          <p:cNvSpPr txBox="1"/>
          <p:nvPr/>
        </p:nvSpPr>
        <p:spPr>
          <a:xfrm>
            <a:off x="7790688" y="3822192"/>
            <a:ext cx="9144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2"/>
                </a:solidFill>
              </a:rPr>
              <a:t>этапы 5–6</a:t>
            </a:r>
            <a:endParaRPr lang="en-US" sz="850" dirty="0"/>
          </a:p>
        </p:txBody>
      </p:sp>
      <p:sp>
        <p:nvSpPr>
          <p:cNvPr id="42" name="Shape 34"/>
          <p:cNvSpPr/>
          <p:nvPr/>
        </p:nvSpPr>
        <p:spPr>
          <a:xfrm>
            <a:off x="9875520" y="1810512"/>
            <a:ext cx="1810512" cy="2395728"/>
          </a:xfrm>
          <a:prstGeom prst="roundRect">
            <a:avLst>
              <a:gd name="adj" fmla="val 5051"/>
            </a:avLst>
          </a:prstGeom>
          <a:solidFill>
            <a:schemeClr val="accent5"/>
          </a:solidFill>
          <a:ln/>
        </p:spPr>
      </p:sp>
      <p:pic>
        <p:nvPicPr>
          <p:cNvPr id="43" name="Image 6" descr="LogOut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0030968" y="1975104"/>
            <a:ext cx="347472" cy="347472"/>
          </a:xfrm>
          <a:prstGeom prst="rect">
            <a:avLst/>
          </a:prstGeom>
        </p:spPr>
      </p:pic>
      <p:sp>
        <p:nvSpPr>
          <p:cNvPr id="44" name="Text 35"/>
          <p:cNvSpPr txBox="1"/>
          <p:nvPr/>
        </p:nvSpPr>
        <p:spPr>
          <a:xfrm>
            <a:off x="10030968" y="2377440"/>
            <a:ext cx="1554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Закрытие доступа</a:t>
            </a:r>
            <a:endParaRPr lang="en-US" sz="1200" dirty="0"/>
          </a:p>
        </p:txBody>
      </p:sp>
      <p:sp>
        <p:nvSpPr>
          <p:cNvPr id="45" name="Text 36"/>
          <p:cNvSpPr txBox="1"/>
          <p:nvPr/>
        </p:nvSpPr>
        <p:spPr>
          <a:xfrm>
            <a:off x="10030968" y="2862072"/>
            <a:ext cx="1554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bg1"/>
                </a:solidFill>
              </a:rPr>
              <a:t>хранение, удаление или правомерное дальнейшее использование</a:t>
            </a:r>
            <a:endParaRPr lang="en-US" sz="900" dirty="0"/>
          </a:p>
        </p:txBody>
      </p:sp>
      <p:sp>
        <p:nvSpPr>
          <p:cNvPr id="46" name="Shape 37"/>
          <p:cNvSpPr/>
          <p:nvPr/>
        </p:nvSpPr>
        <p:spPr>
          <a:xfrm>
            <a:off x="10030968" y="3822192"/>
            <a:ext cx="731520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5"/>
            </a:solidFill>
            <a:prstDash val="solid"/>
          </a:ln>
        </p:spPr>
      </p:sp>
      <p:sp>
        <p:nvSpPr>
          <p:cNvPr id="47" name="Text 38"/>
          <p:cNvSpPr txBox="1"/>
          <p:nvPr/>
        </p:nvSpPr>
        <p:spPr>
          <a:xfrm>
            <a:off x="10030968" y="3822192"/>
            <a:ext cx="731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5"/>
                </a:solidFill>
              </a:rPr>
              <a:t>этап 7</a:t>
            </a:r>
            <a:endParaRPr lang="en-US" sz="850" dirty="0"/>
          </a:p>
        </p:txBody>
      </p:sp>
      <p:sp>
        <p:nvSpPr>
          <p:cNvPr id="48" name="Shape 39"/>
          <p:cNvSpPr/>
          <p:nvPr/>
        </p:nvSpPr>
        <p:spPr>
          <a:xfrm>
            <a:off x="2286000" y="3008376"/>
            <a:ext cx="22860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49" name="Shape 40"/>
          <p:cNvSpPr/>
          <p:nvPr/>
        </p:nvSpPr>
        <p:spPr>
          <a:xfrm>
            <a:off x="5166360" y="3008376"/>
            <a:ext cx="22860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0" name="Shape 41"/>
          <p:cNvSpPr/>
          <p:nvPr/>
        </p:nvSpPr>
        <p:spPr>
          <a:xfrm>
            <a:off x="7406640" y="3008376"/>
            <a:ext cx="22860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1" name="Shape 42"/>
          <p:cNvSpPr/>
          <p:nvPr/>
        </p:nvSpPr>
        <p:spPr>
          <a:xfrm>
            <a:off x="9646920" y="3008376"/>
            <a:ext cx="228600" cy="0"/>
          </a:xfrm>
          <a:prstGeom prst="line">
            <a:avLst/>
          </a:prstGeom>
          <a:noFill/>
          <a:ln w="12700">
            <a:solidFill>
              <a:schemeClr val="tx2"/>
            </a:solidFill>
            <a:prstDash val="solid"/>
            <a:tailEnd type="triangle"/>
          </a:ln>
        </p:spPr>
      </p:sp>
      <p:sp>
        <p:nvSpPr>
          <p:cNvPr id="52" name="Text 43"/>
          <p:cNvSpPr txBox="1"/>
          <p:nvPr/>
        </p:nvSpPr>
        <p:spPr>
          <a:xfrm>
            <a:off x="502920" y="4370832"/>
            <a:ext cx="1463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100" kern="0" dirty="0">
                <a:solidFill>
                  <a:schemeClr val="tx2"/>
                </a:solidFill>
              </a:rPr>
              <a:t>РОЛЬ МЦЦТ</a:t>
            </a:r>
            <a:endParaRPr lang="en-US" sz="900" dirty="0"/>
          </a:p>
        </p:txBody>
      </p:sp>
      <p:sp>
        <p:nvSpPr>
          <p:cNvPr id="53" name="Shape 44"/>
          <p:cNvSpPr/>
          <p:nvPr/>
        </p:nvSpPr>
        <p:spPr>
          <a:xfrm>
            <a:off x="1828800" y="4370832"/>
            <a:ext cx="2395728" cy="329184"/>
          </a:xfrm>
          <a:prstGeom prst="chevron">
            <a:avLst/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54" name="Text 45"/>
          <p:cNvSpPr txBox="1"/>
          <p:nvPr/>
        </p:nvSpPr>
        <p:spPr>
          <a:xfrm>
            <a:off x="2029968" y="43708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5"/>
                </a:solidFill>
              </a:rPr>
              <a:t>Оценивает потребность в данных</a:t>
            </a:r>
            <a:endParaRPr lang="en-US" sz="850" dirty="0"/>
          </a:p>
        </p:txBody>
      </p:sp>
      <p:sp>
        <p:nvSpPr>
          <p:cNvPr id="55" name="Shape 46"/>
          <p:cNvSpPr/>
          <p:nvPr/>
        </p:nvSpPr>
        <p:spPr>
          <a:xfrm>
            <a:off x="4297680" y="4370832"/>
            <a:ext cx="2395728" cy="329184"/>
          </a:xfrm>
          <a:prstGeom prst="chevron">
            <a:avLst/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56" name="Text 47"/>
          <p:cNvSpPr txBox="1"/>
          <p:nvPr/>
        </p:nvSpPr>
        <p:spPr>
          <a:xfrm>
            <a:off x="4498848" y="43708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5"/>
                </a:solidFill>
              </a:rPr>
              <a:t>Проверяет имеющиеся данные</a:t>
            </a:r>
            <a:endParaRPr lang="en-US" sz="850" dirty="0"/>
          </a:p>
        </p:txBody>
      </p:sp>
      <p:sp>
        <p:nvSpPr>
          <p:cNvPr id="57" name="Shape 48"/>
          <p:cNvSpPr/>
          <p:nvPr/>
        </p:nvSpPr>
        <p:spPr>
          <a:xfrm>
            <a:off x="6766560" y="4370832"/>
            <a:ext cx="2395728" cy="329184"/>
          </a:xfrm>
          <a:prstGeom prst="chevron">
            <a:avLst/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58" name="Text 49"/>
          <p:cNvSpPr txBox="1"/>
          <p:nvPr/>
        </p:nvSpPr>
        <p:spPr>
          <a:xfrm>
            <a:off x="6967728" y="43708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5"/>
                </a:solidFill>
              </a:rPr>
              <a:t>Рассматривает данные партнеров</a:t>
            </a:r>
            <a:endParaRPr lang="en-US" sz="850" dirty="0"/>
          </a:p>
        </p:txBody>
      </p:sp>
      <p:sp>
        <p:nvSpPr>
          <p:cNvPr id="59" name="Shape 50"/>
          <p:cNvSpPr/>
          <p:nvPr/>
        </p:nvSpPr>
        <p:spPr>
          <a:xfrm>
            <a:off x="9235440" y="4370832"/>
            <a:ext cx="2395728" cy="329184"/>
          </a:xfrm>
          <a:prstGeom prst="chevron">
            <a:avLst/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60" name="Text 51"/>
          <p:cNvSpPr txBox="1"/>
          <p:nvPr/>
        </p:nvSpPr>
        <p:spPr>
          <a:xfrm>
            <a:off x="9436608" y="43708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5"/>
                </a:solidFill>
              </a:rPr>
              <a:t>Определяет основания и условия доступа</a:t>
            </a:r>
            <a:endParaRPr lang="en-US" sz="850" dirty="0"/>
          </a:p>
        </p:txBody>
      </p:sp>
      <p:sp>
        <p:nvSpPr>
          <p:cNvPr id="61" name="Shape 52"/>
          <p:cNvSpPr/>
          <p:nvPr/>
        </p:nvSpPr>
        <p:spPr>
          <a:xfrm>
            <a:off x="502920" y="4864608"/>
            <a:ext cx="5623560" cy="1463040"/>
          </a:xfrm>
          <a:prstGeom prst="roundRect">
            <a:avLst>
              <a:gd name="adj" fmla="val 6250"/>
            </a:avLst>
          </a:prstGeom>
          <a:solidFill>
            <a:schemeClr val="bg2"/>
          </a:solidFill>
          <a:ln/>
        </p:spPr>
      </p:sp>
      <p:sp>
        <p:nvSpPr>
          <p:cNvPr id="62" name="Text 53"/>
          <p:cNvSpPr txBox="1"/>
          <p:nvPr/>
        </p:nvSpPr>
        <p:spPr>
          <a:xfrm>
            <a:off x="685800" y="4956048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ЧТО ДОБАВЛЯЕТ ОТЧЕТ</a:t>
            </a:r>
            <a:endParaRPr lang="en-US" sz="950" dirty="0"/>
          </a:p>
        </p:txBody>
      </p:sp>
      <p:sp>
        <p:nvSpPr>
          <p:cNvPr id="63" name="Text 54"/>
          <p:cNvSpPr txBox="1"/>
          <p:nvPr/>
        </p:nvSpPr>
        <p:spPr>
          <a:xfrm>
            <a:off x="685800" y="5212080"/>
            <a:ext cx="530352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Сначала синтетические или обезличенные данные; до реальных персональных данных эксперт проверяет оценку воздействия на защиту данных</a:t>
            </a:r>
            <a:endParaRPr lang="en-US" sz="9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В плане обработки — контролер и обработчик каждого набора (участник, платформа МЦЦТ, оператор)</a:t>
            </a:r>
            <a:endParaRPr lang="en-US" sz="90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00" dirty="0">
                <a:solidFill>
                  <a:schemeClr val="tx1"/>
                </a:solidFill>
              </a:rPr>
              <a:t>Удаление или возврат данных — в течение 30 р. д. после выхода, с актом (плановое допущение)</a:t>
            </a:r>
            <a:endParaRPr lang="en-US" sz="900" dirty="0"/>
          </a:p>
        </p:txBody>
      </p:sp>
      <p:sp>
        <p:nvSpPr>
          <p:cNvPr id="64" name="Shape 55"/>
          <p:cNvSpPr/>
          <p:nvPr/>
        </p:nvSpPr>
        <p:spPr>
          <a:xfrm>
            <a:off x="6263640" y="4864608"/>
            <a:ext cx="2651760" cy="1463040"/>
          </a:xfrm>
          <a:prstGeom prst="roundRect">
            <a:avLst>
              <a:gd name="adj" fmla="val 6250"/>
            </a:avLst>
          </a:prstGeom>
          <a:solidFill>
            <a:schemeClr val="accent2">
              <a:alpha val="6000"/>
            </a:schemeClr>
          </a:solidFill>
          <a:ln/>
        </p:spPr>
      </p:sp>
      <p:sp>
        <p:nvSpPr>
          <p:cNvPr id="65" name="Text 56"/>
          <p:cNvSpPr txBox="1"/>
          <p:nvPr/>
        </p:nvSpPr>
        <p:spPr>
          <a:xfrm>
            <a:off x="6400800" y="4956048"/>
            <a:ext cx="24688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2"/>
                </a:solidFill>
              </a:rPr>
              <a:t>FCA DIGITAL SANDBOX</a:t>
            </a:r>
            <a:endParaRPr lang="en-US" sz="950" dirty="0"/>
          </a:p>
        </p:txBody>
      </p:sp>
      <p:sp>
        <p:nvSpPr>
          <p:cNvPr id="66" name="Text 57"/>
          <p:cNvSpPr txBox="1"/>
          <p:nvPr/>
        </p:nvSpPr>
        <p:spPr>
          <a:xfrm>
            <a:off x="6400800" y="5212080"/>
            <a:ext cx="2395728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84% — пилот ускорил разработку; лишь около половины — данные оправдали ожидания (P). Каталог — более 300 наборов (R)</a:t>
            </a:r>
            <a:endParaRPr lang="en-US" sz="900" dirty="0"/>
          </a:p>
        </p:txBody>
      </p:sp>
      <p:sp>
        <p:nvSpPr>
          <p:cNvPr id="67" name="go:case_digital">
            <a:hlinkClick r:id="rId8" tooltip="Кейс FCA Digital Sandbox" action="ppaction://hlinksldjump"/>
          </p:cNvPr>
          <p:cNvSpPr/>
          <p:nvPr/>
        </p:nvSpPr>
        <p:spPr>
          <a:xfrm>
            <a:off x="6263640" y="4864608"/>
            <a:ext cx="2651760" cy="14630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8" name="Shape 59"/>
          <p:cNvSpPr/>
          <p:nvPr/>
        </p:nvSpPr>
        <p:spPr>
          <a:xfrm>
            <a:off x="9052560" y="4864608"/>
            <a:ext cx="2633472" cy="1463040"/>
          </a:xfrm>
          <a:prstGeom prst="roundRect">
            <a:avLst>
              <a:gd name="adj" fmla="val 6250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69" name="Text 60"/>
          <p:cNvSpPr txBox="1"/>
          <p:nvPr/>
        </p:nvSpPr>
        <p:spPr>
          <a:xfrm>
            <a:off x="9189720" y="4956048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ПИЛОТ P3</a:t>
            </a:r>
            <a:endParaRPr lang="en-US" sz="950" dirty="0"/>
          </a:p>
        </p:txBody>
      </p:sp>
      <p:sp>
        <p:nvSpPr>
          <p:cNvPr id="70" name="Text 61"/>
          <p:cNvSpPr txBox="1"/>
          <p:nvPr/>
        </p:nvSpPr>
        <p:spPr>
          <a:xfrm>
            <a:off x="9189720" y="5212080"/>
            <a:ext cx="23774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Обмен данными с сохранением конфиденциальности: независимый тест на повторную идентификацию до допуска реальных данных</a:t>
            </a:r>
            <a:endParaRPr lang="en-US" sz="900" dirty="0"/>
          </a:p>
        </p:txBody>
      </p:sp>
      <p:sp>
        <p:nvSpPr>
          <p:cNvPr id="71" name="go:pilots">
            <a:hlinkClick r:id="rId9" tooltip="Пилоты" action="ppaction://hlinksldjump"/>
          </p:cNvPr>
          <p:cNvSpPr/>
          <p:nvPr/>
        </p:nvSpPr>
        <p:spPr>
          <a:xfrm>
            <a:off x="9052560" y="4864608"/>
            <a:ext cx="2633472" cy="146304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2" name="Text 63"/>
          <p:cNvSpPr txBox="1"/>
          <p:nvPr/>
        </p:nvSpPr>
        <p:spPr>
          <a:xfrm>
            <a:off x="6290770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73" name="go:nav">
            <a:hlinkClick r:id="rId10" tooltip="Раздел: Меню" action="ppaction://hlinksldjump"/>
          </p:cNvPr>
          <p:cNvSpPr/>
          <p:nvPr/>
        </p:nvSpPr>
        <p:spPr>
          <a:xfrm>
            <a:off x="6290770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4" name="Text 65"/>
          <p:cNvSpPr txBox="1"/>
          <p:nvPr/>
        </p:nvSpPr>
        <p:spPr>
          <a:xfrm>
            <a:off x="6821503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75" name="go:key5">
            <a:hlinkClick r:id="rId11" tooltip="Раздел: Главное" action="ppaction://hlinksldjump"/>
          </p:cNvPr>
          <p:cNvSpPr/>
          <p:nvPr/>
        </p:nvSpPr>
        <p:spPr>
          <a:xfrm>
            <a:off x="6821503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6" name="Text 67"/>
          <p:cNvSpPr txBox="1"/>
          <p:nvPr/>
        </p:nvSpPr>
        <p:spPr>
          <a:xfrm>
            <a:off x="7516320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77" name="go:numbers">
            <a:hlinkClick r:id="rId12" tooltip="Раздел: Мир" action="ppaction://hlinksldjump"/>
          </p:cNvPr>
          <p:cNvSpPr/>
          <p:nvPr/>
        </p:nvSpPr>
        <p:spPr>
          <a:xfrm>
            <a:off x="7516320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8" name="Text 69"/>
          <p:cNvSpPr txBox="1"/>
          <p:nvPr/>
        </p:nvSpPr>
        <p:spPr>
          <a:xfrm>
            <a:off x="795053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Кейсы</a:t>
            </a:r>
            <a:endParaRPr lang="en-US" sz="950" dirty="0"/>
          </a:p>
        </p:txBody>
      </p:sp>
      <p:sp>
        <p:nvSpPr>
          <p:cNvPr id="79" name="go:casemap">
            <a:hlinkClick r:id="rId13" tooltip="Раздел: Кейсы" action="ppaction://hlinksldjump"/>
          </p:cNvPr>
          <p:cNvSpPr/>
          <p:nvPr/>
        </p:nvSpPr>
        <p:spPr>
          <a:xfrm>
            <a:off x="795053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0" name="Text 71"/>
          <p:cNvSpPr txBox="1"/>
          <p:nvPr/>
        </p:nvSpPr>
        <p:spPr>
          <a:xfrm>
            <a:off x="8546417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81" name="go:ecosystem">
            <a:hlinkClick r:id="rId14" tooltip="Раздел: Модель" action="ppaction://hlinksldjump"/>
          </p:cNvPr>
          <p:cNvSpPr/>
          <p:nvPr/>
        </p:nvSpPr>
        <p:spPr>
          <a:xfrm>
            <a:off x="8546417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2" name="Shape 73"/>
          <p:cNvSpPr/>
          <p:nvPr/>
        </p:nvSpPr>
        <p:spPr>
          <a:xfrm>
            <a:off x="9176083" y="219456"/>
            <a:ext cx="691258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83" name="Text 74"/>
          <p:cNvSpPr txBox="1"/>
          <p:nvPr/>
        </p:nvSpPr>
        <p:spPr>
          <a:xfrm>
            <a:off x="9176083" y="219456"/>
            <a:ext cx="691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Этапы</a:t>
            </a:r>
            <a:endParaRPr lang="en-US" sz="950" dirty="0"/>
          </a:p>
        </p:txBody>
      </p:sp>
      <p:sp>
        <p:nvSpPr>
          <p:cNvPr id="84" name="go:path">
            <a:hlinkClick r:id="rId15" tooltip="Раздел: Этапы" action="ppaction://hlinksldjump"/>
          </p:cNvPr>
          <p:cNvSpPr/>
          <p:nvPr/>
        </p:nvSpPr>
        <p:spPr>
          <a:xfrm>
            <a:off x="9176083" y="219456"/>
            <a:ext cx="69125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5" name="Text 76"/>
          <p:cNvSpPr txBox="1"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86" name="go:criteria">
            <a:hlinkClick r:id="rId16" tooltip="Раздел: Защита" action="ppaction://hlinksldjump"/>
          </p:cNvPr>
          <p:cNvSpPr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7" name="Text 78"/>
          <p:cNvSpPr txBox="1"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88" name="go:pilots">
            <a:hlinkClick r:id="rId17" tooltip="Раздел: Пилоты" action="ppaction://hlinksldjump"/>
          </p:cNvPr>
          <p:cNvSpPr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9" name="Text 80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90" name="go:plan90">
            <a:hlinkClick r:id="rId18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25</a:t>
            </a:fld>
            <a:endParaRPr lang="en-US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Фокус-группы: реальные пользователи под защитой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Участники привлекаются только при необходимости — по договору, в пределах лимитов и с понятными правами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10512"/>
            <a:ext cx="1519210" cy="1005840"/>
          </a:xfrm>
          <a:prstGeom prst="roundRect">
            <a:avLst>
              <a:gd name="adj" fmla="val 7273"/>
            </a:avLst>
          </a:prstGeom>
          <a:solidFill>
            <a:schemeClr val="accent3">
              <a:alpha val="600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5" name="Text 3"/>
          <p:cNvSpPr txBox="1"/>
          <p:nvPr/>
        </p:nvSpPr>
        <p:spPr>
          <a:xfrm>
            <a:off x="594360" y="1874520"/>
            <a:ext cx="13363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chemeClr val="accent3"/>
                </a:solidFill>
              </a:rPr>
              <a:t>ЭТАП 1</a:t>
            </a:r>
            <a:endParaRPr lang="en-US" sz="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2103120"/>
            <a:ext cx="13363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Нужны ли реальные пользователи</a:t>
            </a:r>
            <a:endParaRPr lang="en-US" sz="950" dirty="0"/>
          </a:p>
        </p:txBody>
      </p:sp>
      <p:sp>
        <p:nvSpPr>
          <p:cNvPr id="7" name="Shape 5"/>
          <p:cNvSpPr/>
          <p:nvPr/>
        </p:nvSpPr>
        <p:spPr>
          <a:xfrm>
            <a:off x="2113570" y="1810512"/>
            <a:ext cx="1519210" cy="1005840"/>
          </a:xfrm>
          <a:prstGeom prst="roundRect">
            <a:avLst>
              <a:gd name="adj" fmla="val 7273"/>
            </a:avLst>
          </a:prstGeom>
          <a:solidFill>
            <a:schemeClr val="accent3">
              <a:alpha val="600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8" name="Text 6"/>
          <p:cNvSpPr txBox="1"/>
          <p:nvPr/>
        </p:nvSpPr>
        <p:spPr>
          <a:xfrm>
            <a:off x="2205010" y="1874520"/>
            <a:ext cx="13363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chemeClr val="accent3"/>
                </a:solidFill>
              </a:rPr>
              <a:t>ЭТАП 2</a:t>
            </a:r>
            <a:endParaRPr lang="en-US" sz="800" dirty="0"/>
          </a:p>
        </p:txBody>
      </p:sp>
      <p:sp>
        <p:nvSpPr>
          <p:cNvPr id="9" name="Text 7"/>
          <p:cNvSpPr txBox="1"/>
          <p:nvPr/>
        </p:nvSpPr>
        <p:spPr>
          <a:xfrm>
            <a:off x="2205010" y="2103120"/>
            <a:ext cx="13363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Возможность привлечения и риски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3724221" y="1810512"/>
            <a:ext cx="1519210" cy="1005840"/>
          </a:xfrm>
          <a:prstGeom prst="roundRect">
            <a:avLst>
              <a:gd name="adj" fmla="val 7273"/>
            </a:avLst>
          </a:prstGeom>
          <a:solidFill>
            <a:schemeClr val="accent3">
              <a:alpha val="600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11" name="Text 9"/>
          <p:cNvSpPr txBox="1"/>
          <p:nvPr/>
        </p:nvSpPr>
        <p:spPr>
          <a:xfrm>
            <a:off x="3815661" y="1874520"/>
            <a:ext cx="13363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chemeClr val="accent3"/>
                </a:solidFill>
              </a:rPr>
              <a:t>ЭТАП 3</a:t>
            </a:r>
            <a:endParaRPr lang="en-US" sz="800" dirty="0"/>
          </a:p>
        </p:txBody>
      </p:sp>
      <p:sp>
        <p:nvSpPr>
          <p:cNvPr id="12" name="Text 10"/>
          <p:cNvSpPr txBox="1"/>
          <p:nvPr/>
        </p:nvSpPr>
        <p:spPr>
          <a:xfrm>
            <a:off x="3815661" y="2103120"/>
            <a:ext cx="13363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Нужна ли фокус-группа, какие партнеры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5334871" y="1810512"/>
            <a:ext cx="1519210" cy="1005840"/>
          </a:xfrm>
          <a:prstGeom prst="roundRect">
            <a:avLst>
              <a:gd name="adj" fmla="val 7273"/>
            </a:avLst>
          </a:prstGeom>
          <a:solidFill>
            <a:schemeClr val="accent3">
              <a:alpha val="600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14" name="Text 12"/>
          <p:cNvSpPr txBox="1"/>
          <p:nvPr/>
        </p:nvSpPr>
        <p:spPr>
          <a:xfrm>
            <a:off x="5426311" y="1874520"/>
            <a:ext cx="13363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chemeClr val="accent3"/>
                </a:solidFill>
              </a:rPr>
              <a:t>ЭТАП 4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5426311" y="2103120"/>
            <a:ext cx="13363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Критерии отбора, договоры, права сторон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6945521" y="1810512"/>
            <a:ext cx="1519210" cy="1005840"/>
          </a:xfrm>
          <a:prstGeom prst="roundRect">
            <a:avLst>
              <a:gd name="adj" fmla="val 7273"/>
            </a:avLst>
          </a:prstGeom>
          <a:solidFill>
            <a:schemeClr val="accent3">
              <a:alpha val="600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17" name="Text 15"/>
          <p:cNvSpPr txBox="1"/>
          <p:nvPr/>
        </p:nvSpPr>
        <p:spPr>
          <a:xfrm>
            <a:off x="7036961" y="1874520"/>
            <a:ext cx="13363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chemeClr val="accent3"/>
                </a:solidFill>
              </a:rPr>
              <a:t>ЭТАП 5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7036961" y="2103120"/>
            <a:ext cx="13363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Использование продукта под контролем</a:t>
            </a:r>
            <a:endParaRPr lang="en-US" sz="950" dirty="0"/>
          </a:p>
        </p:txBody>
      </p:sp>
      <p:sp>
        <p:nvSpPr>
          <p:cNvPr id="19" name="Shape 17"/>
          <p:cNvSpPr/>
          <p:nvPr/>
        </p:nvSpPr>
        <p:spPr>
          <a:xfrm>
            <a:off x="8556171" y="1810512"/>
            <a:ext cx="1519210" cy="1005840"/>
          </a:xfrm>
          <a:prstGeom prst="roundRect">
            <a:avLst>
              <a:gd name="adj" fmla="val 7273"/>
            </a:avLst>
          </a:prstGeom>
          <a:solidFill>
            <a:schemeClr val="accent3">
              <a:alpha val="600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20" name="Text 18"/>
          <p:cNvSpPr txBox="1"/>
          <p:nvPr/>
        </p:nvSpPr>
        <p:spPr>
          <a:xfrm>
            <a:off x="8647611" y="1874520"/>
            <a:ext cx="13363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chemeClr val="accent3"/>
                </a:solidFill>
              </a:rPr>
              <a:t>ЭТАП 6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8647611" y="2103120"/>
            <a:ext cx="13363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Обратная связь и показатели группы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10166822" y="1810512"/>
            <a:ext cx="1519210" cy="1005840"/>
          </a:xfrm>
          <a:prstGeom prst="roundRect">
            <a:avLst>
              <a:gd name="adj" fmla="val 7273"/>
            </a:avLst>
          </a:prstGeom>
          <a:solidFill>
            <a:schemeClr val="accent3">
              <a:alpha val="6000"/>
            </a:schemeClr>
          </a:solidFill>
          <a:ln w="9525">
            <a:solidFill>
              <a:schemeClr val="accent3"/>
            </a:solidFill>
            <a:prstDash val="dash"/>
          </a:ln>
        </p:spPr>
      </p:sp>
      <p:sp>
        <p:nvSpPr>
          <p:cNvPr id="23" name="Text 21"/>
          <p:cNvSpPr txBox="1"/>
          <p:nvPr/>
        </p:nvSpPr>
        <p:spPr>
          <a:xfrm>
            <a:off x="10258262" y="1874520"/>
            <a:ext cx="133633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spc="50" kern="0" dirty="0">
                <a:solidFill>
                  <a:schemeClr val="accent3"/>
                </a:solidFill>
              </a:rPr>
              <a:t>ЭТАП 7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10258262" y="2103120"/>
            <a:ext cx="133633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Обязательства перед участниками</a:t>
            </a:r>
            <a:endParaRPr lang="en-US" sz="950" dirty="0"/>
          </a:p>
        </p:txBody>
      </p:sp>
      <p:sp>
        <p:nvSpPr>
          <p:cNvPr id="25" name="Text 23"/>
          <p:cNvSpPr txBox="1"/>
          <p:nvPr/>
        </p:nvSpPr>
        <p:spPr>
          <a:xfrm>
            <a:off x="502920" y="3017520"/>
            <a:ext cx="91440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4"/>
                </a:solidFill>
              </a:rPr>
              <a:t>ЗАЩИТА ПОЛЬЗОВАТЕЛЕЙ (ИЗ ОТЧЕТА, ИЛЛ. 14) — В КАЖДОМ ПЛАНЕ ТЕСТИРОВАНИЯ</a:t>
            </a:r>
            <a:endParaRPr lang="en-US" sz="950" dirty="0"/>
          </a:p>
        </p:txBody>
      </p:sp>
      <p:sp>
        <p:nvSpPr>
          <p:cNvPr id="26" name="Shape 24"/>
          <p:cNvSpPr/>
          <p:nvPr/>
        </p:nvSpPr>
        <p:spPr>
          <a:xfrm>
            <a:off x="502920" y="3310128"/>
            <a:ext cx="2679192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27" name="Shape 25"/>
          <p:cNvSpPr/>
          <p:nvPr/>
        </p:nvSpPr>
        <p:spPr>
          <a:xfrm>
            <a:off x="667512" y="3474720"/>
            <a:ext cx="420624" cy="420624"/>
          </a:xfrm>
          <a:prstGeom prst="ellipse">
            <a:avLst/>
          </a:prstGeom>
          <a:solidFill>
            <a:schemeClr val="accent4">
              <a:alpha val="10000"/>
            </a:schemeClr>
          </a:solidFill>
          <a:ln/>
        </p:spPr>
      </p:sp>
      <p:pic>
        <p:nvPicPr>
          <p:cNvPr id="28" name="Image 0" descr="File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60049" y="3567257"/>
            <a:ext cx="235549" cy="235549"/>
          </a:xfrm>
          <a:prstGeom prst="rect">
            <a:avLst/>
          </a:prstGeom>
        </p:spPr>
      </p:pic>
      <p:sp>
        <p:nvSpPr>
          <p:cNvPr id="29" name="Text 26"/>
          <p:cNvSpPr txBox="1"/>
          <p:nvPr/>
        </p:nvSpPr>
        <p:spPr>
          <a:xfrm>
            <a:off x="1188720" y="3493008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Информирование</a:t>
            </a:r>
            <a:endParaRPr lang="en-US" sz="1200" dirty="0"/>
          </a:p>
        </p:txBody>
      </p:sp>
      <p:sp>
        <p:nvSpPr>
          <p:cNvPr id="30" name="Text 27"/>
          <p:cNvSpPr txBox="1"/>
          <p:nvPr/>
        </p:nvSpPr>
        <p:spPr>
          <a:xfrm>
            <a:off x="667512" y="4023360"/>
            <a:ext cx="23500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Стандартное уведомление: услуга тестируется в песочнице МЦЦТ в установленных пределах; допуск не означает одобрения и не является лицензией</a:t>
            </a:r>
            <a:endParaRPr lang="en-US" sz="950" dirty="0"/>
          </a:p>
        </p:txBody>
      </p:sp>
      <p:sp>
        <p:nvSpPr>
          <p:cNvPr id="31" name="Shape 28"/>
          <p:cNvSpPr/>
          <p:nvPr/>
        </p:nvSpPr>
        <p:spPr>
          <a:xfrm>
            <a:off x="3337560" y="3310128"/>
            <a:ext cx="2679192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32" name="Shape 29"/>
          <p:cNvSpPr/>
          <p:nvPr/>
        </p:nvSpPr>
        <p:spPr>
          <a:xfrm>
            <a:off x="3502152" y="3474720"/>
            <a:ext cx="420624" cy="420624"/>
          </a:xfrm>
          <a:prstGeom prst="ellipse">
            <a:avLst/>
          </a:prstGeom>
          <a:solidFill>
            <a:schemeClr val="accent4">
              <a:alpha val="10000"/>
            </a:schemeClr>
          </a:solidFill>
          <a:ln/>
        </p:spPr>
      </p:sp>
      <p:pic>
        <p:nvPicPr>
          <p:cNvPr id="33" name="Image 1" descr="MessageSquare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94689" y="3567257"/>
            <a:ext cx="235549" cy="235549"/>
          </a:xfrm>
          <a:prstGeom prst="rect">
            <a:avLst/>
          </a:prstGeom>
        </p:spPr>
      </p:pic>
      <p:sp>
        <p:nvSpPr>
          <p:cNvPr id="34" name="Text 30"/>
          <p:cNvSpPr txBox="1"/>
          <p:nvPr/>
        </p:nvSpPr>
        <p:spPr>
          <a:xfrm>
            <a:off x="4023360" y="3493008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Жалобы и инциденты</a:t>
            </a:r>
            <a:endParaRPr lang="en-US" sz="1200" dirty="0"/>
          </a:p>
        </p:txBody>
      </p:sp>
      <p:sp>
        <p:nvSpPr>
          <p:cNvPr id="35" name="Text 31"/>
          <p:cNvSpPr txBox="1"/>
          <p:nvPr/>
        </p:nvSpPr>
        <p:spPr>
          <a:xfrm>
            <a:off x="3502152" y="4023360"/>
            <a:ext cx="23500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Жалобы — сначала участнику, затем в Секретариат; об инцидентах участник сообщает в течение 2 р. д.; пороги остановки согласуются заранее</a:t>
            </a:r>
            <a:endParaRPr lang="en-US" sz="950" dirty="0"/>
          </a:p>
        </p:txBody>
      </p:sp>
      <p:sp>
        <p:nvSpPr>
          <p:cNvPr id="36" name="Shape 32"/>
          <p:cNvSpPr/>
          <p:nvPr/>
        </p:nvSpPr>
        <p:spPr>
          <a:xfrm>
            <a:off x="6172200" y="3310128"/>
            <a:ext cx="2679192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37" name="Shape 33"/>
          <p:cNvSpPr/>
          <p:nvPr/>
        </p:nvSpPr>
        <p:spPr>
          <a:xfrm>
            <a:off x="6336792" y="3474720"/>
            <a:ext cx="420624" cy="420624"/>
          </a:xfrm>
          <a:prstGeom prst="ellipse">
            <a:avLst/>
          </a:prstGeom>
          <a:solidFill>
            <a:schemeClr val="accent4">
              <a:alpha val="10000"/>
            </a:schemeClr>
          </a:solidFill>
          <a:ln/>
        </p:spPr>
      </p:sp>
      <p:pic>
        <p:nvPicPr>
          <p:cNvPr id="38" name="Image 2" descr="Scale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29329" y="3567257"/>
            <a:ext cx="235549" cy="235549"/>
          </a:xfrm>
          <a:prstGeom prst="rect">
            <a:avLst/>
          </a:prstGeom>
        </p:spPr>
      </p:pic>
      <p:sp>
        <p:nvSpPr>
          <p:cNvPr id="39" name="Text 34"/>
          <p:cNvSpPr txBox="1"/>
          <p:nvPr/>
        </p:nvSpPr>
        <p:spPr>
          <a:xfrm>
            <a:off x="6858000" y="3493008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Ответственность</a:t>
            </a:r>
            <a:endParaRPr lang="en-US" sz="1200" dirty="0"/>
          </a:p>
        </p:txBody>
      </p:sp>
      <p:sp>
        <p:nvSpPr>
          <p:cNvPr id="40" name="Text 35"/>
          <p:cNvSpPr txBox="1"/>
          <p:nvPr/>
        </p:nvSpPr>
        <p:spPr>
          <a:xfrm>
            <a:off x="6336792" y="4023360"/>
            <a:ext cx="23500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Только участник. До теста в реальных условиях — страхование, гарантия или обособленные средства для компенсации в пределах лимитов; фонда за счет МЦЦТ нет</a:t>
            </a:r>
            <a:endParaRPr lang="en-US" sz="950" dirty="0"/>
          </a:p>
        </p:txBody>
      </p:sp>
      <p:sp>
        <p:nvSpPr>
          <p:cNvPr id="41" name="Shape 36"/>
          <p:cNvSpPr/>
          <p:nvPr/>
        </p:nvSpPr>
        <p:spPr>
          <a:xfrm>
            <a:off x="9006840" y="3310128"/>
            <a:ext cx="2679192" cy="2011680"/>
          </a:xfrm>
          <a:prstGeom prst="roundRect">
            <a:avLst>
              <a:gd name="adj" fmla="val 4545"/>
            </a:avLst>
          </a:prstGeom>
          <a:solidFill>
            <a:schemeClr val="bg2"/>
          </a:solidFill>
          <a:ln/>
        </p:spPr>
      </p:sp>
      <p:sp>
        <p:nvSpPr>
          <p:cNvPr id="42" name="Shape 37"/>
          <p:cNvSpPr/>
          <p:nvPr/>
        </p:nvSpPr>
        <p:spPr>
          <a:xfrm>
            <a:off x="9171432" y="3474720"/>
            <a:ext cx="420624" cy="420624"/>
          </a:xfrm>
          <a:prstGeom prst="ellipse">
            <a:avLst/>
          </a:prstGeom>
          <a:solidFill>
            <a:schemeClr val="accent4">
              <a:alpha val="10000"/>
            </a:schemeClr>
          </a:solidFill>
          <a:ln/>
        </p:spPr>
      </p:sp>
      <p:pic>
        <p:nvPicPr>
          <p:cNvPr id="43" name="Image 3" descr="LogOut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63969" y="3567257"/>
            <a:ext cx="235549" cy="235549"/>
          </a:xfrm>
          <a:prstGeom prst="rect">
            <a:avLst/>
          </a:prstGeom>
        </p:spPr>
      </p:pic>
      <p:sp>
        <p:nvSpPr>
          <p:cNvPr id="44" name="Text 38"/>
          <p:cNvSpPr txBox="1"/>
          <p:nvPr/>
        </p:nvSpPr>
        <p:spPr>
          <a:xfrm>
            <a:off x="9692640" y="3493008"/>
            <a:ext cx="1856232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tx1"/>
                </a:solidFill>
              </a:rPr>
              <a:t>План свертывания</a:t>
            </a:r>
            <a:endParaRPr lang="en-US" sz="1200" dirty="0"/>
          </a:p>
        </p:txBody>
      </p:sp>
      <p:sp>
        <p:nvSpPr>
          <p:cNvPr id="45" name="Text 39"/>
          <p:cNvSpPr txBox="1"/>
          <p:nvPr/>
        </p:nvSpPr>
        <p:spPr>
          <a:xfrm>
            <a:off x="9171432" y="4023360"/>
            <a:ext cx="2350008" cy="124358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Обслуживание, возврат средств или передача пользователей при досрочной остановке теста или несостоятельности участника; утверждается при проектировании теста</a:t>
            </a:r>
            <a:endParaRPr lang="en-US" sz="950" dirty="0"/>
          </a:p>
        </p:txBody>
      </p:sp>
      <p:sp>
        <p:nvSpPr>
          <p:cNvPr id="46" name="Shape 40"/>
          <p:cNvSpPr/>
          <p:nvPr/>
        </p:nvSpPr>
        <p:spPr>
          <a:xfrm>
            <a:off x="502920" y="5486400"/>
            <a:ext cx="11183112" cy="749808"/>
          </a:xfrm>
          <a:prstGeom prst="roundRect">
            <a:avLst>
              <a:gd name="adj" fmla="val 9756"/>
            </a:avLst>
          </a:prstGeom>
          <a:solidFill>
            <a:schemeClr val="accent3">
              <a:alpha val="7000"/>
            </a:schemeClr>
          </a:solidFill>
          <a:ln/>
        </p:spPr>
      </p:sp>
      <p:pic>
        <p:nvPicPr>
          <p:cNvPr id="47" name="Image 4" descr="ChartColum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85800" y="5669280"/>
            <a:ext cx="365760" cy="365760"/>
          </a:xfrm>
          <a:prstGeom prst="rect">
            <a:avLst/>
          </a:prstGeom>
        </p:spPr>
      </p:pic>
      <p:sp>
        <p:nvSpPr>
          <p:cNvPr id="48" name="Text 41"/>
          <p:cNvSpPr txBox="1"/>
          <p:nvPr/>
        </p:nvSpPr>
        <p:spPr>
          <a:xfrm>
            <a:off x="1188720" y="5486400"/>
            <a:ext cx="10332720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Методология.</a:t>
            </a:r>
            <a:r>
              <a:rPr lang="en-US" sz="1000" dirty="0">
                <a:solidFill>
                  <a:schemeClr val="tx1"/>
                </a:solidFill>
              </a:rPr>
              <a:t> Критерии отбора и показатели группы фиксируются в плане тестирования — против нерепрезентативности и предвзятости. Отзывы участников: распределение оценок и n; среднее не рассчитывается, если ответов меньше десяти (KPI 12).</a:t>
            </a:r>
            <a:endParaRPr lang="en-US" sz="1000" dirty="0"/>
          </a:p>
        </p:txBody>
      </p:sp>
      <p:sp>
        <p:nvSpPr>
          <p:cNvPr id="49" name="go:kpi">
            <a:hlinkClick r:id="rId6" tooltip="KPI" action="ppaction://hlinksldjump"/>
          </p:cNvPr>
          <p:cNvSpPr/>
          <p:nvPr/>
        </p:nvSpPr>
        <p:spPr>
          <a:xfrm>
            <a:off x="502920" y="5486400"/>
            <a:ext cx="11183112" cy="749808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0" name="Text 43"/>
          <p:cNvSpPr txBox="1"/>
          <p:nvPr/>
        </p:nvSpPr>
        <p:spPr>
          <a:xfrm>
            <a:off x="6290770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51" name="go:nav">
            <a:hlinkClick r:id="rId7" tooltip="Раздел: Меню" action="ppaction://hlinksldjump"/>
          </p:cNvPr>
          <p:cNvSpPr/>
          <p:nvPr/>
        </p:nvSpPr>
        <p:spPr>
          <a:xfrm>
            <a:off x="6290770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2" name="Text 45"/>
          <p:cNvSpPr txBox="1"/>
          <p:nvPr/>
        </p:nvSpPr>
        <p:spPr>
          <a:xfrm>
            <a:off x="6821503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53" name="go:key5">
            <a:hlinkClick r:id="rId8" tooltip="Раздел: Главное" action="ppaction://hlinksldjump"/>
          </p:cNvPr>
          <p:cNvSpPr/>
          <p:nvPr/>
        </p:nvSpPr>
        <p:spPr>
          <a:xfrm>
            <a:off x="6821503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4" name="Text 47"/>
          <p:cNvSpPr txBox="1"/>
          <p:nvPr/>
        </p:nvSpPr>
        <p:spPr>
          <a:xfrm>
            <a:off x="7516320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55" name="go:numbers">
            <a:hlinkClick r:id="rId9" tooltip="Раздел: Мир" action="ppaction://hlinksldjump"/>
          </p:cNvPr>
          <p:cNvSpPr/>
          <p:nvPr/>
        </p:nvSpPr>
        <p:spPr>
          <a:xfrm>
            <a:off x="7516320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6" name="Text 49"/>
          <p:cNvSpPr txBox="1"/>
          <p:nvPr/>
        </p:nvSpPr>
        <p:spPr>
          <a:xfrm>
            <a:off x="795053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Кейсы</a:t>
            </a:r>
            <a:endParaRPr lang="en-US" sz="950" dirty="0"/>
          </a:p>
        </p:txBody>
      </p:sp>
      <p:sp>
        <p:nvSpPr>
          <p:cNvPr id="57" name="go:casemap">
            <a:hlinkClick r:id="rId10" tooltip="Раздел: Кейсы" action="ppaction://hlinksldjump"/>
          </p:cNvPr>
          <p:cNvSpPr/>
          <p:nvPr/>
        </p:nvSpPr>
        <p:spPr>
          <a:xfrm>
            <a:off x="795053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8" name="Text 51"/>
          <p:cNvSpPr txBox="1"/>
          <p:nvPr/>
        </p:nvSpPr>
        <p:spPr>
          <a:xfrm>
            <a:off x="8546417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59" name="go:ecosystem">
            <a:hlinkClick r:id="rId11" tooltip="Раздел: Модель" action="ppaction://hlinksldjump"/>
          </p:cNvPr>
          <p:cNvSpPr/>
          <p:nvPr/>
        </p:nvSpPr>
        <p:spPr>
          <a:xfrm>
            <a:off x="8546417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0" name="Shape 53"/>
          <p:cNvSpPr/>
          <p:nvPr/>
        </p:nvSpPr>
        <p:spPr>
          <a:xfrm>
            <a:off x="9176083" y="219456"/>
            <a:ext cx="691258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61" name="Text 54"/>
          <p:cNvSpPr txBox="1"/>
          <p:nvPr/>
        </p:nvSpPr>
        <p:spPr>
          <a:xfrm>
            <a:off x="9176083" y="219456"/>
            <a:ext cx="69125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Этапы</a:t>
            </a:r>
            <a:endParaRPr lang="en-US" sz="950" dirty="0"/>
          </a:p>
        </p:txBody>
      </p:sp>
      <p:sp>
        <p:nvSpPr>
          <p:cNvPr id="62" name="go:path">
            <a:hlinkClick r:id="rId12" tooltip="Раздел: Этапы" action="ppaction://hlinksldjump"/>
          </p:cNvPr>
          <p:cNvSpPr/>
          <p:nvPr/>
        </p:nvSpPr>
        <p:spPr>
          <a:xfrm>
            <a:off x="9176083" y="219456"/>
            <a:ext cx="69125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3" name="Text 56"/>
          <p:cNvSpPr txBox="1"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64" name="go:criteria">
            <a:hlinkClick r:id="rId13" tooltip="Раздел: Защита" action="ppaction://hlinksldjump"/>
          </p:cNvPr>
          <p:cNvSpPr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5" name="Text 58"/>
          <p:cNvSpPr txBox="1"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66" name="go:pilots">
            <a:hlinkClick r:id="rId14" tooltip="Раздел: Пилоты" action="ppaction://hlinksldjump"/>
          </p:cNvPr>
          <p:cNvSpPr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7" name="Text 60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68" name="go:plan90">
            <a:hlinkClick r:id="rId15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26</a:t>
            </a:fld>
            <a:endParaRPr lang="en-US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Допуск: только тесты с конкретным барьером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Критерии оценивает Секретариат, решает Комитет; пределы каждого теста фиксируются в плане на этапе 4</a:t>
            </a:r>
            <a:endParaRPr lang="en-US" sz="1400" dirty="0"/>
          </a:p>
        </p:txBody>
      </p:sp>
      <p:sp>
        <p:nvSpPr>
          <p:cNvPr id="4" name="Text 2"/>
          <p:cNvSpPr txBox="1"/>
          <p:nvPr/>
        </p:nvSpPr>
        <p:spPr>
          <a:xfrm>
            <a:off x="502920" y="1810512"/>
            <a:ext cx="5486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КРИТЕРИИ ДОПУСКА</a:t>
            </a:r>
            <a:endParaRPr lang="en-US" sz="950" dirty="0"/>
          </a:p>
        </p:txBody>
      </p:sp>
      <p:sp>
        <p:nvSpPr>
          <p:cNvPr id="5" name="Shape 3"/>
          <p:cNvSpPr/>
          <p:nvPr/>
        </p:nvSpPr>
        <p:spPr>
          <a:xfrm>
            <a:off x="502920" y="2103120"/>
            <a:ext cx="667512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/>
        </p:spPr>
      </p:sp>
      <p:sp>
        <p:nvSpPr>
          <p:cNvPr id="6" name="Shape 4"/>
          <p:cNvSpPr/>
          <p:nvPr/>
        </p:nvSpPr>
        <p:spPr>
          <a:xfrm>
            <a:off x="621792" y="2212848"/>
            <a:ext cx="402336" cy="402336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7" name="Image 0" descr="Sparkl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0306" y="2301362"/>
            <a:ext cx="225308" cy="225308"/>
          </a:xfrm>
          <a:prstGeom prst="rect">
            <a:avLst/>
          </a:prstGeom>
        </p:spPr>
      </p:pic>
      <p:sp>
        <p:nvSpPr>
          <p:cNvPr id="8" name="Text 5"/>
          <p:cNvSpPr txBox="1"/>
          <p:nvPr/>
        </p:nvSpPr>
        <p:spPr>
          <a:xfrm>
            <a:off x="1143000" y="210312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Подлинная новизна</a:t>
            </a:r>
            <a:endParaRPr lang="en-US" sz="1050" dirty="0"/>
          </a:p>
        </p:txBody>
      </p:sp>
      <p:sp>
        <p:nvSpPr>
          <p:cNvPr id="9" name="Text 6"/>
          <p:cNvSpPr txBox="1"/>
          <p:nvPr/>
        </p:nvSpPr>
        <p:spPr>
          <a:xfrm>
            <a:off x="2880360" y="210312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Технология или модель, новая для Узбекистана или существенно лучше имеющихся (MAS Plus: заявки на уже применяемые технологии не одобрены)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2788920"/>
            <a:ext cx="667512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/>
        </p:spPr>
      </p:sp>
      <p:sp>
        <p:nvSpPr>
          <p:cNvPr id="11" name="Shape 8"/>
          <p:cNvSpPr/>
          <p:nvPr/>
        </p:nvSpPr>
        <p:spPr>
          <a:xfrm>
            <a:off x="621792" y="2898648"/>
            <a:ext cx="402336" cy="402336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2" name="Image 1" descr="Targe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0306" y="2987162"/>
            <a:ext cx="225308" cy="225308"/>
          </a:xfrm>
          <a:prstGeom prst="rect">
            <a:avLst/>
          </a:prstGeom>
        </p:spPr>
      </p:pic>
      <p:sp>
        <p:nvSpPr>
          <p:cNvPr id="13" name="Text 9"/>
          <p:cNvSpPr txBox="1"/>
          <p:nvPr/>
        </p:nvSpPr>
        <p:spPr>
          <a:xfrm>
            <a:off x="1143000" y="278892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Необходимость теста</a:t>
            </a:r>
            <a:endParaRPr lang="en-US" sz="1050" dirty="0"/>
          </a:p>
        </p:txBody>
      </p:sp>
      <p:sp>
        <p:nvSpPr>
          <p:cNvPr id="14" name="Text 10"/>
          <p:cNvSpPr txBox="1"/>
          <p:nvPr/>
        </p:nvSpPr>
        <p:spPr>
          <a:xfrm>
            <a:off x="2880360" y="278892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Конкретная регуляторная неопределенность или барьер; иначе — Трек разъяснений (Ofgem: 22 из 30 не указали барьер)</a:t>
            </a:r>
            <a:endParaRPr lang="en-US" sz="950" dirty="0"/>
          </a:p>
        </p:txBody>
      </p:sp>
      <p:sp>
        <p:nvSpPr>
          <p:cNvPr id="15" name="Shape 11"/>
          <p:cNvSpPr/>
          <p:nvPr/>
        </p:nvSpPr>
        <p:spPr>
          <a:xfrm>
            <a:off x="502920" y="3474720"/>
            <a:ext cx="667512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/>
        </p:spPr>
      </p:sp>
      <p:sp>
        <p:nvSpPr>
          <p:cNvPr id="16" name="Shape 12"/>
          <p:cNvSpPr/>
          <p:nvPr/>
        </p:nvSpPr>
        <p:spPr>
          <a:xfrm>
            <a:off x="621792" y="3584448"/>
            <a:ext cx="402336" cy="402336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17" name="Image 2" descr="Users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10306" y="3672962"/>
            <a:ext cx="225308" cy="225308"/>
          </a:xfrm>
          <a:prstGeom prst="rect">
            <a:avLst/>
          </a:prstGeom>
        </p:spPr>
      </p:pic>
      <p:sp>
        <p:nvSpPr>
          <p:cNvPr id="18" name="Text 13"/>
          <p:cNvSpPr txBox="1"/>
          <p:nvPr/>
        </p:nvSpPr>
        <p:spPr>
          <a:xfrm>
            <a:off x="1143000" y="347472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Польза</a:t>
            </a:r>
            <a:endParaRPr lang="en-US" sz="1050" dirty="0"/>
          </a:p>
        </p:txBody>
      </p:sp>
      <p:sp>
        <p:nvSpPr>
          <p:cNvPr id="19" name="Text 14"/>
          <p:cNvSpPr txBox="1"/>
          <p:nvPr/>
        </p:nvSpPr>
        <p:spPr>
          <a:xfrm>
            <a:off x="2880360" y="347472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Обоснованно ожидаемая польза для пользователей, торговли или экономики данных</a:t>
            </a:r>
            <a:endParaRPr lang="en-US" sz="950" dirty="0"/>
          </a:p>
        </p:txBody>
      </p:sp>
      <p:sp>
        <p:nvSpPr>
          <p:cNvPr id="20" name="Shape 15"/>
          <p:cNvSpPr/>
          <p:nvPr/>
        </p:nvSpPr>
        <p:spPr>
          <a:xfrm>
            <a:off x="502920" y="4160520"/>
            <a:ext cx="667512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/>
        </p:spPr>
      </p:sp>
      <p:sp>
        <p:nvSpPr>
          <p:cNvPr id="21" name="Shape 16"/>
          <p:cNvSpPr/>
          <p:nvPr/>
        </p:nvSpPr>
        <p:spPr>
          <a:xfrm>
            <a:off x="621792" y="4270248"/>
            <a:ext cx="402336" cy="402336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2" name="Image 3" descr="ClipboardCheck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0306" y="4358762"/>
            <a:ext cx="225308" cy="225308"/>
          </a:xfrm>
          <a:prstGeom prst="rect">
            <a:avLst/>
          </a:prstGeom>
        </p:spPr>
      </p:pic>
      <p:sp>
        <p:nvSpPr>
          <p:cNvPr id="23" name="Text 17"/>
          <p:cNvSpPr txBox="1"/>
          <p:nvPr/>
        </p:nvSpPr>
        <p:spPr>
          <a:xfrm>
            <a:off x="1143000" y="416052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Готовность</a:t>
            </a:r>
            <a:endParaRPr lang="en-US" sz="1050" dirty="0"/>
          </a:p>
        </p:txBody>
      </p:sp>
      <p:sp>
        <p:nvSpPr>
          <p:cNvPr id="24" name="Text 18"/>
          <p:cNvSpPr txBox="1"/>
          <p:nvPr/>
        </p:nvSpPr>
        <p:spPr>
          <a:xfrm>
            <a:off x="2880360" y="416052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Работающий прототип, система управления, базовая безопасность и ресурсы для теста и выхода</a:t>
            </a:r>
            <a:endParaRPr lang="en-US" sz="950" dirty="0"/>
          </a:p>
        </p:txBody>
      </p:sp>
      <p:sp>
        <p:nvSpPr>
          <p:cNvPr id="25" name="Shape 19"/>
          <p:cNvSpPr/>
          <p:nvPr/>
        </p:nvSpPr>
        <p:spPr>
          <a:xfrm>
            <a:off x="502920" y="4846320"/>
            <a:ext cx="667512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/>
        </p:spPr>
      </p:sp>
      <p:sp>
        <p:nvSpPr>
          <p:cNvPr id="26" name="Shape 20"/>
          <p:cNvSpPr/>
          <p:nvPr/>
        </p:nvSpPr>
        <p:spPr>
          <a:xfrm>
            <a:off x="621792" y="4956048"/>
            <a:ext cx="402336" cy="402336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27" name="Image 4" descr="Compass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10306" y="5044562"/>
            <a:ext cx="225308" cy="225308"/>
          </a:xfrm>
          <a:prstGeom prst="rect">
            <a:avLst/>
          </a:prstGeom>
        </p:spPr>
      </p:pic>
      <p:sp>
        <p:nvSpPr>
          <p:cNvPr id="28" name="Text 21"/>
          <p:cNvSpPr txBox="1"/>
          <p:nvPr/>
        </p:nvSpPr>
        <p:spPr>
          <a:xfrm>
            <a:off x="1143000" y="484632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Соответствие приоритетам</a:t>
            </a:r>
            <a:endParaRPr lang="en-US" sz="1050" dirty="0"/>
          </a:p>
        </p:txBody>
      </p:sp>
      <p:sp>
        <p:nvSpPr>
          <p:cNvPr id="29" name="Text 22"/>
          <p:cNvSpPr txBox="1"/>
          <p:nvPr/>
        </p:nvSpPr>
        <p:spPr>
          <a:xfrm>
            <a:off x="2880360" y="484632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В рамках мандата МЦЦТ в области новых технологий</a:t>
            </a:r>
            <a:endParaRPr lang="en-US" sz="950" dirty="0"/>
          </a:p>
        </p:txBody>
      </p:sp>
      <p:sp>
        <p:nvSpPr>
          <p:cNvPr id="30" name="Shape 23"/>
          <p:cNvSpPr/>
          <p:nvPr/>
        </p:nvSpPr>
        <p:spPr>
          <a:xfrm>
            <a:off x="502920" y="5532120"/>
            <a:ext cx="6675120" cy="621792"/>
          </a:xfrm>
          <a:prstGeom prst="roundRect">
            <a:avLst>
              <a:gd name="adj" fmla="val 8824"/>
            </a:avLst>
          </a:prstGeom>
          <a:solidFill>
            <a:schemeClr val="bg2"/>
          </a:solidFill>
          <a:ln/>
        </p:spPr>
      </p:sp>
      <p:sp>
        <p:nvSpPr>
          <p:cNvPr id="31" name="Shape 24"/>
          <p:cNvSpPr/>
          <p:nvPr/>
        </p:nvSpPr>
        <p:spPr>
          <a:xfrm>
            <a:off x="621792" y="5641848"/>
            <a:ext cx="402336" cy="402336"/>
          </a:xfrm>
          <a:prstGeom prst="ellipse">
            <a:avLst/>
          </a:prstGeom>
          <a:solidFill>
            <a:schemeClr val="accent1">
              <a:alpha val="12000"/>
            </a:schemeClr>
          </a:solidFill>
          <a:ln/>
        </p:spPr>
      </p:sp>
      <p:pic>
        <p:nvPicPr>
          <p:cNvPr id="32" name="Image 5" descr="BadgeCheck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710306" y="5730362"/>
            <a:ext cx="225308" cy="225308"/>
          </a:xfrm>
          <a:prstGeom prst="rect">
            <a:avLst/>
          </a:prstGeom>
        </p:spPr>
      </p:pic>
      <p:sp>
        <p:nvSpPr>
          <p:cNvPr id="33" name="Text 25"/>
          <p:cNvSpPr txBox="1"/>
          <p:nvPr/>
        </p:nvSpPr>
        <p:spPr>
          <a:xfrm>
            <a:off x="1143000" y="5532120"/>
            <a:ext cx="16916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tx1"/>
                </a:solidFill>
              </a:rPr>
              <a:t>Благонадежность</a:t>
            </a:r>
            <a:endParaRPr lang="en-US" sz="1050" dirty="0"/>
          </a:p>
        </p:txBody>
      </p:sp>
      <p:sp>
        <p:nvSpPr>
          <p:cNvPr id="34" name="Text 26"/>
          <p:cNvSpPr txBox="1"/>
          <p:nvPr/>
        </p:nvSpPr>
        <p:spPr>
          <a:xfrm>
            <a:off x="2880360" y="5532120"/>
            <a:ext cx="420624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Проверка личности, бенефициаров и директоров; санкционные списки при заявке, допуске и смене контроля; при подтвержденных сомнениях — отказ</a:t>
            </a:r>
            <a:endParaRPr lang="en-US" sz="950" dirty="0"/>
          </a:p>
        </p:txBody>
      </p:sp>
      <p:sp>
        <p:nvSpPr>
          <p:cNvPr id="35" name="Text 27"/>
          <p:cNvSpPr txBox="1"/>
          <p:nvPr/>
        </p:nvSpPr>
        <p:spPr>
          <a:xfrm>
            <a:off x="7406640" y="1810512"/>
            <a:ext cx="42976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4"/>
                </a:solidFill>
              </a:rPr>
              <a:t>ПРЕДЕЛЫ КАЖДОГО ТЕСТА — В ПЛАНЕ НА ЭТАПЕ 4</a:t>
            </a:r>
            <a:endParaRPr lang="en-US" sz="950" dirty="0"/>
          </a:p>
        </p:txBody>
      </p:sp>
      <p:sp>
        <p:nvSpPr>
          <p:cNvPr id="36" name="Shape 28"/>
          <p:cNvSpPr/>
          <p:nvPr/>
        </p:nvSpPr>
        <p:spPr>
          <a:xfrm>
            <a:off x="7406640" y="2103120"/>
            <a:ext cx="137160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37" name="Image 6" descr="Users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7955280" y="2194560"/>
            <a:ext cx="274320" cy="274320"/>
          </a:xfrm>
          <a:prstGeom prst="rect">
            <a:avLst/>
          </a:prstGeom>
        </p:spPr>
      </p:pic>
      <p:sp>
        <p:nvSpPr>
          <p:cNvPr id="38" name="Text 29"/>
          <p:cNvSpPr txBox="1"/>
          <p:nvPr/>
        </p:nvSpPr>
        <p:spPr>
          <a:xfrm>
            <a:off x="7452360" y="2505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4"/>
                </a:solidFill>
              </a:rPr>
              <a:t>Пользователи</a:t>
            </a:r>
            <a:endParaRPr lang="en-US" sz="900" dirty="0"/>
          </a:p>
        </p:txBody>
      </p:sp>
      <p:sp>
        <p:nvSpPr>
          <p:cNvPr id="39" name="Shape 30"/>
          <p:cNvSpPr/>
          <p:nvPr/>
        </p:nvSpPr>
        <p:spPr>
          <a:xfrm>
            <a:off x="8851392" y="2103120"/>
            <a:ext cx="137160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40" name="Image 7" descr="Activity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9400032" y="2194560"/>
            <a:ext cx="274320" cy="274320"/>
          </a:xfrm>
          <a:prstGeom prst="rect">
            <a:avLst/>
          </a:prstGeom>
        </p:spPr>
      </p:pic>
      <p:sp>
        <p:nvSpPr>
          <p:cNvPr id="41" name="Text 31"/>
          <p:cNvSpPr txBox="1"/>
          <p:nvPr/>
        </p:nvSpPr>
        <p:spPr>
          <a:xfrm>
            <a:off x="8897112" y="2505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4"/>
                </a:solidFill>
              </a:rPr>
              <a:t>Операции</a:t>
            </a:r>
            <a:endParaRPr lang="en-US" sz="900" dirty="0"/>
          </a:p>
        </p:txBody>
      </p:sp>
      <p:sp>
        <p:nvSpPr>
          <p:cNvPr id="42" name="Shape 32"/>
          <p:cNvSpPr/>
          <p:nvPr/>
        </p:nvSpPr>
        <p:spPr>
          <a:xfrm>
            <a:off x="10296144" y="2103120"/>
            <a:ext cx="137160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43" name="Image 8" descr="MapPin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844784" y="2194560"/>
            <a:ext cx="274320" cy="274320"/>
          </a:xfrm>
          <a:prstGeom prst="rect">
            <a:avLst/>
          </a:prstGeom>
        </p:spPr>
      </p:pic>
      <p:sp>
        <p:nvSpPr>
          <p:cNvPr id="44" name="Text 33"/>
          <p:cNvSpPr txBox="1"/>
          <p:nvPr/>
        </p:nvSpPr>
        <p:spPr>
          <a:xfrm>
            <a:off x="10341864" y="2505456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4"/>
                </a:solidFill>
              </a:rPr>
              <a:t>Территория</a:t>
            </a:r>
            <a:endParaRPr lang="en-US" sz="900" dirty="0"/>
          </a:p>
        </p:txBody>
      </p:sp>
      <p:sp>
        <p:nvSpPr>
          <p:cNvPr id="45" name="Shape 34"/>
          <p:cNvSpPr/>
          <p:nvPr/>
        </p:nvSpPr>
        <p:spPr>
          <a:xfrm>
            <a:off x="7406640" y="2889504"/>
            <a:ext cx="137160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46" name="Image 9" descr="Clock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7955280" y="2980944"/>
            <a:ext cx="274320" cy="274320"/>
          </a:xfrm>
          <a:prstGeom prst="rect">
            <a:avLst/>
          </a:prstGeom>
        </p:spPr>
      </p:pic>
      <p:sp>
        <p:nvSpPr>
          <p:cNvPr id="47" name="Text 35"/>
          <p:cNvSpPr txBox="1"/>
          <p:nvPr/>
        </p:nvSpPr>
        <p:spPr>
          <a:xfrm>
            <a:off x="7452360" y="32918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4"/>
                </a:solidFill>
              </a:rPr>
              <a:t>Срок</a:t>
            </a:r>
            <a:endParaRPr lang="en-US" sz="900" dirty="0"/>
          </a:p>
        </p:txBody>
      </p:sp>
      <p:sp>
        <p:nvSpPr>
          <p:cNvPr id="48" name="Shape 36"/>
          <p:cNvSpPr/>
          <p:nvPr/>
        </p:nvSpPr>
        <p:spPr>
          <a:xfrm>
            <a:off x="8851392" y="2889504"/>
            <a:ext cx="137160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49" name="Image 10" descr="Database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9400032" y="2980944"/>
            <a:ext cx="274320" cy="274320"/>
          </a:xfrm>
          <a:prstGeom prst="rect">
            <a:avLst/>
          </a:prstGeom>
        </p:spPr>
      </p:pic>
      <p:sp>
        <p:nvSpPr>
          <p:cNvPr id="50" name="Text 37"/>
          <p:cNvSpPr txBox="1"/>
          <p:nvPr/>
        </p:nvSpPr>
        <p:spPr>
          <a:xfrm>
            <a:off x="8897112" y="32918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4"/>
                </a:solidFill>
              </a:rPr>
              <a:t>Данные</a:t>
            </a:r>
            <a:endParaRPr lang="en-US" sz="900" dirty="0"/>
          </a:p>
        </p:txBody>
      </p:sp>
      <p:sp>
        <p:nvSpPr>
          <p:cNvPr id="51" name="Shape 38"/>
          <p:cNvSpPr/>
          <p:nvPr/>
        </p:nvSpPr>
        <p:spPr>
          <a:xfrm>
            <a:off x="10296144" y="2889504"/>
            <a:ext cx="1371600" cy="713232"/>
          </a:xfrm>
          <a:prstGeom prst="roundRect">
            <a:avLst>
              <a:gd name="adj" fmla="val 10256"/>
            </a:avLst>
          </a:prstGeom>
          <a:solidFill>
            <a:schemeClr val="bg1"/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52" name="Image 11" descr="OctagonX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10844784" y="2980944"/>
            <a:ext cx="274320" cy="274320"/>
          </a:xfrm>
          <a:prstGeom prst="rect">
            <a:avLst/>
          </a:prstGeom>
        </p:spPr>
      </p:pic>
      <p:sp>
        <p:nvSpPr>
          <p:cNvPr id="53" name="Text 39"/>
          <p:cNvSpPr txBox="1"/>
          <p:nvPr/>
        </p:nvSpPr>
        <p:spPr>
          <a:xfrm>
            <a:off x="10341864" y="3291840"/>
            <a:ext cx="12801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4"/>
                </a:solidFill>
              </a:rPr>
              <a:t>Остановка</a:t>
            </a:r>
            <a:endParaRPr lang="en-US" sz="900" dirty="0"/>
          </a:p>
        </p:txBody>
      </p:sp>
      <p:sp>
        <p:nvSpPr>
          <p:cNvPr id="54" name="Shape 40"/>
          <p:cNvSpPr/>
          <p:nvPr/>
        </p:nvSpPr>
        <p:spPr>
          <a:xfrm>
            <a:off x="7406640" y="3767328"/>
            <a:ext cx="4279392" cy="1371600"/>
          </a:xfrm>
          <a:prstGeom prst="roundRect">
            <a:avLst>
              <a:gd name="adj" fmla="val 6667"/>
            </a:avLst>
          </a:prstGeom>
          <a:solidFill>
            <a:schemeClr val="accent4">
              <a:alpha val="8000"/>
            </a:schemeClr>
          </a:solidFill>
          <a:ln/>
        </p:spPr>
      </p:sp>
      <p:sp>
        <p:nvSpPr>
          <p:cNvPr id="55" name="Text 41"/>
          <p:cNvSpPr txBox="1"/>
          <p:nvPr/>
        </p:nvSpPr>
        <p:spPr>
          <a:xfrm>
            <a:off x="7571232" y="3840480"/>
            <a:ext cx="402336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chemeClr val="accent4"/>
                </a:solidFill>
              </a:rPr>
              <a:t>НЕ ПОДЛЕЖАТ ОСВОБОЖДЕНИЮ (ПРЕЗУМПЦИЯ)</a:t>
            </a:r>
            <a:endParaRPr lang="en-US" sz="900" dirty="0"/>
          </a:p>
        </p:txBody>
      </p:sp>
      <p:sp>
        <p:nvSpPr>
          <p:cNvPr id="56" name="Text 42"/>
          <p:cNvSpPr txBox="1"/>
          <p:nvPr/>
        </p:nvSpPr>
        <p:spPr>
          <a:xfrm>
            <a:off x="7571232" y="4114800"/>
            <a:ext cx="4023360" cy="9875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Санкционные обязанности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Противодействие финансовым преступлениям (ПОД/ФТ)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Базовая защита персональных данных</a:t>
            </a:r>
            <a:endParaRPr lang="en-US" sz="950" dirty="0"/>
          </a:p>
          <a:p>
            <a:pPr marL="139700" indent="-139700">
              <a:spcAft>
                <a:spcPts val="200"/>
              </a:spcAft>
              <a:buSzPct val="100000"/>
              <a:buChar char="•"/>
            </a:pPr>
            <a:r>
              <a:rPr lang="en-US" sz="950" dirty="0">
                <a:solidFill>
                  <a:schemeClr val="tx1"/>
                </a:solidFill>
              </a:rPr>
              <a:t>Критически важные требования безопасности</a:t>
            </a:r>
            <a:endParaRPr lang="en-US" sz="950" dirty="0"/>
          </a:p>
        </p:txBody>
      </p:sp>
      <p:sp>
        <p:nvSpPr>
          <p:cNvPr id="57" name="Shape 43"/>
          <p:cNvSpPr/>
          <p:nvPr/>
        </p:nvSpPr>
        <p:spPr>
          <a:xfrm>
            <a:off x="7406640" y="5276088"/>
            <a:ext cx="4279392" cy="914400"/>
          </a:xfrm>
          <a:prstGeom prst="roundRect">
            <a:avLst>
              <a:gd name="adj" fmla="val 10000"/>
            </a:avLst>
          </a:prstGeom>
          <a:solidFill>
            <a:schemeClr val="bg2"/>
          </a:solidFill>
          <a:ln/>
        </p:spPr>
      </p:sp>
      <p:sp>
        <p:nvSpPr>
          <p:cNvPr id="58" name="Text 44"/>
          <p:cNvSpPr txBox="1"/>
          <p:nvPr/>
        </p:nvSpPr>
        <p:spPr>
          <a:xfrm>
            <a:off x="7571232" y="5276088"/>
            <a:ext cx="40233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ИИ-инструменты комплаенса дополняют, но не заменяют предусмотренные законом меры контроля и решение человека. Переводы денег и ценностей — только через поднадзорную организацию или с письменного согласия органа.</a:t>
            </a:r>
            <a:endParaRPr lang="en-US" sz="900" dirty="0"/>
          </a:p>
        </p:txBody>
      </p:sp>
      <p:sp>
        <p:nvSpPr>
          <p:cNvPr id="59" name="source"/>
          <p:cNvSpPr txBox="1"/>
          <p:nvPr/>
        </p:nvSpPr>
        <p:spPr>
          <a:xfrm>
            <a:off x="502920" y="6400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Иллюстрация 14 отчета; [S6] Ofgem; [S7] MAS. Пределы теста — по модели МЦЦТ.</a:t>
            </a:r>
            <a:endParaRPr lang="en-US" sz="800" dirty="0"/>
          </a:p>
        </p:txBody>
      </p:sp>
      <p:sp>
        <p:nvSpPr>
          <p:cNvPr id="60" name="Text 46"/>
          <p:cNvSpPr txBox="1"/>
          <p:nvPr/>
        </p:nvSpPr>
        <p:spPr>
          <a:xfrm>
            <a:off x="6286210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61" name="go:nav">
            <a:hlinkClick r:id="rId13" tooltip="Раздел: Меню" action="ppaction://hlinksldjump"/>
          </p:cNvPr>
          <p:cNvSpPr/>
          <p:nvPr/>
        </p:nvSpPr>
        <p:spPr>
          <a:xfrm>
            <a:off x="6286210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2" name="Text 48"/>
          <p:cNvSpPr txBox="1"/>
          <p:nvPr/>
        </p:nvSpPr>
        <p:spPr>
          <a:xfrm>
            <a:off x="6816943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63" name="go:key5">
            <a:hlinkClick r:id="rId14" tooltip="Раздел: Главное" action="ppaction://hlinksldjump"/>
          </p:cNvPr>
          <p:cNvSpPr/>
          <p:nvPr/>
        </p:nvSpPr>
        <p:spPr>
          <a:xfrm>
            <a:off x="6816943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4" name="Text 50"/>
          <p:cNvSpPr txBox="1"/>
          <p:nvPr/>
        </p:nvSpPr>
        <p:spPr>
          <a:xfrm>
            <a:off x="7511760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65" name="go:numbers">
            <a:hlinkClick r:id="rId15" tooltip="Раздел: Мир" action="ppaction://hlinksldjump"/>
          </p:cNvPr>
          <p:cNvSpPr/>
          <p:nvPr/>
        </p:nvSpPr>
        <p:spPr>
          <a:xfrm>
            <a:off x="7511760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6" name="Text 52"/>
          <p:cNvSpPr txBox="1"/>
          <p:nvPr/>
        </p:nvSpPr>
        <p:spPr>
          <a:xfrm>
            <a:off x="794597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Кейсы</a:t>
            </a:r>
            <a:endParaRPr lang="en-US" sz="950" dirty="0"/>
          </a:p>
        </p:txBody>
      </p:sp>
      <p:sp>
        <p:nvSpPr>
          <p:cNvPr id="67" name="go:casemap">
            <a:hlinkClick r:id="rId16" tooltip="Раздел: Кейсы" action="ppaction://hlinksldjump"/>
          </p:cNvPr>
          <p:cNvSpPr/>
          <p:nvPr/>
        </p:nvSpPr>
        <p:spPr>
          <a:xfrm>
            <a:off x="794597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8" name="Text 54"/>
          <p:cNvSpPr txBox="1"/>
          <p:nvPr/>
        </p:nvSpPr>
        <p:spPr>
          <a:xfrm>
            <a:off x="8541857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69" name="go:ecosystem">
            <a:hlinkClick r:id="rId17" tooltip="Раздел: Модель" action="ppaction://hlinksldjump"/>
          </p:cNvPr>
          <p:cNvSpPr/>
          <p:nvPr/>
        </p:nvSpPr>
        <p:spPr>
          <a:xfrm>
            <a:off x="8541857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0" name="Text 56"/>
          <p:cNvSpPr txBox="1"/>
          <p:nvPr/>
        </p:nvSpPr>
        <p:spPr>
          <a:xfrm>
            <a:off x="917152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71" name="go:path">
            <a:hlinkClick r:id="rId18" tooltip="Раздел: Этапы" action="ppaction://hlinksldjump"/>
          </p:cNvPr>
          <p:cNvSpPr/>
          <p:nvPr/>
        </p:nvSpPr>
        <p:spPr>
          <a:xfrm>
            <a:off x="917152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2" name="Shape 58"/>
          <p:cNvSpPr/>
          <p:nvPr/>
        </p:nvSpPr>
        <p:spPr>
          <a:xfrm>
            <a:off x="9767407" y="219456"/>
            <a:ext cx="760970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73" name="Text 59"/>
          <p:cNvSpPr txBox="1"/>
          <p:nvPr/>
        </p:nvSpPr>
        <p:spPr>
          <a:xfrm>
            <a:off x="9767407" y="219456"/>
            <a:ext cx="760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Защита</a:t>
            </a:r>
            <a:endParaRPr lang="en-US" sz="950" dirty="0"/>
          </a:p>
        </p:txBody>
      </p:sp>
      <p:sp>
        <p:nvSpPr>
          <p:cNvPr id="74" name="go:criteria">
            <a:hlinkClick r:id="rId19" tooltip="Раздел: Защита" action="ppaction://hlinksldjump"/>
          </p:cNvPr>
          <p:cNvSpPr/>
          <p:nvPr/>
        </p:nvSpPr>
        <p:spPr>
          <a:xfrm>
            <a:off x="9767407" y="219456"/>
            <a:ext cx="76097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5" name="Text 61"/>
          <p:cNvSpPr txBox="1"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76" name="go:pilots">
            <a:hlinkClick r:id="rId20" tooltip="Раздел: Пилоты" action="ppaction://hlinksldjump"/>
          </p:cNvPr>
          <p:cNvSpPr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7" name="Text 63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78" name="go:plan90">
            <a:hlinkClick r:id="rId21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27</a:t>
            </a:fld>
            <a:endParaRPr lang="en-US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Границы программы и риски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Чего МЦЦТ не делает и не гарантирует — и какие риски контролирует; два риска оценены как высокие</a:t>
            </a:r>
            <a:endParaRPr lang="en-US" sz="1400" dirty="0"/>
          </a:p>
        </p:txBody>
      </p:sp>
      <p:pic>
        <p:nvPicPr>
          <p:cNvPr id="4" name="Image 0" descr="OctagonX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02920" y="1810512"/>
            <a:ext cx="219456" cy="219456"/>
          </a:xfrm>
          <a:prstGeom prst="rect">
            <a:avLst/>
          </a:prstGeom>
        </p:spPr>
      </p:pic>
      <p:sp>
        <p:nvSpPr>
          <p:cNvPr id="5" name="Text 2"/>
          <p:cNvSpPr txBox="1"/>
          <p:nvPr/>
        </p:nvSpPr>
        <p:spPr>
          <a:xfrm>
            <a:off x="795528" y="18105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chemeClr val="accent4"/>
                </a:solidFill>
              </a:rPr>
              <a:t>НЕ ДАЕМ И НЕ ГАРАНТИРУЕМ</a:t>
            </a:r>
            <a:endParaRPr lang="en-US" sz="900" dirty="0"/>
          </a:p>
        </p:txBody>
      </p:sp>
      <p:sp>
        <p:nvSpPr>
          <p:cNvPr id="6" name="Shape 3"/>
          <p:cNvSpPr/>
          <p:nvPr/>
        </p:nvSpPr>
        <p:spPr>
          <a:xfrm>
            <a:off x="502920" y="2139696"/>
            <a:ext cx="2697480" cy="731520"/>
          </a:xfrm>
          <a:prstGeom prst="roundRect">
            <a:avLst>
              <a:gd name="adj" fmla="val 7500"/>
            </a:avLst>
          </a:prstGeom>
          <a:solidFill>
            <a:schemeClr val="accent4">
              <a:alpha val="7000"/>
            </a:schemeClr>
          </a:solidFill>
          <a:ln/>
        </p:spPr>
      </p:sp>
      <p:pic>
        <p:nvPicPr>
          <p:cNvPr id="7" name="Image 1" descr="Ban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2648" y="2368296"/>
            <a:ext cx="274320" cy="274320"/>
          </a:xfrm>
          <a:prstGeom prst="rect">
            <a:avLst/>
          </a:prstGeom>
        </p:spPr>
      </p:pic>
      <p:sp>
        <p:nvSpPr>
          <p:cNvPr id="8" name="Text 4"/>
          <p:cNvSpPr txBox="1"/>
          <p:nvPr/>
        </p:nvSpPr>
        <p:spPr>
          <a:xfrm>
            <a:off x="978408" y="2139696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Лицензий и разрешений: их выдают уполномоченные органы</a:t>
            </a:r>
            <a:endParaRPr lang="en-US" sz="950" dirty="0"/>
          </a:p>
        </p:txBody>
      </p:sp>
      <p:sp>
        <p:nvSpPr>
          <p:cNvPr id="9" name="Shape 5"/>
          <p:cNvSpPr/>
          <p:nvPr/>
        </p:nvSpPr>
        <p:spPr>
          <a:xfrm>
            <a:off x="502920" y="2944368"/>
            <a:ext cx="2697480" cy="731520"/>
          </a:xfrm>
          <a:prstGeom prst="roundRect">
            <a:avLst>
              <a:gd name="adj" fmla="val 7500"/>
            </a:avLst>
          </a:prstGeom>
          <a:solidFill>
            <a:schemeClr val="accent4">
              <a:alpha val="7000"/>
            </a:schemeClr>
          </a:solidFill>
          <a:ln/>
        </p:spPr>
      </p:sp>
      <p:pic>
        <p:nvPicPr>
          <p:cNvPr id="10" name="Image 2" descr="Ban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" y="3172968"/>
            <a:ext cx="274320" cy="274320"/>
          </a:xfrm>
          <a:prstGeom prst="rect">
            <a:avLst/>
          </a:prstGeom>
        </p:spPr>
      </p:pic>
      <p:sp>
        <p:nvSpPr>
          <p:cNvPr id="11" name="Text 6"/>
          <p:cNvSpPr txBox="1"/>
          <p:nvPr/>
        </p:nvSpPr>
        <p:spPr>
          <a:xfrm>
            <a:off x="978408" y="294436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Освобождений от требований закона по умолчанию</a:t>
            </a:r>
            <a:endParaRPr lang="en-US" sz="950" dirty="0"/>
          </a:p>
        </p:txBody>
      </p:sp>
      <p:sp>
        <p:nvSpPr>
          <p:cNvPr id="12" name="Shape 7"/>
          <p:cNvSpPr/>
          <p:nvPr/>
        </p:nvSpPr>
        <p:spPr>
          <a:xfrm>
            <a:off x="502920" y="3749040"/>
            <a:ext cx="2697480" cy="731520"/>
          </a:xfrm>
          <a:prstGeom prst="roundRect">
            <a:avLst>
              <a:gd name="adj" fmla="val 7500"/>
            </a:avLst>
          </a:prstGeom>
          <a:solidFill>
            <a:schemeClr val="accent4">
              <a:alpha val="7000"/>
            </a:schemeClr>
          </a:solidFill>
          <a:ln/>
        </p:spPr>
      </p:sp>
      <p:pic>
        <p:nvPicPr>
          <p:cNvPr id="13" name="Image 3" descr="Ban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2648" y="3977640"/>
            <a:ext cx="274320" cy="274320"/>
          </a:xfrm>
          <a:prstGeom prst="rect">
            <a:avLst/>
          </a:prstGeom>
        </p:spPr>
      </p:pic>
      <p:sp>
        <p:nvSpPr>
          <p:cNvPr id="14" name="Text 8"/>
          <p:cNvSpPr txBox="1"/>
          <p:nvPr/>
        </p:nvSpPr>
        <p:spPr>
          <a:xfrm>
            <a:off x="978408" y="37490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Допуска каждому заявителю: отбор, возможен отказ</a:t>
            </a:r>
            <a:endParaRPr lang="en-US" sz="950" dirty="0"/>
          </a:p>
        </p:txBody>
      </p:sp>
      <p:sp>
        <p:nvSpPr>
          <p:cNvPr id="15" name="Shape 9"/>
          <p:cNvSpPr/>
          <p:nvPr/>
        </p:nvSpPr>
        <p:spPr>
          <a:xfrm>
            <a:off x="502920" y="4553712"/>
            <a:ext cx="2697480" cy="731520"/>
          </a:xfrm>
          <a:prstGeom prst="roundRect">
            <a:avLst>
              <a:gd name="adj" fmla="val 7500"/>
            </a:avLst>
          </a:prstGeom>
          <a:solidFill>
            <a:schemeClr val="accent4">
              <a:alpha val="7000"/>
            </a:schemeClr>
          </a:solidFill>
          <a:ln/>
        </p:spPr>
      </p:sp>
      <p:pic>
        <p:nvPicPr>
          <p:cNvPr id="16" name="Image 4" descr="Ban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12648" y="4782312"/>
            <a:ext cx="274320" cy="274320"/>
          </a:xfrm>
          <a:prstGeom prst="rect">
            <a:avLst/>
          </a:prstGeom>
        </p:spPr>
      </p:pic>
      <p:sp>
        <p:nvSpPr>
          <p:cNvPr id="17" name="Text 10"/>
          <p:cNvSpPr txBox="1"/>
          <p:nvPr/>
        </p:nvSpPr>
        <p:spPr>
          <a:xfrm>
            <a:off x="978408" y="455371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Любых запрошенных данных и участников</a:t>
            </a:r>
            <a:endParaRPr lang="en-US" sz="950" dirty="0"/>
          </a:p>
        </p:txBody>
      </p:sp>
      <p:sp>
        <p:nvSpPr>
          <p:cNvPr id="18" name="Shape 11"/>
          <p:cNvSpPr/>
          <p:nvPr/>
        </p:nvSpPr>
        <p:spPr>
          <a:xfrm>
            <a:off x="502920" y="5358384"/>
            <a:ext cx="2697480" cy="731520"/>
          </a:xfrm>
          <a:prstGeom prst="roundRect">
            <a:avLst>
              <a:gd name="adj" fmla="val 7500"/>
            </a:avLst>
          </a:prstGeom>
          <a:solidFill>
            <a:schemeClr val="accent4">
              <a:alpha val="7000"/>
            </a:schemeClr>
          </a:solidFill>
          <a:ln/>
        </p:spPr>
      </p:sp>
      <p:pic>
        <p:nvPicPr>
          <p:cNvPr id="19" name="Image 5" descr="Ban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2648" y="5586984"/>
            <a:ext cx="274320" cy="274320"/>
          </a:xfrm>
          <a:prstGeom prst="rect">
            <a:avLst/>
          </a:prstGeom>
        </p:spPr>
      </p:pic>
      <p:sp>
        <p:nvSpPr>
          <p:cNvPr id="20" name="Text 12"/>
          <p:cNvSpPr txBox="1"/>
          <p:nvPr/>
        </p:nvSpPr>
        <p:spPr>
          <a:xfrm>
            <a:off x="978408" y="5358384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Права работать после теста без отдельного решения</a:t>
            </a:r>
            <a:endParaRPr lang="en-US" sz="950" dirty="0"/>
          </a:p>
        </p:txBody>
      </p:sp>
      <p:pic>
        <p:nvPicPr>
          <p:cNvPr id="21" name="Image 6" descr="OctagonX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337560" y="1810512"/>
            <a:ext cx="219456" cy="219456"/>
          </a:xfrm>
          <a:prstGeom prst="rect">
            <a:avLst/>
          </a:prstGeom>
        </p:spPr>
      </p:pic>
      <p:sp>
        <p:nvSpPr>
          <p:cNvPr id="22" name="Text 13"/>
          <p:cNvSpPr txBox="1"/>
          <p:nvPr/>
        </p:nvSpPr>
        <p:spPr>
          <a:xfrm>
            <a:off x="3630168" y="1810512"/>
            <a:ext cx="23774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chemeClr val="accent4"/>
                </a:solidFill>
              </a:rPr>
              <a:t>НЕ ДЕЛАЕМ</a:t>
            </a:r>
            <a:endParaRPr lang="en-US" sz="900" dirty="0"/>
          </a:p>
        </p:txBody>
      </p:sp>
      <p:sp>
        <p:nvSpPr>
          <p:cNvPr id="23" name="Shape 14"/>
          <p:cNvSpPr/>
          <p:nvPr/>
        </p:nvSpPr>
        <p:spPr>
          <a:xfrm>
            <a:off x="3337560" y="2139696"/>
            <a:ext cx="2697480" cy="731520"/>
          </a:xfrm>
          <a:prstGeom prst="roundRect">
            <a:avLst>
              <a:gd name="adj" fmla="val 7500"/>
            </a:avLst>
          </a:prstGeom>
          <a:solidFill>
            <a:schemeClr val="accent4">
              <a:alpha val="7000"/>
            </a:schemeClr>
          </a:solidFill>
          <a:ln/>
        </p:spPr>
      </p:sp>
      <p:pic>
        <p:nvPicPr>
          <p:cNvPr id="24" name="Image 7" descr="CircleX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7288" y="2368296"/>
            <a:ext cx="274320" cy="274320"/>
          </a:xfrm>
          <a:prstGeom prst="rect">
            <a:avLst/>
          </a:prstGeom>
        </p:spPr>
      </p:pic>
      <p:sp>
        <p:nvSpPr>
          <p:cNvPr id="25" name="Text 15"/>
          <p:cNvSpPr txBox="1"/>
          <p:nvPr/>
        </p:nvSpPr>
        <p:spPr>
          <a:xfrm>
            <a:off x="3813048" y="2139696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Не допускаем реальные операции до этапа 4</a:t>
            </a:r>
            <a:endParaRPr lang="en-US" sz="950" dirty="0"/>
          </a:p>
        </p:txBody>
      </p:sp>
      <p:sp>
        <p:nvSpPr>
          <p:cNvPr id="26" name="Shape 16"/>
          <p:cNvSpPr/>
          <p:nvPr/>
        </p:nvSpPr>
        <p:spPr>
          <a:xfrm>
            <a:off x="3337560" y="2944368"/>
            <a:ext cx="2697480" cy="731520"/>
          </a:xfrm>
          <a:prstGeom prst="roundRect">
            <a:avLst>
              <a:gd name="adj" fmla="val 7500"/>
            </a:avLst>
          </a:prstGeom>
          <a:solidFill>
            <a:schemeClr val="accent4">
              <a:alpha val="7000"/>
            </a:schemeClr>
          </a:solidFill>
          <a:ln/>
        </p:spPr>
      </p:sp>
      <p:pic>
        <p:nvPicPr>
          <p:cNvPr id="27" name="Image 8" descr="CircleX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3447288" y="3172968"/>
            <a:ext cx="274320" cy="274320"/>
          </a:xfrm>
          <a:prstGeom prst="rect">
            <a:avLst/>
          </a:prstGeom>
        </p:spPr>
      </p:pic>
      <p:sp>
        <p:nvSpPr>
          <p:cNvPr id="28" name="Text 17"/>
          <p:cNvSpPr txBox="1"/>
          <p:nvPr/>
        </p:nvSpPr>
        <p:spPr>
          <a:xfrm>
            <a:off x="3813048" y="2944368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Не проводим тест без лимитов и сроков</a:t>
            </a:r>
            <a:endParaRPr lang="en-US" sz="950" dirty="0"/>
          </a:p>
        </p:txBody>
      </p:sp>
      <p:sp>
        <p:nvSpPr>
          <p:cNvPr id="29" name="Shape 18"/>
          <p:cNvSpPr/>
          <p:nvPr/>
        </p:nvSpPr>
        <p:spPr>
          <a:xfrm>
            <a:off x="3337560" y="3749040"/>
            <a:ext cx="2697480" cy="731520"/>
          </a:xfrm>
          <a:prstGeom prst="roundRect">
            <a:avLst>
              <a:gd name="adj" fmla="val 7500"/>
            </a:avLst>
          </a:prstGeom>
          <a:solidFill>
            <a:schemeClr val="accent4">
              <a:alpha val="7000"/>
            </a:schemeClr>
          </a:solidFill>
          <a:ln/>
        </p:spPr>
      </p:sp>
      <p:pic>
        <p:nvPicPr>
          <p:cNvPr id="30" name="Image 9" descr="CircleX">    </p:cNvPr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3447288" y="3977640"/>
            <a:ext cx="274320" cy="274320"/>
          </a:xfrm>
          <a:prstGeom prst="rect">
            <a:avLst/>
          </a:prstGeom>
        </p:spPr>
      </p:pic>
      <p:sp>
        <p:nvSpPr>
          <p:cNvPr id="31" name="Text 19"/>
          <p:cNvSpPr txBox="1"/>
          <p:nvPr/>
        </p:nvSpPr>
        <p:spPr>
          <a:xfrm>
            <a:off x="3813048" y="3749040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Не заменяем решения других органов</a:t>
            </a:r>
            <a:endParaRPr lang="en-US" sz="950" dirty="0"/>
          </a:p>
        </p:txBody>
      </p:sp>
      <p:sp>
        <p:nvSpPr>
          <p:cNvPr id="32" name="Shape 20"/>
          <p:cNvSpPr/>
          <p:nvPr/>
        </p:nvSpPr>
        <p:spPr>
          <a:xfrm>
            <a:off x="3337560" y="4553712"/>
            <a:ext cx="2697480" cy="731520"/>
          </a:xfrm>
          <a:prstGeom prst="roundRect">
            <a:avLst>
              <a:gd name="adj" fmla="val 7500"/>
            </a:avLst>
          </a:prstGeom>
          <a:solidFill>
            <a:schemeClr val="accent4">
              <a:alpha val="7000"/>
            </a:schemeClr>
          </a:solidFill>
          <a:ln/>
        </p:spPr>
      </p:sp>
      <p:pic>
        <p:nvPicPr>
          <p:cNvPr id="33" name="Image 10" descr="CircleX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3447288" y="4782312"/>
            <a:ext cx="274320" cy="274320"/>
          </a:xfrm>
          <a:prstGeom prst="rect">
            <a:avLst/>
          </a:prstGeom>
        </p:spPr>
      </p:pic>
      <p:sp>
        <p:nvSpPr>
          <p:cNvPr id="34" name="Text 21"/>
          <p:cNvSpPr txBox="1"/>
          <p:nvPr/>
        </p:nvSpPr>
        <p:spPr>
          <a:xfrm>
            <a:off x="3813048" y="4553712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Не открываем данные одной компании другим автоматически</a:t>
            </a:r>
            <a:endParaRPr lang="en-US" sz="950" dirty="0"/>
          </a:p>
        </p:txBody>
      </p:sp>
      <p:sp>
        <p:nvSpPr>
          <p:cNvPr id="35" name="Shape 22"/>
          <p:cNvSpPr/>
          <p:nvPr/>
        </p:nvSpPr>
        <p:spPr>
          <a:xfrm>
            <a:off x="3337560" y="5358384"/>
            <a:ext cx="2697480" cy="731520"/>
          </a:xfrm>
          <a:prstGeom prst="roundRect">
            <a:avLst>
              <a:gd name="adj" fmla="val 7500"/>
            </a:avLst>
          </a:prstGeom>
          <a:solidFill>
            <a:schemeClr val="accent4">
              <a:alpha val="7000"/>
            </a:schemeClr>
          </a:solidFill>
          <a:ln/>
        </p:spPr>
      </p:sp>
      <p:pic>
        <p:nvPicPr>
          <p:cNvPr id="36" name="Image 11" descr="CircleX">    </p:cNvPr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3447288" y="5586984"/>
            <a:ext cx="274320" cy="274320"/>
          </a:xfrm>
          <a:prstGeom prst="rect">
            <a:avLst/>
          </a:prstGeom>
        </p:spPr>
      </p:pic>
      <p:sp>
        <p:nvSpPr>
          <p:cNvPr id="37" name="Text 23"/>
          <p:cNvSpPr txBox="1"/>
          <p:nvPr/>
        </p:nvSpPr>
        <p:spPr>
          <a:xfrm>
            <a:off x="3813048" y="5358384"/>
            <a:ext cx="2148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Не снимаем ответственность за вред пользователям</a:t>
            </a:r>
            <a:endParaRPr lang="en-US" sz="950" dirty="0"/>
          </a:p>
        </p:txBody>
      </p:sp>
      <p:pic>
        <p:nvPicPr>
          <p:cNvPr id="38" name="Image 12" descr="ShieldCheck">    </p:cNvPr>
          <p:cNvPicPr>
            <a:picLocks noChangeAspect="1"/>
          </p:cNvPicPr>
          <p:nvPr/>
        </p:nvPicPr>
        <p:blipFill>
          <a:blip r:embed="rId13"/>
          <a:stretch>
            <a:fillRect/>
          </a:stretch>
        </p:blipFill>
        <p:spPr>
          <a:xfrm>
            <a:off x="6263640" y="1810512"/>
            <a:ext cx="219456" cy="219456"/>
          </a:xfrm>
          <a:prstGeom prst="rect">
            <a:avLst/>
          </a:prstGeom>
        </p:spPr>
      </p:pic>
      <p:sp>
        <p:nvSpPr>
          <p:cNvPr id="39" name="Text 24"/>
          <p:cNvSpPr txBox="1"/>
          <p:nvPr/>
        </p:nvSpPr>
        <p:spPr>
          <a:xfrm>
            <a:off x="6556248" y="1810512"/>
            <a:ext cx="512064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chemeClr val="accent1"/>
                </a:solidFill>
              </a:rPr>
              <a:t>РИСКИ И КАК ИХ КОНТРОЛИРУЕМ (ОЦЕНКА АНАЛИТИКА)</a:t>
            </a:r>
            <a:endParaRPr lang="en-US" sz="900" dirty="0"/>
          </a:p>
        </p:txBody>
      </p:sp>
      <p:sp>
        <p:nvSpPr>
          <p:cNvPr id="40" name="Shape 25"/>
          <p:cNvSpPr/>
          <p:nvPr/>
        </p:nvSpPr>
        <p:spPr>
          <a:xfrm>
            <a:off x="6263640" y="2139696"/>
            <a:ext cx="5422392" cy="402336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</p:spPr>
      </p:sp>
      <p:sp>
        <p:nvSpPr>
          <p:cNvPr id="41" name="Shape 26"/>
          <p:cNvSpPr/>
          <p:nvPr/>
        </p:nvSpPr>
        <p:spPr>
          <a:xfrm>
            <a:off x="6336792" y="2221992"/>
            <a:ext cx="777240" cy="237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2" name="Text 27"/>
          <p:cNvSpPr txBox="1"/>
          <p:nvPr/>
        </p:nvSpPr>
        <p:spPr>
          <a:xfrm>
            <a:off x="6336792" y="222199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Высокий</a:t>
            </a:r>
            <a:endParaRPr lang="en-US" sz="800" dirty="0"/>
          </a:p>
        </p:txBody>
      </p:sp>
      <p:sp>
        <p:nvSpPr>
          <p:cNvPr id="43" name="Text 28"/>
          <p:cNvSpPr txBox="1"/>
          <p:nvPr/>
        </p:nvSpPr>
        <p:spPr>
          <a:xfrm>
            <a:off x="7205472" y="213969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Правовая основа уже, чем предполагалось</a:t>
            </a:r>
            <a:endParaRPr lang="en-US" sz="900" dirty="0"/>
          </a:p>
        </p:txBody>
      </p:sp>
      <p:sp>
        <p:nvSpPr>
          <p:cNvPr id="44" name="Text 29"/>
          <p:cNvSpPr txBox="1"/>
          <p:nvPr/>
        </p:nvSpPr>
        <p:spPr>
          <a:xfrm>
            <a:off x="9144000" y="2139696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Правовой спринт; заключение юристов до принятия правил; запасные варианты</a:t>
            </a:r>
            <a:endParaRPr lang="en-US" sz="850" dirty="0"/>
          </a:p>
        </p:txBody>
      </p:sp>
      <p:sp>
        <p:nvSpPr>
          <p:cNvPr id="45" name="Shape 30"/>
          <p:cNvSpPr/>
          <p:nvPr/>
        </p:nvSpPr>
        <p:spPr>
          <a:xfrm>
            <a:off x="6263640" y="2587752"/>
            <a:ext cx="5422392" cy="402336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</p:spPr>
      </p:sp>
      <p:sp>
        <p:nvSpPr>
          <p:cNvPr id="46" name="Shape 31"/>
          <p:cNvSpPr/>
          <p:nvPr/>
        </p:nvSpPr>
        <p:spPr>
          <a:xfrm>
            <a:off x="6336792" y="2670048"/>
            <a:ext cx="777240" cy="237744"/>
          </a:xfrm>
          <a:prstGeom prst="roundRect">
            <a:avLst>
              <a:gd name="adj" fmla="val 50000"/>
            </a:avLst>
          </a:prstGeom>
          <a:solidFill>
            <a:schemeClr val="accent4"/>
          </a:solidFill>
          <a:ln/>
        </p:spPr>
      </p:sp>
      <p:sp>
        <p:nvSpPr>
          <p:cNvPr id="47" name="Text 32"/>
          <p:cNvSpPr txBox="1"/>
          <p:nvPr/>
        </p:nvSpPr>
        <p:spPr>
          <a:xfrm>
            <a:off x="6336792" y="267004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bg1"/>
                </a:solidFill>
              </a:rPr>
              <a:t>Высокий</a:t>
            </a:r>
            <a:endParaRPr lang="en-US" sz="800" dirty="0"/>
          </a:p>
        </p:txBody>
      </p:sp>
      <p:sp>
        <p:nvSpPr>
          <p:cNvPr id="48" name="Text 33"/>
          <p:cNvSpPr txBox="1"/>
          <p:nvPr/>
        </p:nvSpPr>
        <p:spPr>
          <a:xfrm>
            <a:off x="7205472" y="258775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Регуляторы не дают согласия</a:t>
            </a:r>
            <a:endParaRPr lang="en-US" sz="900" dirty="0"/>
          </a:p>
        </p:txBody>
      </p:sp>
      <p:sp>
        <p:nvSpPr>
          <p:cNvPr id="49" name="Text 34"/>
          <p:cNvSpPr txBox="1"/>
          <p:nvPr/>
        </p:nvSpPr>
        <p:spPr>
          <a:xfrm>
            <a:off x="9144000" y="258775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Согласие не презюмируется; письмо с вариантами; эскалация; KPI 15</a:t>
            </a:r>
            <a:endParaRPr lang="en-US" sz="850" dirty="0"/>
          </a:p>
        </p:txBody>
      </p:sp>
      <p:sp>
        <p:nvSpPr>
          <p:cNvPr id="50" name="Shape 35"/>
          <p:cNvSpPr/>
          <p:nvPr/>
        </p:nvSpPr>
        <p:spPr>
          <a:xfrm>
            <a:off x="6263640" y="3035808"/>
            <a:ext cx="5422392" cy="402336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</p:spPr>
      </p:sp>
      <p:sp>
        <p:nvSpPr>
          <p:cNvPr id="51" name="Shape 36"/>
          <p:cNvSpPr/>
          <p:nvPr/>
        </p:nvSpPr>
        <p:spPr>
          <a:xfrm>
            <a:off x="6336792" y="3118104"/>
            <a:ext cx="777240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52" name="Text 37"/>
          <p:cNvSpPr txBox="1"/>
          <p:nvPr/>
        </p:nvSpPr>
        <p:spPr>
          <a:xfrm>
            <a:off x="6336792" y="311810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Средний</a:t>
            </a:r>
            <a:endParaRPr lang="en-US" sz="800" dirty="0"/>
          </a:p>
        </p:txBody>
      </p:sp>
      <p:sp>
        <p:nvSpPr>
          <p:cNvPr id="53" name="Text 38"/>
          <p:cNvSpPr txBox="1"/>
          <p:nvPr/>
        </p:nvSpPr>
        <p:spPr>
          <a:xfrm>
            <a:off x="7205472" y="303580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Низкий или нецелевой спрос</a:t>
            </a:r>
            <a:endParaRPr lang="en-US" sz="900" dirty="0"/>
          </a:p>
        </p:txBody>
      </p:sp>
      <p:sp>
        <p:nvSpPr>
          <p:cNvPr id="54" name="Text 39"/>
          <p:cNvSpPr txBox="1"/>
          <p:nvPr/>
        </p:nvSpPr>
        <p:spPr>
          <a:xfrm>
            <a:off x="9144000" y="3035808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Интервью по оценке спроса; на старте — два трека</a:t>
            </a:r>
            <a:endParaRPr lang="en-US" sz="850" dirty="0"/>
          </a:p>
        </p:txBody>
      </p:sp>
      <p:sp>
        <p:nvSpPr>
          <p:cNvPr id="55" name="Shape 40"/>
          <p:cNvSpPr/>
          <p:nvPr/>
        </p:nvSpPr>
        <p:spPr>
          <a:xfrm>
            <a:off x="6263640" y="3483864"/>
            <a:ext cx="5422392" cy="402336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</p:spPr>
      </p:sp>
      <p:sp>
        <p:nvSpPr>
          <p:cNvPr id="56" name="Shape 41"/>
          <p:cNvSpPr/>
          <p:nvPr/>
        </p:nvSpPr>
        <p:spPr>
          <a:xfrm>
            <a:off x="6336792" y="3566160"/>
            <a:ext cx="777240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57" name="Text 42"/>
          <p:cNvSpPr txBox="1"/>
          <p:nvPr/>
        </p:nvSpPr>
        <p:spPr>
          <a:xfrm>
            <a:off x="6336792" y="356616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Средний</a:t>
            </a:r>
            <a:endParaRPr lang="en-US" sz="800" dirty="0"/>
          </a:p>
        </p:txBody>
      </p:sp>
      <p:sp>
        <p:nvSpPr>
          <p:cNvPr id="58" name="Text 43"/>
          <p:cNvSpPr txBox="1"/>
          <p:nvPr/>
        </p:nvSpPr>
        <p:spPr>
          <a:xfrm>
            <a:off x="7205472" y="348386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Ущерб пользователям или данным</a:t>
            </a:r>
            <a:endParaRPr lang="en-US" sz="900" dirty="0"/>
          </a:p>
        </p:txBody>
      </p:sp>
      <p:sp>
        <p:nvSpPr>
          <p:cNvPr id="59" name="Text 44"/>
          <p:cNvSpPr txBox="1"/>
          <p:nvPr/>
        </p:nvSpPr>
        <p:spPr>
          <a:xfrm>
            <a:off x="9144000" y="348386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Лимиты, стоп-лосс, экспертная проверка, уведомление об инцидентах, план свертывания</a:t>
            </a:r>
            <a:endParaRPr lang="en-US" sz="850" dirty="0"/>
          </a:p>
        </p:txBody>
      </p:sp>
      <p:sp>
        <p:nvSpPr>
          <p:cNvPr id="60" name="Shape 45"/>
          <p:cNvSpPr/>
          <p:nvPr/>
        </p:nvSpPr>
        <p:spPr>
          <a:xfrm>
            <a:off x="6263640" y="3931920"/>
            <a:ext cx="5422392" cy="402336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</p:spPr>
      </p:sp>
      <p:sp>
        <p:nvSpPr>
          <p:cNvPr id="61" name="Shape 46"/>
          <p:cNvSpPr/>
          <p:nvPr/>
        </p:nvSpPr>
        <p:spPr>
          <a:xfrm>
            <a:off x="6336792" y="4014216"/>
            <a:ext cx="777240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62" name="Text 47"/>
          <p:cNvSpPr txBox="1"/>
          <p:nvPr/>
        </p:nvSpPr>
        <p:spPr>
          <a:xfrm>
            <a:off x="6336792" y="4014216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Средний</a:t>
            </a:r>
            <a:endParaRPr lang="en-US" sz="800" dirty="0"/>
          </a:p>
        </p:txBody>
      </p:sp>
      <p:sp>
        <p:nvSpPr>
          <p:cNvPr id="63" name="Text 48"/>
          <p:cNvSpPr txBox="1"/>
          <p:nvPr/>
        </p:nvSpPr>
        <p:spPr>
          <a:xfrm>
            <a:off x="7205472" y="3931920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Финансовые преступления и санкции</a:t>
            </a:r>
            <a:endParaRPr lang="en-US" sz="900" dirty="0"/>
          </a:p>
        </p:txBody>
      </p:sp>
      <p:sp>
        <p:nvSpPr>
          <p:cNvPr id="64" name="Text 49"/>
          <p:cNvSpPr txBox="1"/>
          <p:nvPr/>
        </p:nvSpPr>
        <p:spPr>
          <a:xfrm>
            <a:off x="9144000" y="3931920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Проверка благонадежности; ПОД/ФТ без освобождений</a:t>
            </a:r>
            <a:endParaRPr lang="en-US" sz="850" dirty="0"/>
          </a:p>
        </p:txBody>
      </p:sp>
      <p:sp>
        <p:nvSpPr>
          <p:cNvPr id="65" name="Shape 50"/>
          <p:cNvSpPr/>
          <p:nvPr/>
        </p:nvSpPr>
        <p:spPr>
          <a:xfrm>
            <a:off x="6263640" y="4379976"/>
            <a:ext cx="5422392" cy="402336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</p:spPr>
      </p:sp>
      <p:sp>
        <p:nvSpPr>
          <p:cNvPr id="66" name="Shape 51"/>
          <p:cNvSpPr/>
          <p:nvPr/>
        </p:nvSpPr>
        <p:spPr>
          <a:xfrm>
            <a:off x="6336792" y="4462272"/>
            <a:ext cx="777240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67" name="Text 52"/>
          <p:cNvSpPr txBox="1"/>
          <p:nvPr/>
        </p:nvSpPr>
        <p:spPr>
          <a:xfrm>
            <a:off x="6336792" y="4462272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Средний</a:t>
            </a:r>
            <a:endParaRPr lang="en-US" sz="800" dirty="0"/>
          </a:p>
        </p:txBody>
      </p:sp>
      <p:sp>
        <p:nvSpPr>
          <p:cNvPr id="68" name="Text 53"/>
          <p:cNvSpPr txBox="1"/>
          <p:nvPr/>
        </p:nvSpPr>
        <p:spPr>
          <a:xfrm>
            <a:off x="7205472" y="4379976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Перегрузка персонала</a:t>
            </a:r>
            <a:endParaRPr lang="en-US" sz="900" dirty="0"/>
          </a:p>
        </p:txBody>
      </p:sp>
      <p:sp>
        <p:nvSpPr>
          <p:cNvPr id="69" name="Text 54"/>
          <p:cNvSpPr txBox="1"/>
          <p:nvPr/>
        </p:nvSpPr>
        <p:spPr>
          <a:xfrm>
            <a:off x="9144000" y="4379976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Первичный разбор с направлением в Трек разъяснений; лимит приема; учет часов</a:t>
            </a:r>
            <a:endParaRPr lang="en-US" sz="850" dirty="0"/>
          </a:p>
        </p:txBody>
      </p:sp>
      <p:sp>
        <p:nvSpPr>
          <p:cNvPr id="70" name="Shape 55"/>
          <p:cNvSpPr/>
          <p:nvPr/>
        </p:nvSpPr>
        <p:spPr>
          <a:xfrm>
            <a:off x="6263640" y="4828032"/>
            <a:ext cx="5422392" cy="402336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</p:spPr>
      </p:sp>
      <p:sp>
        <p:nvSpPr>
          <p:cNvPr id="71" name="Shape 56"/>
          <p:cNvSpPr/>
          <p:nvPr/>
        </p:nvSpPr>
        <p:spPr>
          <a:xfrm>
            <a:off x="6336792" y="4910328"/>
            <a:ext cx="777240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72" name="Text 57"/>
          <p:cNvSpPr txBox="1"/>
          <p:nvPr/>
        </p:nvSpPr>
        <p:spPr>
          <a:xfrm>
            <a:off x="6336792" y="4910328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Средний</a:t>
            </a:r>
            <a:endParaRPr lang="en-US" sz="800" dirty="0"/>
          </a:p>
        </p:txBody>
      </p:sp>
      <p:sp>
        <p:nvSpPr>
          <p:cNvPr id="73" name="Text 58"/>
          <p:cNvSpPr txBox="1"/>
          <p:nvPr/>
        </p:nvSpPr>
        <p:spPr>
          <a:xfrm>
            <a:off x="7205472" y="4828032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Слабый отбор ослабляет сигнал</a:t>
            </a:r>
            <a:endParaRPr lang="en-US" sz="900" dirty="0"/>
          </a:p>
        </p:txBody>
      </p:sp>
      <p:sp>
        <p:nvSpPr>
          <p:cNvPr id="74" name="Text 59"/>
          <p:cNvSpPr txBox="1"/>
          <p:nvPr/>
        </p:nvSpPr>
        <p:spPr>
          <a:xfrm>
            <a:off x="9144000" y="4828032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Опубликованные критерии и обоснования решений</a:t>
            </a:r>
            <a:endParaRPr lang="en-US" sz="850" dirty="0"/>
          </a:p>
        </p:txBody>
      </p:sp>
      <p:sp>
        <p:nvSpPr>
          <p:cNvPr id="75" name="Shape 60"/>
          <p:cNvSpPr/>
          <p:nvPr/>
        </p:nvSpPr>
        <p:spPr>
          <a:xfrm>
            <a:off x="6263640" y="5276088"/>
            <a:ext cx="5422392" cy="402336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</p:spPr>
      </p:sp>
      <p:sp>
        <p:nvSpPr>
          <p:cNvPr id="76" name="Shape 61"/>
          <p:cNvSpPr/>
          <p:nvPr/>
        </p:nvSpPr>
        <p:spPr>
          <a:xfrm>
            <a:off x="6336792" y="5358384"/>
            <a:ext cx="777240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77" name="Text 62"/>
          <p:cNvSpPr txBox="1"/>
          <p:nvPr/>
        </p:nvSpPr>
        <p:spPr>
          <a:xfrm>
            <a:off x="6336792" y="5358384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Средний</a:t>
            </a:r>
            <a:endParaRPr lang="en-US" sz="800" dirty="0"/>
          </a:p>
        </p:txBody>
      </p:sp>
      <p:sp>
        <p:nvSpPr>
          <p:cNvPr id="78" name="Text 63"/>
          <p:cNvSpPr txBox="1"/>
          <p:nvPr/>
        </p:nvSpPr>
        <p:spPr>
          <a:xfrm>
            <a:off x="7205472" y="5276088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Конфликт продвижения и отбора</a:t>
            </a:r>
            <a:endParaRPr lang="en-US" sz="900" dirty="0"/>
          </a:p>
        </p:txBody>
      </p:sp>
      <p:sp>
        <p:nvSpPr>
          <p:cNvPr id="79" name="Text 64"/>
          <p:cNvSpPr txBox="1"/>
          <p:nvPr/>
        </p:nvSpPr>
        <p:spPr>
          <a:xfrm>
            <a:off x="9144000" y="5276088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Правила о конфликте интересов; опубликованные критерии</a:t>
            </a:r>
            <a:endParaRPr lang="en-US" sz="850" dirty="0"/>
          </a:p>
        </p:txBody>
      </p:sp>
      <p:sp>
        <p:nvSpPr>
          <p:cNvPr id="80" name="Shape 65"/>
          <p:cNvSpPr/>
          <p:nvPr/>
        </p:nvSpPr>
        <p:spPr>
          <a:xfrm>
            <a:off x="6263640" y="5724144"/>
            <a:ext cx="5422392" cy="402336"/>
          </a:xfrm>
          <a:prstGeom prst="roundRect">
            <a:avLst>
              <a:gd name="adj" fmla="val 11364"/>
            </a:avLst>
          </a:prstGeom>
          <a:solidFill>
            <a:schemeClr val="bg2"/>
          </a:solidFill>
          <a:ln/>
        </p:spPr>
      </p:sp>
      <p:sp>
        <p:nvSpPr>
          <p:cNvPr id="81" name="Shape 66"/>
          <p:cNvSpPr/>
          <p:nvPr/>
        </p:nvSpPr>
        <p:spPr>
          <a:xfrm>
            <a:off x="6336792" y="5806440"/>
            <a:ext cx="777240" cy="237744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tx2"/>
            </a:solidFill>
            <a:prstDash val="solid"/>
          </a:ln>
        </p:spPr>
      </p:sp>
      <p:sp>
        <p:nvSpPr>
          <p:cNvPr id="82" name="Text 67"/>
          <p:cNvSpPr txBox="1"/>
          <p:nvPr/>
        </p:nvSpPr>
        <p:spPr>
          <a:xfrm>
            <a:off x="6336792" y="5806440"/>
            <a:ext cx="7772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Средний</a:t>
            </a:r>
            <a:endParaRPr lang="en-US" sz="800" dirty="0"/>
          </a:p>
        </p:txBody>
      </p:sp>
      <p:sp>
        <p:nvSpPr>
          <p:cNvPr id="83" name="Text 68"/>
          <p:cNvSpPr txBox="1"/>
          <p:nvPr/>
        </p:nvSpPr>
        <p:spPr>
          <a:xfrm>
            <a:off x="7205472" y="5724144"/>
            <a:ext cx="1874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tx1"/>
                </a:solidFill>
              </a:rPr>
              <a:t>Зависимость от одного партнера</a:t>
            </a:r>
            <a:endParaRPr lang="en-US" sz="900" dirty="0"/>
          </a:p>
        </p:txBody>
      </p:sp>
      <p:sp>
        <p:nvSpPr>
          <p:cNvPr id="84" name="Text 69"/>
          <p:cNvSpPr txBox="1"/>
          <p:nvPr/>
        </p:nvSpPr>
        <p:spPr>
          <a:xfrm>
            <a:off x="9144000" y="5724144"/>
            <a:ext cx="2487168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Решения остаются за МЦЦТ; ни одна контрольная точка не зависит от WEF</a:t>
            </a:r>
            <a:endParaRPr lang="en-US" sz="850" dirty="0"/>
          </a:p>
        </p:txBody>
      </p:sp>
      <p:sp>
        <p:nvSpPr>
          <p:cNvPr id="85" name="source"/>
          <p:cNvSpPr txBox="1"/>
          <p:nvPr/>
        </p:nvSpPr>
        <p:spPr>
          <a:xfrm>
            <a:off x="502920" y="6400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Границы — по модели МЦЦТ; риски — Иллюстрация 17 отчета: [S2] [S5] [S7] [S15] [S23] [S27] [S32].</a:t>
            </a:r>
            <a:endParaRPr lang="en-US" sz="800" dirty="0"/>
          </a:p>
        </p:txBody>
      </p:sp>
      <p:sp>
        <p:nvSpPr>
          <p:cNvPr id="86" name="Text 71"/>
          <p:cNvSpPr txBox="1"/>
          <p:nvPr/>
        </p:nvSpPr>
        <p:spPr>
          <a:xfrm>
            <a:off x="6286210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87" name="go:nav">
            <a:hlinkClick r:id="rId14" tooltip="Раздел: Меню" action="ppaction://hlinksldjump"/>
          </p:cNvPr>
          <p:cNvSpPr/>
          <p:nvPr/>
        </p:nvSpPr>
        <p:spPr>
          <a:xfrm>
            <a:off x="6286210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8" name="Text 73"/>
          <p:cNvSpPr txBox="1"/>
          <p:nvPr/>
        </p:nvSpPr>
        <p:spPr>
          <a:xfrm>
            <a:off x="6816943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89" name="go:key5">
            <a:hlinkClick r:id="rId15" tooltip="Раздел: Главное" action="ppaction://hlinksldjump"/>
          </p:cNvPr>
          <p:cNvSpPr/>
          <p:nvPr/>
        </p:nvSpPr>
        <p:spPr>
          <a:xfrm>
            <a:off x="6816943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0" name="Text 75"/>
          <p:cNvSpPr txBox="1"/>
          <p:nvPr/>
        </p:nvSpPr>
        <p:spPr>
          <a:xfrm>
            <a:off x="7511760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91" name="go:numbers">
            <a:hlinkClick r:id="rId16" tooltip="Раздел: Мир" action="ppaction://hlinksldjump"/>
          </p:cNvPr>
          <p:cNvSpPr/>
          <p:nvPr/>
        </p:nvSpPr>
        <p:spPr>
          <a:xfrm>
            <a:off x="7511760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2" name="Text 77"/>
          <p:cNvSpPr txBox="1"/>
          <p:nvPr/>
        </p:nvSpPr>
        <p:spPr>
          <a:xfrm>
            <a:off x="794597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Кейсы</a:t>
            </a:r>
            <a:endParaRPr lang="en-US" sz="950" dirty="0"/>
          </a:p>
        </p:txBody>
      </p:sp>
      <p:sp>
        <p:nvSpPr>
          <p:cNvPr id="93" name="go:casemap">
            <a:hlinkClick r:id="rId17" tooltip="Раздел: Кейсы" action="ppaction://hlinksldjump"/>
          </p:cNvPr>
          <p:cNvSpPr/>
          <p:nvPr/>
        </p:nvSpPr>
        <p:spPr>
          <a:xfrm>
            <a:off x="794597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4" name="Text 79"/>
          <p:cNvSpPr txBox="1"/>
          <p:nvPr/>
        </p:nvSpPr>
        <p:spPr>
          <a:xfrm>
            <a:off x="8541857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95" name="go:ecosystem">
            <a:hlinkClick r:id="rId18" tooltip="Раздел: Модель" action="ppaction://hlinksldjump"/>
          </p:cNvPr>
          <p:cNvSpPr/>
          <p:nvPr/>
        </p:nvSpPr>
        <p:spPr>
          <a:xfrm>
            <a:off x="8541857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6" name="Text 81"/>
          <p:cNvSpPr txBox="1"/>
          <p:nvPr/>
        </p:nvSpPr>
        <p:spPr>
          <a:xfrm>
            <a:off x="917152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97" name="go:path">
            <a:hlinkClick r:id="rId19" tooltip="Раздел: Этапы" action="ppaction://hlinksldjump"/>
          </p:cNvPr>
          <p:cNvSpPr/>
          <p:nvPr/>
        </p:nvSpPr>
        <p:spPr>
          <a:xfrm>
            <a:off x="917152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8" name="Shape 83"/>
          <p:cNvSpPr/>
          <p:nvPr/>
        </p:nvSpPr>
        <p:spPr>
          <a:xfrm>
            <a:off x="9767407" y="219456"/>
            <a:ext cx="760970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99" name="Text 84"/>
          <p:cNvSpPr txBox="1"/>
          <p:nvPr/>
        </p:nvSpPr>
        <p:spPr>
          <a:xfrm>
            <a:off x="9767407" y="219456"/>
            <a:ext cx="760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Защита</a:t>
            </a:r>
            <a:endParaRPr lang="en-US" sz="950" dirty="0"/>
          </a:p>
        </p:txBody>
      </p:sp>
      <p:sp>
        <p:nvSpPr>
          <p:cNvPr id="100" name="go:criteria">
            <a:hlinkClick r:id="rId20" tooltip="Раздел: Защита" action="ppaction://hlinksldjump"/>
          </p:cNvPr>
          <p:cNvSpPr/>
          <p:nvPr/>
        </p:nvSpPr>
        <p:spPr>
          <a:xfrm>
            <a:off x="9767407" y="219456"/>
            <a:ext cx="76097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1" name="Text 86"/>
          <p:cNvSpPr txBox="1"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102" name="go:pilots">
            <a:hlinkClick r:id="rId21" tooltip="Раздел: Пилоты" action="ppaction://hlinksldjump"/>
          </p:cNvPr>
          <p:cNvSpPr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3" name="Text 88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104" name="go:plan90">
            <a:hlinkClick r:id="rId22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28</a:t>
            </a:fld>
            <a:endParaRPr lang="en-US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Что происходит после теста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Итоговый отчет дает два самостоятельных вывода; успешный тест не дает автоматической лицензии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514600" y="1810512"/>
            <a:ext cx="3291840" cy="384048"/>
          </a:xfrm>
          <a:prstGeom prst="roundRect">
            <a:avLst>
              <a:gd name="adj" fmla="val 23810"/>
            </a:avLst>
          </a:prstGeom>
          <a:solidFill>
            <a:schemeClr val="tx1"/>
          </a:solidFill>
          <a:ln/>
        </p:spPr>
      </p:sp>
      <p:pic>
        <p:nvPicPr>
          <p:cNvPr id="5" name="Image 0" descr="FileTex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697480" y="1874520"/>
            <a:ext cx="256032" cy="256032"/>
          </a:xfrm>
          <a:prstGeom prst="rect">
            <a:avLst/>
          </a:prstGeom>
        </p:spPr>
      </p:pic>
      <p:sp>
        <p:nvSpPr>
          <p:cNvPr id="6" name="Text 3"/>
          <p:cNvSpPr txBox="1"/>
          <p:nvPr/>
        </p:nvSpPr>
        <p:spPr>
          <a:xfrm>
            <a:off x="3017520" y="1810512"/>
            <a:ext cx="2560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chemeClr val="bg1"/>
                </a:solidFill>
              </a:rPr>
              <a:t>Итоговый отчет</a:t>
            </a:r>
            <a:endParaRPr lang="en-US" sz="1200" dirty="0"/>
          </a:p>
        </p:txBody>
      </p:sp>
      <p:sp>
        <p:nvSpPr>
          <p:cNvPr id="7" name="Shape 4"/>
          <p:cNvSpPr/>
          <p:nvPr/>
        </p:nvSpPr>
        <p:spPr>
          <a:xfrm>
            <a:off x="4160520" y="2194560"/>
            <a:ext cx="0" cy="109728"/>
          </a:xfrm>
          <a:prstGeom prst="line">
            <a:avLst/>
          </a:prstGeom>
          <a:noFill/>
          <a:ln w="12700">
            <a:solidFill>
              <a:schemeClr val="tx1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02920" y="2304288"/>
            <a:ext cx="3566160" cy="329184"/>
          </a:xfrm>
          <a:prstGeom prst="roundRect">
            <a:avLst>
              <a:gd name="adj" fmla="val 16667"/>
            </a:avLst>
          </a:prstGeom>
          <a:solidFill>
            <a:schemeClr val="accent1"/>
          </a:solidFill>
          <a:ln/>
        </p:spPr>
      </p:sp>
      <p:sp>
        <p:nvSpPr>
          <p:cNvPr id="9" name="Text 6"/>
          <p:cNvSpPr txBox="1"/>
          <p:nvPr/>
        </p:nvSpPr>
        <p:spPr>
          <a:xfrm>
            <a:off x="502920" y="23042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chemeClr val="bg1"/>
                </a:solidFill>
              </a:rPr>
              <a:t>ДАЛЬНЕЙШИЙ РЕЖИМ ПРОЕКТА</a:t>
            </a:r>
            <a:endParaRPr lang="en-US" sz="950" dirty="0"/>
          </a:p>
        </p:txBody>
      </p:sp>
      <p:sp>
        <p:nvSpPr>
          <p:cNvPr id="10" name="Shape 7"/>
          <p:cNvSpPr/>
          <p:nvPr/>
        </p:nvSpPr>
        <p:spPr>
          <a:xfrm>
            <a:off x="502920" y="2724912"/>
            <a:ext cx="3566160" cy="822960"/>
          </a:xfrm>
          <a:prstGeom prst="roundRect">
            <a:avLst>
              <a:gd name="adj" fmla="val 6667"/>
            </a:avLst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11" name="Text 8"/>
          <p:cNvSpPr txBox="1"/>
          <p:nvPr/>
        </p:nvSpPr>
        <p:spPr>
          <a:xfrm>
            <a:off x="640080" y="277977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Положительная оценка</a:t>
            </a:r>
            <a:endParaRPr lang="en-US" sz="1050" dirty="0"/>
          </a:p>
        </p:txBody>
      </p:sp>
      <p:sp>
        <p:nvSpPr>
          <p:cNvPr id="12" name="Text 9"/>
          <p:cNvSpPr txBox="1"/>
          <p:nvPr/>
        </p:nvSpPr>
        <p:spPr>
          <a:xfrm>
            <a:off x="640080" y="3026664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Внедрение, продолжение с условиями или расширение в МЦЦТ: решение Управляющего совета (ст. 43*)</a:t>
            </a:r>
            <a:endParaRPr lang="en-US" sz="950" dirty="0"/>
          </a:p>
        </p:txBody>
      </p:sp>
      <p:sp>
        <p:nvSpPr>
          <p:cNvPr id="13" name="Shape 10"/>
          <p:cNvSpPr/>
          <p:nvPr/>
        </p:nvSpPr>
        <p:spPr>
          <a:xfrm>
            <a:off x="502920" y="3621024"/>
            <a:ext cx="3566160" cy="822960"/>
          </a:xfrm>
          <a:prstGeom prst="roundRect">
            <a:avLst>
              <a:gd name="adj" fmla="val 6667"/>
            </a:avLst>
          </a:prstGeom>
          <a:solidFill>
            <a:schemeClr val="accent1">
              <a:alpha val="8000"/>
            </a:scheme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640080" y="36758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accent1"/>
                </a:solidFill>
              </a:rPr>
              <a:t>Нужна лицензия или разрешение</a:t>
            </a:r>
            <a:endParaRPr lang="en-US" sz="1050" dirty="0"/>
          </a:p>
        </p:txBody>
      </p:sp>
      <p:sp>
        <p:nvSpPr>
          <p:cNvPr id="15" name="Text 12"/>
          <p:cNvSpPr txBox="1"/>
          <p:nvPr/>
        </p:nvSpPr>
        <p:spPr>
          <a:xfrm>
            <a:off x="640080" y="3922776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Отдельная процедура, если предусмотрена правом; решает уполномоченный орган, а не Комитет</a:t>
            </a:r>
            <a:endParaRPr lang="en-US" sz="950" dirty="0"/>
          </a:p>
        </p:txBody>
      </p:sp>
      <p:sp>
        <p:nvSpPr>
          <p:cNvPr id="16" name="Shape 13"/>
          <p:cNvSpPr/>
          <p:nvPr/>
        </p:nvSpPr>
        <p:spPr>
          <a:xfrm>
            <a:off x="502920" y="4517136"/>
            <a:ext cx="3566160" cy="822960"/>
          </a:xfrm>
          <a:prstGeom prst="roundRect">
            <a:avLst>
              <a:gd name="adj" fmla="val 6667"/>
            </a:avLst>
          </a:prstGeom>
          <a:solidFill>
            <a:schemeClr val="accent4">
              <a:alpha val="8000"/>
            </a:schemeClr>
          </a:solidFill>
          <a:ln/>
        </p:spPr>
      </p:sp>
      <p:sp>
        <p:nvSpPr>
          <p:cNvPr id="17" name="Text 14"/>
          <p:cNvSpPr txBox="1"/>
          <p:nvPr/>
        </p:nvSpPr>
        <p:spPr>
          <a:xfrm>
            <a:off x="640080" y="45720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accent4"/>
                </a:solidFill>
              </a:rPr>
              <a:t>Условия не выполнены</a:t>
            </a:r>
            <a:endParaRPr lang="en-US" sz="1050" dirty="0"/>
          </a:p>
        </p:txBody>
      </p:sp>
      <p:sp>
        <p:nvSpPr>
          <p:cNvPr id="18" name="Text 15"/>
          <p:cNvSpPr txBox="1"/>
          <p:nvPr/>
        </p:nvSpPr>
        <p:spPr>
          <a:xfrm>
            <a:off x="640080" y="4818888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Приостановка, завершение или доработка; обязательства перед пользователями сохраняются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206240" y="2304288"/>
            <a:ext cx="3566160" cy="329184"/>
          </a:xfrm>
          <a:prstGeom prst="roundRect">
            <a:avLst>
              <a:gd name="adj" fmla="val 16667"/>
            </a:avLst>
          </a:prstGeom>
          <a:solidFill>
            <a:schemeClr val="accent5"/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4206240" y="2304288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spc="50" kern="0" dirty="0">
                <a:solidFill>
                  <a:schemeClr val="bg1"/>
                </a:solidFill>
              </a:rPr>
              <a:t>НОРМАТИВНАЯ БАЗА</a:t>
            </a:r>
            <a:endParaRPr lang="en-US" sz="950" dirty="0"/>
          </a:p>
        </p:txBody>
      </p:sp>
      <p:sp>
        <p:nvSpPr>
          <p:cNvPr id="21" name="Shape 18"/>
          <p:cNvSpPr/>
          <p:nvPr/>
        </p:nvSpPr>
        <p:spPr>
          <a:xfrm>
            <a:off x="4206240" y="2724912"/>
            <a:ext cx="3566160" cy="822960"/>
          </a:xfrm>
          <a:prstGeom prst="roundRect">
            <a:avLst>
              <a:gd name="adj" fmla="val 6667"/>
            </a:avLst>
          </a:prstGeom>
          <a:solidFill>
            <a:schemeClr val="accent5">
              <a:alpha val="8000"/>
            </a:schemeClr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4343400" y="2779776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Правила достаточны</a:t>
            </a:r>
            <a:endParaRPr lang="en-US" sz="1050" dirty="0"/>
          </a:p>
        </p:txBody>
      </p:sp>
      <p:sp>
        <p:nvSpPr>
          <p:cNvPr id="23" name="Text 20"/>
          <p:cNvSpPr txBox="1"/>
          <p:nvPr/>
        </p:nvSpPr>
        <p:spPr>
          <a:xfrm>
            <a:off x="4343400" y="3026664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Применяется существующий режим; обоснование сохранения правил фиксируется</a:t>
            </a:r>
            <a:endParaRPr lang="en-US" sz="950" dirty="0"/>
          </a:p>
        </p:txBody>
      </p:sp>
      <p:sp>
        <p:nvSpPr>
          <p:cNvPr id="24" name="Shape 21"/>
          <p:cNvSpPr/>
          <p:nvPr/>
        </p:nvSpPr>
        <p:spPr>
          <a:xfrm>
            <a:off x="4206240" y="3621024"/>
            <a:ext cx="3566160" cy="822960"/>
          </a:xfrm>
          <a:prstGeom prst="roundRect">
            <a:avLst>
              <a:gd name="adj" fmla="val 6667"/>
            </a:avLst>
          </a:prstGeom>
          <a:solidFill>
            <a:schemeClr val="accent5">
              <a:alpha val="8000"/>
            </a:schemeClr>
          </a:solidFill>
          <a:ln/>
        </p:spPr>
      </p:sp>
      <p:sp>
        <p:nvSpPr>
          <p:cNvPr id="25" name="Text 22"/>
          <p:cNvSpPr txBox="1"/>
          <p:nvPr/>
        </p:nvSpPr>
        <p:spPr>
          <a:xfrm>
            <a:off x="4343400" y="3675888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Нужно изменить правила</a:t>
            </a:r>
            <a:endParaRPr lang="en-US" sz="1050" dirty="0"/>
          </a:p>
        </p:txBody>
      </p:sp>
      <p:sp>
        <p:nvSpPr>
          <p:cNvPr id="26" name="Text 23"/>
          <p:cNvSpPr txBox="1"/>
          <p:nvPr/>
        </p:nvSpPr>
        <p:spPr>
          <a:xfrm>
            <a:off x="4343400" y="3922776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Обоснование и проект поправок в пределах полномочий МЦЦТ или предложения компетентному органу</a:t>
            </a:r>
            <a:endParaRPr lang="en-US" sz="950" dirty="0"/>
          </a:p>
        </p:txBody>
      </p:sp>
      <p:sp>
        <p:nvSpPr>
          <p:cNvPr id="27" name="Shape 24"/>
          <p:cNvSpPr/>
          <p:nvPr/>
        </p:nvSpPr>
        <p:spPr>
          <a:xfrm>
            <a:off x="4206240" y="4517136"/>
            <a:ext cx="3566160" cy="822960"/>
          </a:xfrm>
          <a:prstGeom prst="roundRect">
            <a:avLst>
              <a:gd name="adj" fmla="val 6667"/>
            </a:avLst>
          </a:prstGeom>
          <a:solidFill>
            <a:schemeClr val="accent5">
              <a:alpha val="8000"/>
            </a:schemeClr>
          </a:solidFill>
          <a:ln/>
        </p:spPr>
      </p:sp>
      <p:sp>
        <p:nvSpPr>
          <p:cNvPr id="28" name="Text 25"/>
          <p:cNvSpPr txBox="1"/>
          <p:nvPr/>
        </p:nvSpPr>
        <p:spPr>
          <a:xfrm>
            <a:off x="4343400" y="4572000"/>
            <a:ext cx="32918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Новые правила вступили в силу</a:t>
            </a:r>
            <a:endParaRPr lang="en-US" sz="1050" dirty="0"/>
          </a:p>
        </p:txBody>
      </p:sp>
      <p:sp>
        <p:nvSpPr>
          <p:cNvPr id="29" name="Text 26"/>
          <p:cNvSpPr txBox="1"/>
          <p:nvPr/>
        </p:nvSpPr>
        <p:spPr>
          <a:xfrm>
            <a:off x="4343400" y="4818888"/>
            <a:ext cx="3291840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Проверка соответствия, индивидуальный допуск — при необходимости</a:t>
            </a:r>
            <a:endParaRPr lang="en-US" sz="950" dirty="0"/>
          </a:p>
        </p:txBody>
      </p:sp>
      <p:sp>
        <p:nvSpPr>
          <p:cNvPr id="30" name="Shape 27"/>
          <p:cNvSpPr/>
          <p:nvPr/>
        </p:nvSpPr>
        <p:spPr>
          <a:xfrm>
            <a:off x="502920" y="5468112"/>
            <a:ext cx="7269480" cy="713232"/>
          </a:xfrm>
          <a:prstGeom prst="roundRect">
            <a:avLst>
              <a:gd name="adj" fmla="val 10256"/>
            </a:avLst>
          </a:prstGeom>
          <a:solidFill>
            <a:schemeClr val="accent4">
              <a:alpha val="10000"/>
            </a:schemeClr>
          </a:solidFill>
          <a:ln w="9525">
            <a:solidFill>
              <a:schemeClr val="accent4"/>
            </a:solidFill>
            <a:prstDash val="solid"/>
          </a:ln>
        </p:spPr>
      </p:sp>
      <p:pic>
        <p:nvPicPr>
          <p:cNvPr id="31" name="Image 1" descr="TriangleAler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58368" y="5650992"/>
            <a:ext cx="347472" cy="347472"/>
          </a:xfrm>
          <a:prstGeom prst="rect">
            <a:avLst/>
          </a:prstGeom>
        </p:spPr>
      </p:pic>
      <p:sp>
        <p:nvSpPr>
          <p:cNvPr id="32" name="Text 28"/>
          <p:cNvSpPr txBox="1"/>
          <p:nvPr/>
        </p:nvSpPr>
        <p:spPr>
          <a:xfrm>
            <a:off x="1143000" y="5468112"/>
            <a:ext cx="6492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Успешный тест не дает автоматической лицензии или права продолжать деятельность.</a:t>
            </a:r>
            <a:r>
              <a:rPr lang="en-US" sz="1000" dirty="0">
                <a:solidFill>
                  <a:schemeClr val="tx1"/>
                </a:solidFill>
              </a:rPr>
              <a:t> Австралия (ASIC): 1 лицензия на 16 выходов, 12 компаний закрылись (S).</a:t>
            </a:r>
            <a:endParaRPr lang="en-US" sz="1000" dirty="0"/>
          </a:p>
        </p:txBody>
      </p:sp>
      <p:sp>
        <p:nvSpPr>
          <p:cNvPr id="33" name="Text 29"/>
          <p:cNvSpPr txBox="1"/>
          <p:nvPr/>
        </p:nvSpPr>
        <p:spPr>
          <a:xfrm>
            <a:off x="8001000" y="1810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ДОБАВЛЯЕМ ИЗ ОТЧЕТА</a:t>
            </a:r>
            <a:endParaRPr lang="en-US" sz="950" dirty="0"/>
          </a:p>
        </p:txBody>
      </p:sp>
      <p:sp>
        <p:nvSpPr>
          <p:cNvPr id="34" name="Shape 30"/>
          <p:cNvSpPr/>
          <p:nvPr/>
        </p:nvSpPr>
        <p:spPr>
          <a:xfrm>
            <a:off x="8001000" y="2103120"/>
            <a:ext cx="3685032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</p:sp>
      <p:sp>
        <p:nvSpPr>
          <p:cNvPr id="35" name="Text 31"/>
          <p:cNvSpPr txBox="1"/>
          <p:nvPr/>
        </p:nvSpPr>
        <p:spPr>
          <a:xfrm>
            <a:off x="8156448" y="2176272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Отчет о выходе</a:t>
            </a:r>
            <a:endParaRPr lang="en-US" sz="1050" dirty="0"/>
          </a:p>
        </p:txBody>
      </p:sp>
      <p:sp>
        <p:nvSpPr>
          <p:cNvPr id="36" name="Text 32"/>
          <p:cNvSpPr txBox="1"/>
          <p:nvPr/>
        </p:nvSpPr>
        <p:spPr>
          <a:xfrm>
            <a:off x="8156448" y="2450592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Комитет фиксирует: что тестировалось, на каких условиях, какие доказательства получены, какой вариант выхода</a:t>
            </a:r>
            <a:endParaRPr lang="en-US" sz="950" dirty="0"/>
          </a:p>
        </p:txBody>
      </p:sp>
      <p:sp>
        <p:nvSpPr>
          <p:cNvPr id="37" name="Shape 33"/>
          <p:cNvSpPr/>
          <p:nvPr/>
        </p:nvSpPr>
        <p:spPr>
          <a:xfrm>
            <a:off x="8001000" y="3127248"/>
            <a:ext cx="3685032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</p:sp>
      <p:sp>
        <p:nvSpPr>
          <p:cNvPr id="38" name="Text 34"/>
          <p:cNvSpPr txBox="1"/>
          <p:nvPr/>
        </p:nvSpPr>
        <p:spPr>
          <a:xfrm>
            <a:off x="8156448" y="3200400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Отчет о регуляторных выводах</a:t>
            </a:r>
            <a:endParaRPr lang="en-US" sz="1050" dirty="0"/>
          </a:p>
        </p:txBody>
      </p:sp>
      <p:sp>
        <p:nvSpPr>
          <p:cNvPr id="39" name="Text 35"/>
          <p:cNvSpPr txBox="1"/>
          <p:nvPr/>
        </p:nvSpPr>
        <p:spPr>
          <a:xfrm>
            <a:off x="8156448" y="3474720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В течение 60 календарных дней после когорты (для когорты 1 — ≈ М14); утверждает Совет</a:t>
            </a:r>
            <a:endParaRPr lang="en-US" sz="950" dirty="0"/>
          </a:p>
        </p:txBody>
      </p:sp>
      <p:sp>
        <p:nvSpPr>
          <p:cNvPr id="40" name="Shape 36"/>
          <p:cNvSpPr/>
          <p:nvPr/>
        </p:nvSpPr>
        <p:spPr>
          <a:xfrm>
            <a:off x="8001000" y="4151376"/>
            <a:ext cx="3685032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</p:sp>
      <p:sp>
        <p:nvSpPr>
          <p:cNvPr id="41" name="Text 37"/>
          <p:cNvSpPr txBox="1"/>
          <p:nvPr/>
        </p:nvSpPr>
        <p:spPr>
          <a:xfrm>
            <a:off x="8156448" y="4224528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Отслеживание итогов</a:t>
            </a:r>
            <a:endParaRPr lang="en-US" sz="1050" dirty="0"/>
          </a:p>
        </p:txBody>
      </p:sp>
      <p:sp>
        <p:nvSpPr>
          <p:cNvPr id="42" name="Text 38"/>
          <p:cNvSpPr txBox="1"/>
          <p:nvPr/>
        </p:nvSpPr>
        <p:spPr>
          <a:xfrm>
            <a:off x="8156448" y="4498848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Финансирование, лицензия, выживаемость — через 12 и 24 месяца после допуска</a:t>
            </a:r>
            <a:endParaRPr lang="en-US" sz="950" dirty="0"/>
          </a:p>
        </p:txBody>
      </p:sp>
      <p:sp>
        <p:nvSpPr>
          <p:cNvPr id="43" name="Shape 39"/>
          <p:cNvSpPr/>
          <p:nvPr/>
        </p:nvSpPr>
        <p:spPr>
          <a:xfrm>
            <a:off x="8001000" y="5175504"/>
            <a:ext cx="3685032" cy="932688"/>
          </a:xfrm>
          <a:prstGeom prst="roundRect">
            <a:avLst>
              <a:gd name="adj" fmla="val 7843"/>
            </a:avLst>
          </a:prstGeom>
          <a:solidFill>
            <a:schemeClr val="bg2"/>
          </a:solidFill>
          <a:ln/>
        </p:spPr>
      </p:sp>
      <p:sp>
        <p:nvSpPr>
          <p:cNvPr id="44" name="Text 40"/>
          <p:cNvSpPr txBox="1"/>
          <p:nvPr/>
        </p:nvSpPr>
        <p:spPr>
          <a:xfrm>
            <a:off x="8156448" y="5248656"/>
            <a:ext cx="3383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accent5"/>
                </a:solidFill>
              </a:rPr>
              <a:t>Пересмотр и апелляция</a:t>
            </a:r>
            <a:endParaRPr lang="en-US" sz="1050" dirty="0"/>
          </a:p>
        </p:txBody>
      </p:sp>
      <p:sp>
        <p:nvSpPr>
          <p:cNvPr id="45" name="Text 41"/>
          <p:cNvSpPr txBox="1"/>
          <p:nvPr/>
        </p:nvSpPr>
        <p:spPr>
          <a:xfrm>
            <a:off x="8156448" y="5522976"/>
            <a:ext cx="33832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Отказ, условия, приостановление, прекращение, продление, вариант выхода — коллегия Совета из трех членов</a:t>
            </a:r>
            <a:endParaRPr lang="en-US" sz="950" dirty="0"/>
          </a:p>
        </p:txBody>
      </p:sp>
      <p:sp>
        <p:nvSpPr>
          <p:cNvPr id="46" name="source"/>
          <p:cNvSpPr txBox="1"/>
          <p:nvPr/>
        </p:nvSpPr>
        <p:spPr>
          <a:xfrm>
            <a:off x="502920" y="6400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Модель МЦЦТ; раздел 5.5 и Иллюстрация 12 отчета; [S24] ASIC. * Ст. 43 — по материалам МЦЦТ.</a:t>
            </a:r>
            <a:endParaRPr lang="en-US" sz="800" dirty="0"/>
          </a:p>
        </p:txBody>
      </p:sp>
      <p:sp>
        <p:nvSpPr>
          <p:cNvPr id="47" name="Text 43"/>
          <p:cNvSpPr txBox="1"/>
          <p:nvPr/>
        </p:nvSpPr>
        <p:spPr>
          <a:xfrm>
            <a:off x="6286210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48" name="go:nav">
            <a:hlinkClick r:id="rId3" tooltip="Раздел: Меню" action="ppaction://hlinksldjump"/>
          </p:cNvPr>
          <p:cNvSpPr/>
          <p:nvPr/>
        </p:nvSpPr>
        <p:spPr>
          <a:xfrm>
            <a:off x="6286210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9" name="Text 45"/>
          <p:cNvSpPr txBox="1"/>
          <p:nvPr/>
        </p:nvSpPr>
        <p:spPr>
          <a:xfrm>
            <a:off x="6816943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50" name="go:key5">
            <a:hlinkClick r:id="rId4" tooltip="Раздел: Главное" action="ppaction://hlinksldjump"/>
          </p:cNvPr>
          <p:cNvSpPr/>
          <p:nvPr/>
        </p:nvSpPr>
        <p:spPr>
          <a:xfrm>
            <a:off x="6816943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1" name="Text 47"/>
          <p:cNvSpPr txBox="1"/>
          <p:nvPr/>
        </p:nvSpPr>
        <p:spPr>
          <a:xfrm>
            <a:off x="7511760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52" name="go:numbers">
            <a:hlinkClick r:id="rId5" tooltip="Раздел: Мир" action="ppaction://hlinksldjump"/>
          </p:cNvPr>
          <p:cNvSpPr/>
          <p:nvPr/>
        </p:nvSpPr>
        <p:spPr>
          <a:xfrm>
            <a:off x="7511760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3" name="Text 49"/>
          <p:cNvSpPr txBox="1"/>
          <p:nvPr/>
        </p:nvSpPr>
        <p:spPr>
          <a:xfrm>
            <a:off x="794597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Кейсы</a:t>
            </a:r>
            <a:endParaRPr lang="en-US" sz="950" dirty="0"/>
          </a:p>
        </p:txBody>
      </p:sp>
      <p:sp>
        <p:nvSpPr>
          <p:cNvPr id="54" name="go:casemap">
            <a:hlinkClick r:id="rId6" tooltip="Раздел: Кейсы" action="ppaction://hlinksldjump"/>
          </p:cNvPr>
          <p:cNvSpPr/>
          <p:nvPr/>
        </p:nvSpPr>
        <p:spPr>
          <a:xfrm>
            <a:off x="794597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5" name="Text 51"/>
          <p:cNvSpPr txBox="1"/>
          <p:nvPr/>
        </p:nvSpPr>
        <p:spPr>
          <a:xfrm>
            <a:off x="8541857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56" name="go:ecosystem">
            <a:hlinkClick r:id="rId7" tooltip="Раздел: Модель" action="ppaction://hlinksldjump"/>
          </p:cNvPr>
          <p:cNvSpPr/>
          <p:nvPr/>
        </p:nvSpPr>
        <p:spPr>
          <a:xfrm>
            <a:off x="8541857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7" name="Text 53"/>
          <p:cNvSpPr txBox="1"/>
          <p:nvPr/>
        </p:nvSpPr>
        <p:spPr>
          <a:xfrm>
            <a:off x="917152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58" name="go:path">
            <a:hlinkClick r:id="rId8" tooltip="Раздел: Этапы" action="ppaction://hlinksldjump"/>
          </p:cNvPr>
          <p:cNvSpPr/>
          <p:nvPr/>
        </p:nvSpPr>
        <p:spPr>
          <a:xfrm>
            <a:off x="917152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9" name="Shape 55"/>
          <p:cNvSpPr/>
          <p:nvPr/>
        </p:nvSpPr>
        <p:spPr>
          <a:xfrm>
            <a:off x="9767407" y="219456"/>
            <a:ext cx="760970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60" name="Text 56"/>
          <p:cNvSpPr txBox="1"/>
          <p:nvPr/>
        </p:nvSpPr>
        <p:spPr>
          <a:xfrm>
            <a:off x="9767407" y="219456"/>
            <a:ext cx="760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Защита</a:t>
            </a:r>
            <a:endParaRPr lang="en-US" sz="950" dirty="0"/>
          </a:p>
        </p:txBody>
      </p:sp>
      <p:sp>
        <p:nvSpPr>
          <p:cNvPr id="61" name="go:criteria">
            <a:hlinkClick r:id="rId9" tooltip="Раздел: Защита" action="ppaction://hlinksldjump"/>
          </p:cNvPr>
          <p:cNvSpPr/>
          <p:nvPr/>
        </p:nvSpPr>
        <p:spPr>
          <a:xfrm>
            <a:off x="9767407" y="219456"/>
            <a:ext cx="76097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2" name="Text 58"/>
          <p:cNvSpPr txBox="1"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63" name="go:pilots">
            <a:hlinkClick r:id="rId10" tooltip="Раздел: Пилоты" action="ppaction://hlinksldjump"/>
          </p:cNvPr>
          <p:cNvSpPr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4" name="Text 60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65" name="go:plan90">
            <a:hlinkClick r:id="rId11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29</a:t>
            </a:fld>
            <a:endParaRPr lang="en-US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Первый портфель: три пилота и один внутренний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Отобраны из десяти идей по пяти критериям; у каждого — ответственный, орган согласия и запасной вариант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10512"/>
            <a:ext cx="2679192" cy="3840480"/>
          </a:xfrm>
          <a:prstGeom prst="roundRect">
            <a:avLst>
              <a:gd name="adj" fmla="val 3413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10512"/>
            <a:ext cx="2679192" cy="841248"/>
          </a:xfrm>
          <a:prstGeom prst="roundRect">
            <a:avLst>
              <a:gd name="adj" fmla="val 10870"/>
            </a:avLst>
          </a:prstGeom>
          <a:solidFill>
            <a:schemeClr val="accent3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67512" y="1883664"/>
            <a:ext cx="640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P1</a:t>
            </a:r>
            <a:endParaRPr lang="en-US" sz="2400" dirty="0"/>
          </a:p>
        </p:txBody>
      </p:sp>
      <p:sp>
        <p:nvSpPr>
          <p:cNvPr id="7" name="Text 5"/>
          <p:cNvSpPr txBox="1"/>
          <p:nvPr/>
        </p:nvSpPr>
        <p:spPr>
          <a:xfrm>
            <a:off x="1280160" y="1883664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Доверие к ИИ-агентам, совершающим транзакции</a:t>
            </a:r>
            <a:endParaRPr lang="en-US" sz="1050" dirty="0"/>
          </a:p>
        </p:txBody>
      </p:sp>
      <p:sp>
        <p:nvSpPr>
          <p:cNvPr id="8" name="Text 6"/>
          <p:cNvSpPr txBox="1"/>
          <p:nvPr/>
        </p:nvSpPr>
        <p:spPr>
          <a:xfrm>
            <a:off x="667512" y="276148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chemeClr val="tx2"/>
                </a:solidFill>
              </a:rPr>
              <a:t>БАРЬЕР</a:t>
            </a:r>
            <a:endParaRPr lang="en-US" sz="750" dirty="0"/>
          </a:p>
        </p:txBody>
      </p:sp>
      <p:sp>
        <p:nvSpPr>
          <p:cNvPr id="9" name="Text 7"/>
          <p:cNvSpPr txBox="1"/>
          <p:nvPr/>
        </p:nvSpPr>
        <p:spPr>
          <a:xfrm>
            <a:off x="667512" y="2944368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Нет позиции об отнесении действий ИИ-агента к принципалу</a:t>
            </a:r>
            <a:endParaRPr lang="en-US" sz="900" dirty="0"/>
          </a:p>
        </p:txBody>
      </p:sp>
      <p:sp>
        <p:nvSpPr>
          <p:cNvPr id="10" name="Text 8"/>
          <p:cNvSpPr txBox="1"/>
          <p:nvPr/>
        </p:nvSpPr>
        <p:spPr>
          <a:xfrm>
            <a:off x="667512" y="3328416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chemeClr val="tx2"/>
                </a:solidFill>
              </a:rPr>
              <a:t>ТЕСТ</a:t>
            </a:r>
            <a:endParaRPr lang="en-US" sz="750" dirty="0"/>
          </a:p>
        </p:txBody>
      </p:sp>
      <p:sp>
        <p:nvSpPr>
          <p:cNvPr id="11" name="Text 9"/>
          <p:cNvSpPr txBox="1"/>
          <p:nvPr/>
        </p:nvSpPr>
        <p:spPr>
          <a:xfrm>
            <a:off x="667512" y="3511296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Синтетические данные — М6–М8; реальные условия — М8–М12</a:t>
            </a:r>
            <a:endParaRPr lang="en-US" sz="900" dirty="0"/>
          </a:p>
        </p:txBody>
      </p:sp>
      <p:sp>
        <p:nvSpPr>
          <p:cNvPr id="12" name="Text 10"/>
          <p:cNvSpPr txBox="1"/>
          <p:nvPr/>
        </p:nvSpPr>
        <p:spPr>
          <a:xfrm>
            <a:off x="667512" y="3895344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chemeClr val="tx2"/>
                </a:solidFill>
              </a:rPr>
              <a:t>ПЕРВЫЙ РЕЗУЛЬТАТ</a:t>
            </a:r>
            <a:endParaRPr lang="en-US" sz="750" dirty="0"/>
          </a:p>
        </p:txBody>
      </p:sp>
      <p:sp>
        <p:nvSpPr>
          <p:cNvPr id="13" name="Text 11"/>
          <p:cNvSpPr txBox="1"/>
          <p:nvPr/>
        </p:nvSpPr>
        <p:spPr>
          <a:xfrm>
            <a:off x="667512" y="4078224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Итоги «красной команды» и журналирования атрибуции (М8)</a:t>
            </a:r>
            <a:endParaRPr lang="en-US" sz="900" dirty="0"/>
          </a:p>
        </p:txBody>
      </p:sp>
      <p:sp>
        <p:nvSpPr>
          <p:cNvPr id="14" name="Text 12"/>
          <p:cNvSpPr txBox="1"/>
          <p:nvPr/>
        </p:nvSpPr>
        <p:spPr>
          <a:xfrm>
            <a:off x="667512" y="4462272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chemeClr val="tx2"/>
                </a:solidFill>
              </a:rPr>
              <a:t>СОГЛАСИЕ</a:t>
            </a:r>
            <a:endParaRPr lang="en-US" sz="750" dirty="0"/>
          </a:p>
        </p:txBody>
      </p:sp>
      <p:sp>
        <p:nvSpPr>
          <p:cNvPr id="15" name="Text 13"/>
          <p:cNvSpPr txBox="1"/>
          <p:nvPr/>
        </p:nvSpPr>
        <p:spPr>
          <a:xfrm>
            <a:off x="667512" y="4645152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Для этапа в реальных условиях — если этого потребуют юристы</a:t>
            </a:r>
            <a:endParaRPr lang="en-US" sz="900" dirty="0"/>
          </a:p>
        </p:txBody>
      </p:sp>
      <p:sp>
        <p:nvSpPr>
          <p:cNvPr id="16" name="Text 14"/>
          <p:cNvSpPr txBox="1"/>
          <p:nvPr/>
        </p:nvSpPr>
        <p:spPr>
          <a:xfrm>
            <a:off x="667512" y="502920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chemeClr val="accent4"/>
                </a:solidFill>
              </a:rPr>
              <a:t>ЗАПАСНОЙ ВАРИАНТ</a:t>
            </a:r>
            <a:endParaRPr lang="en-US" sz="750" dirty="0"/>
          </a:p>
        </p:txBody>
      </p:sp>
      <p:sp>
        <p:nvSpPr>
          <p:cNvPr id="17" name="Text 15"/>
          <p:cNvSpPr txBox="1"/>
          <p:nvPr/>
        </p:nvSpPr>
        <p:spPr>
          <a:xfrm>
            <a:off x="667512" y="521208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Только этап на синтетических данных; разъяснения, а не правило</a:t>
            </a:r>
            <a:endParaRPr lang="en-US" sz="900" dirty="0"/>
          </a:p>
        </p:txBody>
      </p:sp>
      <p:sp>
        <p:nvSpPr>
          <p:cNvPr id="18" name="Shape 16"/>
          <p:cNvSpPr/>
          <p:nvPr/>
        </p:nvSpPr>
        <p:spPr>
          <a:xfrm>
            <a:off x="3337560" y="1810512"/>
            <a:ext cx="2679192" cy="3840480"/>
          </a:xfrm>
          <a:prstGeom prst="roundRect">
            <a:avLst>
              <a:gd name="adj" fmla="val 3413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3337560" y="1810512"/>
            <a:ext cx="2679192" cy="841248"/>
          </a:xfrm>
          <a:prstGeom prst="roundRect">
            <a:avLst>
              <a:gd name="adj" fmla="val 10870"/>
            </a:avLst>
          </a:prstGeom>
          <a:solidFill>
            <a:schemeClr val="accent2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3502152" y="1883664"/>
            <a:ext cx="640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P2</a:t>
            </a:r>
            <a:endParaRPr lang="en-US" sz="2400" dirty="0"/>
          </a:p>
        </p:txBody>
      </p:sp>
      <p:sp>
        <p:nvSpPr>
          <p:cNvPr id="21" name="Text 19"/>
          <p:cNvSpPr txBox="1"/>
          <p:nvPr/>
        </p:nvSpPr>
        <p:spPr>
          <a:xfrm>
            <a:off x="4114800" y="1883664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Электронные торговые документы с проверкой на основе ИИ</a:t>
            </a:r>
            <a:endParaRPr lang="en-US" sz="1050" dirty="0"/>
          </a:p>
        </p:txBody>
      </p:sp>
      <p:sp>
        <p:nvSpPr>
          <p:cNvPr id="22" name="Text 20"/>
          <p:cNvSpPr txBox="1"/>
          <p:nvPr/>
        </p:nvSpPr>
        <p:spPr>
          <a:xfrm>
            <a:off x="3502152" y="276148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chemeClr val="tx2"/>
                </a:solidFill>
              </a:rPr>
              <a:t>БАРЬЕР</a:t>
            </a:r>
            <a:endParaRPr lang="en-US" sz="750" dirty="0"/>
          </a:p>
        </p:txBody>
      </p:sp>
      <p:sp>
        <p:nvSpPr>
          <p:cNvPr id="23" name="Text 21"/>
          <p:cNvSpPr txBox="1"/>
          <p:nvPr/>
        </p:nvSpPr>
        <p:spPr>
          <a:xfrm>
            <a:off x="3502152" y="2944368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Признание электронных передаваемых записей (MLETR) не установлено</a:t>
            </a:r>
            <a:endParaRPr lang="en-US" sz="900" dirty="0"/>
          </a:p>
        </p:txBody>
      </p:sp>
      <p:sp>
        <p:nvSpPr>
          <p:cNvPr id="24" name="Text 22"/>
          <p:cNvSpPr txBox="1"/>
          <p:nvPr/>
        </p:nvSpPr>
        <p:spPr>
          <a:xfrm>
            <a:off x="3502152" y="3328416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chemeClr val="tx2"/>
                </a:solidFill>
              </a:rPr>
              <a:t>ТЕСТ</a:t>
            </a:r>
            <a:endParaRPr lang="en-US" sz="750" dirty="0"/>
          </a:p>
        </p:txBody>
      </p:sp>
      <p:sp>
        <p:nvSpPr>
          <p:cNvPr id="25" name="Text 23"/>
          <p:cNvSpPr txBox="1"/>
          <p:nvPr/>
        </p:nvSpPr>
        <p:spPr>
          <a:xfrm>
            <a:off x="3502152" y="3511296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Этап A — М3–М6; B — М6–М12; C — М8–М12 при успехе A</a:t>
            </a:r>
            <a:endParaRPr lang="en-US" sz="900" dirty="0"/>
          </a:p>
        </p:txBody>
      </p:sp>
      <p:sp>
        <p:nvSpPr>
          <p:cNvPr id="26" name="Text 24"/>
          <p:cNvSpPr txBox="1"/>
          <p:nvPr/>
        </p:nvSpPr>
        <p:spPr>
          <a:xfrm>
            <a:off x="3502152" y="3895344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chemeClr val="tx2"/>
                </a:solidFill>
              </a:rPr>
              <a:t>ПЕРВЫЙ РЕЗУЛЬТАТ</a:t>
            </a:r>
            <a:endParaRPr lang="en-US" sz="750" dirty="0"/>
          </a:p>
        </p:txBody>
      </p:sp>
      <p:sp>
        <p:nvSpPr>
          <p:cNvPr id="27" name="Text 25"/>
          <p:cNvSpPr txBox="1"/>
          <p:nvPr/>
        </p:nvSpPr>
        <p:spPr>
          <a:xfrm>
            <a:off x="3502152" y="4078224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Доля ошибок проверки ИИ в сравнении с ручной (этап B)</a:t>
            </a:r>
            <a:endParaRPr lang="en-US" sz="900" dirty="0"/>
          </a:p>
        </p:txBody>
      </p:sp>
      <p:sp>
        <p:nvSpPr>
          <p:cNvPr id="28" name="Text 26"/>
          <p:cNvSpPr txBox="1"/>
          <p:nvPr/>
        </p:nvSpPr>
        <p:spPr>
          <a:xfrm>
            <a:off x="3502152" y="4462272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chemeClr val="tx2"/>
                </a:solidFill>
              </a:rPr>
              <a:t>СОГЛАСИЕ</a:t>
            </a:r>
            <a:endParaRPr lang="en-US" sz="750" dirty="0"/>
          </a:p>
        </p:txBody>
      </p:sp>
      <p:sp>
        <p:nvSpPr>
          <p:cNvPr id="29" name="Text 27"/>
          <p:cNvSpPr txBox="1"/>
          <p:nvPr/>
        </p:nvSpPr>
        <p:spPr>
          <a:xfrm>
            <a:off x="3502152" y="4645152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Ведущий орган, в процедуре которого принимается документ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3502152" y="502920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chemeClr val="accent4"/>
                </a:solidFill>
              </a:rPr>
              <a:t>ЗАПАСНОЙ ВАРИАНТ</a:t>
            </a:r>
            <a:endParaRPr lang="en-US" sz="750" dirty="0"/>
          </a:p>
        </p:txBody>
      </p:sp>
      <p:sp>
        <p:nvSpPr>
          <p:cNvPr id="31" name="Text 29"/>
          <p:cNvSpPr txBox="1"/>
          <p:nvPr/>
        </p:nvSpPr>
        <p:spPr>
          <a:xfrm>
            <a:off x="3502152" y="521208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Только проверка ИИ (этап B) и записка о правовом пробеле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6172200" y="1810512"/>
            <a:ext cx="2679192" cy="3840480"/>
          </a:xfrm>
          <a:prstGeom prst="roundRect">
            <a:avLst>
              <a:gd name="adj" fmla="val 3413"/>
            </a:avLst>
          </a:prstGeom>
          <a:solidFill>
            <a:schemeClr val="bg2"/>
          </a:solidFill>
          <a:ln/>
        </p:spPr>
      </p:sp>
      <p:sp>
        <p:nvSpPr>
          <p:cNvPr id="33" name="Shape 31"/>
          <p:cNvSpPr/>
          <p:nvPr/>
        </p:nvSpPr>
        <p:spPr>
          <a:xfrm>
            <a:off x="6172200" y="1810512"/>
            <a:ext cx="2679192" cy="841248"/>
          </a:xfrm>
          <a:prstGeom prst="roundRect">
            <a:avLst>
              <a:gd name="adj" fmla="val 10870"/>
            </a:avLst>
          </a:prstGeom>
          <a:solidFill>
            <a:schemeClr val="accent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6336792" y="1883664"/>
            <a:ext cx="640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P3</a:t>
            </a:r>
            <a:endParaRPr lang="en-US" sz="2400" dirty="0"/>
          </a:p>
        </p:txBody>
      </p:sp>
      <p:sp>
        <p:nvSpPr>
          <p:cNvPr id="35" name="Text 33"/>
          <p:cNvSpPr txBox="1"/>
          <p:nvPr/>
        </p:nvSpPr>
        <p:spPr>
          <a:xfrm>
            <a:off x="6949440" y="1883664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Обмен данными с сохранением конфиденциальности</a:t>
            </a:r>
            <a:endParaRPr lang="en-US" sz="1050" dirty="0"/>
          </a:p>
        </p:txBody>
      </p:sp>
      <p:sp>
        <p:nvSpPr>
          <p:cNvPr id="36" name="Text 34"/>
          <p:cNvSpPr txBox="1"/>
          <p:nvPr/>
        </p:nvSpPr>
        <p:spPr>
          <a:xfrm>
            <a:off x="6336792" y="276148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chemeClr val="tx2"/>
                </a:solidFill>
              </a:rPr>
              <a:t>БАРЬЕР</a:t>
            </a:r>
            <a:endParaRPr lang="en-US" sz="750" dirty="0"/>
          </a:p>
        </p:txBody>
      </p:sp>
      <p:sp>
        <p:nvSpPr>
          <p:cNvPr id="37" name="Text 35"/>
          <p:cNvSpPr txBox="1"/>
          <p:nvPr/>
        </p:nvSpPr>
        <p:spPr>
          <a:xfrm>
            <a:off x="6336792" y="2944368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Вторичное использование и передача данных; нет критериев обезличивания</a:t>
            </a:r>
            <a:endParaRPr lang="en-US" sz="900" dirty="0"/>
          </a:p>
        </p:txBody>
      </p:sp>
      <p:sp>
        <p:nvSpPr>
          <p:cNvPr id="38" name="Text 36"/>
          <p:cNvSpPr txBox="1"/>
          <p:nvPr/>
        </p:nvSpPr>
        <p:spPr>
          <a:xfrm>
            <a:off x="6336792" y="3328416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chemeClr val="tx2"/>
                </a:solidFill>
              </a:rPr>
              <a:t>ТЕСТ</a:t>
            </a:r>
            <a:endParaRPr lang="en-US" sz="750" dirty="0"/>
          </a:p>
        </p:txBody>
      </p:sp>
      <p:sp>
        <p:nvSpPr>
          <p:cNvPr id="39" name="Text 37"/>
          <p:cNvSpPr txBox="1"/>
          <p:nvPr/>
        </p:nvSpPr>
        <p:spPr>
          <a:xfrm>
            <a:off x="6336792" y="3511296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Проектирование — М3–М6; тест — М6–М12</a:t>
            </a:r>
            <a:endParaRPr lang="en-US" sz="900" dirty="0"/>
          </a:p>
        </p:txBody>
      </p:sp>
      <p:sp>
        <p:nvSpPr>
          <p:cNvPr id="40" name="Text 38"/>
          <p:cNvSpPr txBox="1"/>
          <p:nvPr/>
        </p:nvSpPr>
        <p:spPr>
          <a:xfrm>
            <a:off x="6336792" y="3895344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chemeClr val="tx2"/>
                </a:solidFill>
              </a:rPr>
              <a:t>ПЕРВЫЙ РЕЗУЛЬТАТ</a:t>
            </a:r>
            <a:endParaRPr lang="en-US" sz="750" dirty="0"/>
          </a:p>
        </p:txBody>
      </p:sp>
      <p:sp>
        <p:nvSpPr>
          <p:cNvPr id="41" name="Text 39"/>
          <p:cNvSpPr txBox="1"/>
          <p:nvPr/>
        </p:nvSpPr>
        <p:spPr>
          <a:xfrm>
            <a:off x="6336792" y="4078224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Тест на повторную идентификацию; полезность против базового значения</a:t>
            </a:r>
            <a:endParaRPr lang="en-US" sz="900" dirty="0"/>
          </a:p>
        </p:txBody>
      </p:sp>
      <p:sp>
        <p:nvSpPr>
          <p:cNvPr id="42" name="Text 40"/>
          <p:cNvSpPr txBox="1"/>
          <p:nvPr/>
        </p:nvSpPr>
        <p:spPr>
          <a:xfrm>
            <a:off x="6336792" y="4462272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chemeClr val="tx2"/>
                </a:solidFill>
              </a:rPr>
              <a:t>СОГЛАСИЕ</a:t>
            </a:r>
            <a:endParaRPr lang="en-US" sz="750" dirty="0"/>
          </a:p>
        </p:txBody>
      </p:sp>
      <p:sp>
        <p:nvSpPr>
          <p:cNvPr id="43" name="Text 41"/>
          <p:cNvSpPr txBox="1"/>
          <p:nvPr/>
        </p:nvSpPr>
        <p:spPr>
          <a:xfrm>
            <a:off x="6336792" y="4645152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Национальный орган по защите персональных данных</a:t>
            </a:r>
            <a:endParaRPr lang="en-US" sz="900" dirty="0"/>
          </a:p>
        </p:txBody>
      </p:sp>
      <p:sp>
        <p:nvSpPr>
          <p:cNvPr id="44" name="Text 42"/>
          <p:cNvSpPr txBox="1"/>
          <p:nvPr/>
        </p:nvSpPr>
        <p:spPr>
          <a:xfrm>
            <a:off x="6336792" y="502920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chemeClr val="accent4"/>
                </a:solidFill>
              </a:rPr>
              <a:t>ЗАПАСНОЙ ВАРИАНТ</a:t>
            </a:r>
            <a:endParaRPr lang="en-US" sz="750" dirty="0"/>
          </a:p>
        </p:txBody>
      </p:sp>
      <p:sp>
        <p:nvSpPr>
          <p:cNvPr id="45" name="Text 43"/>
          <p:cNvSpPr txBox="1"/>
          <p:nvPr/>
        </p:nvSpPr>
        <p:spPr>
          <a:xfrm>
            <a:off x="6336792" y="521208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Только синтетические данные</a:t>
            </a:r>
            <a:endParaRPr lang="en-US" sz="900" dirty="0"/>
          </a:p>
        </p:txBody>
      </p:sp>
      <p:sp>
        <p:nvSpPr>
          <p:cNvPr id="46" name="Shape 44"/>
          <p:cNvSpPr/>
          <p:nvPr/>
        </p:nvSpPr>
        <p:spPr>
          <a:xfrm>
            <a:off x="9006840" y="1810512"/>
            <a:ext cx="2679192" cy="3840480"/>
          </a:xfrm>
          <a:prstGeom prst="roundRect">
            <a:avLst>
              <a:gd name="adj" fmla="val 3413"/>
            </a:avLst>
          </a:prstGeom>
          <a:solidFill>
            <a:schemeClr val="bg2"/>
          </a:solidFill>
          <a:ln/>
        </p:spPr>
      </p:sp>
      <p:sp>
        <p:nvSpPr>
          <p:cNvPr id="47" name="Shape 45"/>
          <p:cNvSpPr/>
          <p:nvPr/>
        </p:nvSpPr>
        <p:spPr>
          <a:xfrm>
            <a:off x="9006840" y="1810512"/>
            <a:ext cx="2679192" cy="841248"/>
          </a:xfrm>
          <a:prstGeom prst="roundRect">
            <a:avLst>
              <a:gd name="adj" fmla="val 10870"/>
            </a:avLst>
          </a:prstGeom>
          <a:solidFill>
            <a:schemeClr val="accent5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9171432" y="1883664"/>
            <a:ext cx="640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400" b="1" dirty="0">
                <a:solidFill>
                  <a:schemeClr val="bg1"/>
                </a:solidFill>
              </a:rPr>
              <a:t>P4</a:t>
            </a:r>
            <a:endParaRPr lang="en-US" sz="2400" dirty="0"/>
          </a:p>
        </p:txBody>
      </p:sp>
      <p:sp>
        <p:nvSpPr>
          <p:cNvPr id="49" name="Text 47"/>
          <p:cNvSpPr txBox="1"/>
          <p:nvPr/>
        </p:nvSpPr>
        <p:spPr>
          <a:xfrm>
            <a:off x="9784080" y="1883664"/>
            <a:ext cx="178308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Проверка отчетности с помощью ИИ — внутренний пилот</a:t>
            </a:r>
            <a:endParaRPr lang="en-US" sz="1050" dirty="0"/>
          </a:p>
        </p:txBody>
      </p:sp>
      <p:sp>
        <p:nvSpPr>
          <p:cNvPr id="50" name="Text 48"/>
          <p:cNvSpPr txBox="1"/>
          <p:nvPr/>
        </p:nvSpPr>
        <p:spPr>
          <a:xfrm>
            <a:off x="9171432" y="2761488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chemeClr val="tx2"/>
                </a:solidFill>
              </a:rPr>
              <a:t>БАРЬЕР</a:t>
            </a:r>
            <a:endParaRPr lang="en-US" sz="750" dirty="0"/>
          </a:p>
        </p:txBody>
      </p:sp>
      <p:sp>
        <p:nvSpPr>
          <p:cNvPr id="51" name="Text 49"/>
          <p:cNvSpPr txBox="1"/>
          <p:nvPr/>
        </p:nvSpPr>
        <p:spPr>
          <a:xfrm>
            <a:off x="9171432" y="2944368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Внутренний: правила МЦЦТ об автоматизированных проверках</a:t>
            </a:r>
            <a:endParaRPr lang="en-US" sz="900" dirty="0"/>
          </a:p>
        </p:txBody>
      </p:sp>
      <p:sp>
        <p:nvSpPr>
          <p:cNvPr id="52" name="Text 50"/>
          <p:cNvSpPr txBox="1"/>
          <p:nvPr/>
        </p:nvSpPr>
        <p:spPr>
          <a:xfrm>
            <a:off x="9171432" y="3328416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chemeClr val="tx2"/>
                </a:solidFill>
              </a:rPr>
              <a:t>ТЕСТ</a:t>
            </a:r>
            <a:endParaRPr lang="en-US" sz="750" dirty="0"/>
          </a:p>
        </p:txBody>
      </p:sp>
      <p:sp>
        <p:nvSpPr>
          <p:cNvPr id="53" name="Text 51"/>
          <p:cNvSpPr txBox="1"/>
          <p:nvPr/>
        </p:nvSpPr>
        <p:spPr>
          <a:xfrm>
            <a:off x="9171432" y="3511296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Проектирование — М3–М5; тест — М6–М11</a:t>
            </a:r>
            <a:endParaRPr lang="en-US" sz="900" dirty="0"/>
          </a:p>
        </p:txBody>
      </p:sp>
      <p:sp>
        <p:nvSpPr>
          <p:cNvPr id="54" name="Text 52"/>
          <p:cNvSpPr txBox="1"/>
          <p:nvPr/>
        </p:nvSpPr>
        <p:spPr>
          <a:xfrm>
            <a:off x="9171432" y="3895344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chemeClr val="tx2"/>
                </a:solidFill>
              </a:rPr>
              <a:t>ПЕРВЫЙ РЕЗУЛЬТАТ</a:t>
            </a:r>
            <a:endParaRPr lang="en-US" sz="750" dirty="0"/>
          </a:p>
        </p:txBody>
      </p:sp>
      <p:sp>
        <p:nvSpPr>
          <p:cNvPr id="55" name="Text 53"/>
          <p:cNvSpPr txBox="1"/>
          <p:nvPr/>
        </p:nvSpPr>
        <p:spPr>
          <a:xfrm>
            <a:off x="9171432" y="4078224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Время проверки отчета; доля ложных срабатываний и пропусков</a:t>
            </a:r>
            <a:endParaRPr lang="en-US" sz="900" dirty="0"/>
          </a:p>
        </p:txBody>
      </p:sp>
      <p:sp>
        <p:nvSpPr>
          <p:cNvPr id="56" name="Text 54"/>
          <p:cNvSpPr txBox="1"/>
          <p:nvPr/>
        </p:nvSpPr>
        <p:spPr>
          <a:xfrm>
            <a:off x="9171432" y="4462272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chemeClr val="tx2"/>
                </a:solidFill>
              </a:rPr>
              <a:t>СОГЛАСИЕ</a:t>
            </a:r>
            <a:endParaRPr lang="en-US" sz="750" dirty="0"/>
          </a:p>
        </p:txBody>
      </p:sp>
      <p:sp>
        <p:nvSpPr>
          <p:cNvPr id="57" name="Text 55"/>
          <p:cNvSpPr txBox="1"/>
          <p:nvPr/>
        </p:nvSpPr>
        <p:spPr>
          <a:xfrm>
            <a:off x="9171432" y="4645152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Не требуется: внутренний пилот без допуска Комитетом</a:t>
            </a:r>
            <a:endParaRPr lang="en-US" sz="900" dirty="0"/>
          </a:p>
        </p:txBody>
      </p:sp>
      <p:sp>
        <p:nvSpPr>
          <p:cNvPr id="58" name="Text 56"/>
          <p:cNvSpPr txBox="1"/>
          <p:nvPr/>
        </p:nvSpPr>
        <p:spPr>
          <a:xfrm>
            <a:off x="9171432" y="5029200"/>
            <a:ext cx="23500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750" b="1" spc="50" kern="0" dirty="0">
                <a:solidFill>
                  <a:schemeClr val="accent4"/>
                </a:solidFill>
              </a:rPr>
              <a:t>ЗАПАСНОЙ ВАРИАНТ</a:t>
            </a:r>
            <a:endParaRPr lang="en-US" sz="750" dirty="0"/>
          </a:p>
        </p:txBody>
      </p:sp>
      <p:sp>
        <p:nvSpPr>
          <p:cNvPr id="59" name="Text 57"/>
          <p:cNvSpPr txBox="1"/>
          <p:nvPr/>
        </p:nvSpPr>
        <p:spPr>
          <a:xfrm>
            <a:off x="9171432" y="5212080"/>
            <a:ext cx="23500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Тест на документах о регистрации участников</a:t>
            </a:r>
            <a:endParaRPr lang="en-US" sz="900" dirty="0"/>
          </a:p>
        </p:txBody>
      </p:sp>
      <p:sp>
        <p:nvSpPr>
          <p:cNvPr id="60" name="Shape 58"/>
          <p:cNvSpPr/>
          <p:nvPr/>
        </p:nvSpPr>
        <p:spPr>
          <a:xfrm>
            <a:off x="502920" y="5760720"/>
            <a:ext cx="11183112" cy="548640"/>
          </a:xfrm>
          <a:prstGeom prst="roundRect">
            <a:avLst>
              <a:gd name="adj" fmla="val 13333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640080" y="5760720"/>
            <a:ext cx="109270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Контрольная точка М6.</a:t>
            </a:r>
            <a:r>
              <a:rPr lang="en-US" sz="1000" dirty="0">
                <a:solidFill>
                  <a:schemeClr val="tx1"/>
                </a:solidFill>
              </a:rPr>
              <a:t> Самый ранний результат, вероятно, даст P4 — если обязанность отчетности вступит в силу к М5; у P2 — наибольший риск задержки (A).</a:t>
            </a:r>
            <a:endParaRPr lang="en-US" sz="1000" dirty="0"/>
          </a:p>
        </p:txBody>
      </p:sp>
      <p:sp>
        <p:nvSpPr>
          <p:cNvPr id="62" name="Text 60"/>
          <p:cNvSpPr txBox="1"/>
          <p:nvPr/>
        </p:nvSpPr>
        <p:spPr>
          <a:xfrm>
            <a:off x="6286210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63" name="go:nav">
            <a:hlinkClick r:id="rId1" tooltip="Раздел: Меню" action="ppaction://hlinksldjump"/>
          </p:cNvPr>
          <p:cNvSpPr/>
          <p:nvPr/>
        </p:nvSpPr>
        <p:spPr>
          <a:xfrm>
            <a:off x="6286210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6816943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65" name="go:key5">
            <a:hlinkClick r:id="rId2" tooltip="Раздел: Главное" action="ppaction://hlinksldjump"/>
          </p:cNvPr>
          <p:cNvSpPr/>
          <p:nvPr/>
        </p:nvSpPr>
        <p:spPr>
          <a:xfrm>
            <a:off x="6816943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7511760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67" name="go:numbers">
            <a:hlinkClick r:id="rId3" tooltip="Раздел: Мир" action="ppaction://hlinksldjump"/>
          </p:cNvPr>
          <p:cNvSpPr/>
          <p:nvPr/>
        </p:nvSpPr>
        <p:spPr>
          <a:xfrm>
            <a:off x="7511760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794597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Кейсы</a:t>
            </a:r>
            <a:endParaRPr lang="en-US" sz="950" dirty="0"/>
          </a:p>
        </p:txBody>
      </p:sp>
      <p:sp>
        <p:nvSpPr>
          <p:cNvPr id="69" name="go:casemap">
            <a:hlinkClick r:id="rId4" tooltip="Раздел: Кейсы" action="ppaction://hlinksldjump"/>
          </p:cNvPr>
          <p:cNvSpPr/>
          <p:nvPr/>
        </p:nvSpPr>
        <p:spPr>
          <a:xfrm>
            <a:off x="794597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8541857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71" name="go:ecosystem">
            <a:hlinkClick r:id="rId5" tooltip="Раздел: Модель" action="ppaction://hlinksldjump"/>
          </p:cNvPr>
          <p:cNvSpPr/>
          <p:nvPr/>
        </p:nvSpPr>
        <p:spPr>
          <a:xfrm>
            <a:off x="8541857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917152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73" name="go:path">
            <a:hlinkClick r:id="rId6" tooltip="Раздел: Этапы" action="ppaction://hlinksldjump"/>
          </p:cNvPr>
          <p:cNvSpPr/>
          <p:nvPr/>
        </p:nvSpPr>
        <p:spPr>
          <a:xfrm>
            <a:off x="917152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9767407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75" name="go:criteria">
            <a:hlinkClick r:id="rId7" tooltip="Раздел: Защита" action="ppaction://hlinksldjump"/>
          </p:cNvPr>
          <p:cNvSpPr/>
          <p:nvPr/>
        </p:nvSpPr>
        <p:spPr>
          <a:xfrm>
            <a:off x="9767407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6" name="Shape 74"/>
          <p:cNvSpPr/>
          <p:nvPr/>
        </p:nvSpPr>
        <p:spPr>
          <a:xfrm>
            <a:off x="10428442" y="219456"/>
            <a:ext cx="760970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77" name="Text 75"/>
          <p:cNvSpPr txBox="1"/>
          <p:nvPr/>
        </p:nvSpPr>
        <p:spPr>
          <a:xfrm>
            <a:off x="10428442" y="219456"/>
            <a:ext cx="760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Пилоты</a:t>
            </a:r>
            <a:endParaRPr lang="en-US" sz="950" dirty="0"/>
          </a:p>
        </p:txBody>
      </p:sp>
      <p:sp>
        <p:nvSpPr>
          <p:cNvPr id="78" name="go:pilots">
            <a:hlinkClick r:id="rId8" tooltip="Раздел: Пилоты" action="ppaction://hlinksldjump"/>
          </p:cNvPr>
          <p:cNvSpPr/>
          <p:nvPr/>
        </p:nvSpPr>
        <p:spPr>
          <a:xfrm>
            <a:off x="10428442" y="219456"/>
            <a:ext cx="76097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9" name="Text 77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80" name="go:plan90">
            <a:hlinkClick r:id="rId9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30</a:t>
            </a:fld>
            <a:endParaRPr lang="en-US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WEF: организатор диалога, а не владелец модели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Опыт WEF как организатора диалога задокументирован; опыт проектирования песочниц или управления ими — нет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10512"/>
            <a:ext cx="3566160" cy="3858768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9202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ЧТО WEF УЖЕ СДЕЛАЛ</a:t>
            </a:r>
            <a:endParaRPr lang="en-US" sz="950" dirty="0"/>
          </a:p>
        </p:txBody>
      </p:sp>
      <p:sp>
        <p:nvSpPr>
          <p:cNvPr id="6" name="Text 4"/>
          <p:cNvSpPr txBox="1"/>
          <p:nvPr/>
        </p:nvSpPr>
        <p:spPr>
          <a:xfrm>
            <a:off x="685800" y="2212848"/>
            <a:ext cx="3246120" cy="3383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chemeClr val="tx1"/>
                </a:solidFill>
              </a:rPr>
              <a:t>TradeTech (ОАЭ):</a:t>
            </a:r>
            <a:r>
              <a:rPr lang="en-US" sz="1000" dirty="0">
                <a:solidFill>
                  <a:schemeClr val="tx1"/>
                </a:solidFill>
              </a:rPr>
              <a:t> MoU — янв. 2024, доклад — окт. 2025; 8 стартапов (P)</a:t>
            </a:r>
            <a:endParaRPr lang="en-US" sz="100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chemeClr val="tx1"/>
                </a:solidFill>
              </a:rPr>
              <a:t>GRIP:</a:t>
            </a:r>
            <a:r>
              <a:rPr lang="en-US" sz="1000" dirty="0">
                <a:solidFill>
                  <a:schemeClr val="tx1"/>
                </a:solidFill>
              </a:rPr>
              <a:t> партнерство с ОАЭ (янв. 2025, запуск — июль 2025); три результата запланированы (T), опубликованных на окт. 2026 г. не найдено</a:t>
            </a:r>
            <a:endParaRPr lang="en-US" sz="100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chemeClr val="tx1"/>
                </a:solidFill>
              </a:rPr>
              <a:t>Дроны:</a:t>
            </a:r>
            <a:r>
              <a:rPr lang="en-US" sz="1000" dirty="0">
                <a:solidFill>
                  <a:schemeClr val="tx1"/>
                </a:solidFill>
              </a:rPr>
              <a:t> регулирование в Руанде (с 2017 г.), инструментарий для Индии (2019 г.) (P)</a:t>
            </a:r>
            <a:endParaRPr lang="en-US" sz="100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Регулятором или лицензирующим органом WEF не является</a:t>
            </a:r>
            <a:endParaRPr lang="en-US" sz="1000" dirty="0"/>
          </a:p>
        </p:txBody>
      </p:sp>
      <p:sp>
        <p:nvSpPr>
          <p:cNvPr id="7" name="Text 5"/>
          <p:cNvSpPr txBox="1"/>
          <p:nvPr/>
        </p:nvSpPr>
        <p:spPr>
          <a:xfrm>
            <a:off x="4251960" y="1810512"/>
            <a:ext cx="36576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ЧТО ЗАПРОСИТЬ: РЕЗУЛЬТАТЫ W1–W5</a:t>
            </a:r>
            <a:endParaRPr lang="en-US" sz="950" dirty="0"/>
          </a:p>
        </p:txBody>
      </p:sp>
      <p:sp>
        <p:nvSpPr>
          <p:cNvPr id="8" name="Shape 6"/>
          <p:cNvSpPr/>
          <p:nvPr/>
        </p:nvSpPr>
        <p:spPr>
          <a:xfrm>
            <a:off x="4251960" y="2103120"/>
            <a:ext cx="3566160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4361688" y="2304288"/>
            <a:ext cx="45720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4361688" y="2304288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W1</a:t>
            </a:r>
            <a:endParaRPr lang="en-US" sz="900" dirty="0"/>
          </a:p>
        </p:txBody>
      </p:sp>
      <p:sp>
        <p:nvSpPr>
          <p:cNvPr id="11" name="Text 9"/>
          <p:cNvSpPr txBox="1"/>
          <p:nvPr/>
        </p:nvSpPr>
        <p:spPr>
          <a:xfrm>
            <a:off x="4919472" y="2103120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Экспертная рецензия проекта Правил — не менее двух опытных операторов песочниц; День 75 — М4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251960" y="2825496"/>
            <a:ext cx="3566160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4361688" y="3026664"/>
            <a:ext cx="45720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4361688" y="3026664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W2</a:t>
            </a:r>
            <a:endParaRPr lang="en-US" sz="900" dirty="0"/>
          </a:p>
        </p:txBody>
      </p:sp>
      <p:sp>
        <p:nvSpPr>
          <p:cNvPr id="15" name="Text 13"/>
          <p:cNvSpPr txBox="1"/>
          <p:nvPr/>
        </p:nvSpPr>
        <p:spPr>
          <a:xfrm>
            <a:off x="4919472" y="2825496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Круглый стол с регуляторами минимум двух юрисдикций — М4–М6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4251960" y="3547872"/>
            <a:ext cx="3566160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4361688" y="3749040"/>
            <a:ext cx="45720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4361688" y="3749040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W3</a:t>
            </a:r>
            <a:endParaRPr lang="en-US" sz="900" dirty="0"/>
          </a:p>
        </p:txBody>
      </p:sp>
      <p:sp>
        <p:nvSpPr>
          <p:cNvPr id="19" name="Text 17"/>
          <p:cNvSpPr txBox="1"/>
          <p:nvPr/>
        </p:nvSpPr>
        <p:spPr>
          <a:xfrm>
            <a:off x="4919472" y="3547872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Рецензия проекта пилота P2 — факультативно, вне критического пути (М3–М5)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251960" y="4270248"/>
            <a:ext cx="3566160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61688" y="4471416"/>
            <a:ext cx="45720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4361688" y="4471416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W4</a:t>
            </a:r>
            <a:endParaRPr lang="en-US" sz="900" dirty="0"/>
          </a:p>
        </p:txBody>
      </p:sp>
      <p:sp>
        <p:nvSpPr>
          <p:cNvPr id="23" name="Text 21"/>
          <p:cNvSpPr txBox="1"/>
          <p:nvPr/>
        </p:nvSpPr>
        <p:spPr>
          <a:xfrm>
            <a:off x="4919472" y="4270248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Итоги TradeTech по каждому участнику — до W3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251960" y="4992624"/>
            <a:ext cx="3566160" cy="658368"/>
          </a:xfrm>
          <a:prstGeom prst="roundRect">
            <a:avLst>
              <a:gd name="adj" fmla="val 8333"/>
            </a:avLst>
          </a:prstGeom>
          <a:solidFill>
            <a:schemeClr val="bg1"/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4361688" y="5193792"/>
            <a:ext cx="457200" cy="256032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4361688" y="5193792"/>
            <a:ext cx="457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bg1"/>
                </a:solidFill>
              </a:rPr>
              <a:t>W5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4919472" y="4992624"/>
            <a:ext cx="283464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Доступ к материалам GRIP — по мере публикации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8001000" y="1810512"/>
            <a:ext cx="3685032" cy="3858768"/>
          </a:xfrm>
          <a:prstGeom prst="roundRect">
            <a:avLst>
              <a:gd name="adj" fmla="val 2481"/>
            </a:avLst>
          </a:prstGeom>
          <a:solidFill>
            <a:schemeClr val="accent5"/>
          </a:solidFill>
          <a:ln/>
        </p:spPr>
      </p:sp>
      <p:sp>
        <p:nvSpPr>
          <p:cNvPr id="29" name="Text 27"/>
          <p:cNvSpPr txBox="1"/>
          <p:nvPr/>
        </p:nvSpPr>
        <p:spPr>
          <a:xfrm>
            <a:off x="8183880" y="192024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6"/>
                </a:solidFill>
              </a:rPr>
              <a:t>УСЛОВИЯ ПРИВЛЕЧЕНИЯ (D8)</a:t>
            </a:r>
            <a:endParaRPr lang="en-US" sz="950" dirty="0"/>
          </a:p>
        </p:txBody>
      </p:sp>
      <p:sp>
        <p:nvSpPr>
          <p:cNvPr id="30" name="Text 28"/>
          <p:cNvSpPr txBox="1"/>
          <p:nvPr/>
        </p:nvSpPr>
        <p:spPr>
          <a:xfrm>
            <a:off x="818388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1</a:t>
            </a:r>
            <a:endParaRPr lang="en-US" sz="1100" dirty="0"/>
          </a:p>
        </p:txBody>
      </p:sp>
      <p:sp>
        <p:nvSpPr>
          <p:cNvPr id="31" name="Text 29"/>
          <p:cNvSpPr txBox="1"/>
          <p:nvPr/>
        </p:nvSpPr>
        <p:spPr>
          <a:xfrm>
            <a:off x="8485632" y="2240280"/>
            <a:ext cx="3090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Решения, правила, риски и отношения с регуляторами — за МЦЦТ; у WEF нет голоса и вето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8183880" y="279806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2</a:t>
            </a:r>
            <a:endParaRPr lang="en-US" sz="1100" dirty="0"/>
          </a:p>
        </p:txBody>
      </p:sp>
      <p:sp>
        <p:nvSpPr>
          <p:cNvPr id="33" name="Text 31"/>
          <p:cNvSpPr txBox="1"/>
          <p:nvPr/>
        </p:nvSpPr>
        <p:spPr>
          <a:xfrm>
            <a:off x="8485632" y="2798064"/>
            <a:ext cx="3090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Данные участников не передаются без их согласия и одобрения МЦЦТ</a:t>
            </a:r>
            <a:endParaRPr lang="en-US" sz="950" dirty="0"/>
          </a:p>
        </p:txBody>
      </p:sp>
      <p:sp>
        <p:nvSpPr>
          <p:cNvPr id="34" name="Text 32"/>
          <p:cNvSpPr txBox="1"/>
          <p:nvPr/>
        </p:nvSpPr>
        <p:spPr>
          <a:xfrm>
            <a:off x="8183880" y="335584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3</a:t>
            </a:r>
            <a:endParaRPr lang="en-US" sz="1100" dirty="0"/>
          </a:p>
        </p:txBody>
      </p:sp>
      <p:sp>
        <p:nvSpPr>
          <p:cNvPr id="35" name="Text 33"/>
          <p:cNvSpPr txBox="1"/>
          <p:nvPr/>
        </p:nvSpPr>
        <p:spPr>
          <a:xfrm>
            <a:off x="8485632" y="3355848"/>
            <a:ext cx="3090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МЦЦТ рассматривает публикации WEF до выхода; итоги — по каждому участнику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8183880" y="391363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4</a:t>
            </a:r>
            <a:endParaRPr lang="en-US" sz="1100" dirty="0"/>
          </a:p>
        </p:txBody>
      </p:sp>
      <p:sp>
        <p:nvSpPr>
          <p:cNvPr id="37" name="Text 35"/>
          <p:cNvSpPr txBox="1"/>
          <p:nvPr/>
        </p:nvSpPr>
        <p:spPr>
          <a:xfrm>
            <a:off x="8485632" y="3913632"/>
            <a:ext cx="3090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Неэксклюзивность: МЦЦТ работает с регуляторами и организациями напрямую</a:t>
            </a:r>
            <a:endParaRPr lang="en-US" sz="950" dirty="0"/>
          </a:p>
        </p:txBody>
      </p:sp>
      <p:sp>
        <p:nvSpPr>
          <p:cNvPr id="38" name="Text 36"/>
          <p:cNvSpPr txBox="1"/>
          <p:nvPr/>
        </p:nvSpPr>
        <p:spPr>
          <a:xfrm>
            <a:off x="8183880" y="44714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5</a:t>
            </a:r>
            <a:endParaRPr lang="en-US" sz="1100" dirty="0"/>
          </a:p>
        </p:txBody>
      </p:sp>
      <p:sp>
        <p:nvSpPr>
          <p:cNvPr id="39" name="Text 37"/>
          <p:cNvSpPr txBox="1"/>
          <p:nvPr/>
        </p:nvSpPr>
        <p:spPr>
          <a:xfrm>
            <a:off x="8485632" y="4471416"/>
            <a:ext cx="3090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Поставщики, представленные WEF, — в открытом тендере на общих основаниях</a:t>
            </a:r>
            <a:endParaRPr lang="en-US" sz="950" dirty="0"/>
          </a:p>
        </p:txBody>
      </p:sp>
      <p:sp>
        <p:nvSpPr>
          <p:cNvPr id="40" name="Text 38"/>
          <p:cNvSpPr txBox="1"/>
          <p:nvPr/>
        </p:nvSpPr>
        <p:spPr>
          <a:xfrm>
            <a:off x="8183880" y="502920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6"/>
                </a:solidFill>
              </a:rPr>
              <a:t>6</a:t>
            </a:r>
            <a:endParaRPr lang="en-US" sz="1100" dirty="0"/>
          </a:p>
        </p:txBody>
      </p:sp>
      <p:sp>
        <p:nvSpPr>
          <p:cNvPr id="41" name="Text 39"/>
          <p:cNvSpPr txBox="1"/>
          <p:nvPr/>
        </p:nvSpPr>
        <p:spPr>
          <a:xfrm>
            <a:off x="8485632" y="5029200"/>
            <a:ext cx="309067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dirty="0">
                <a:solidFill>
                  <a:schemeClr val="bg1"/>
                </a:solidFill>
              </a:rPr>
              <a:t>Оплата — за принятые результаты; модель оплаты — письменно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502920" y="5779008"/>
            <a:ext cx="11183112" cy="530352"/>
          </a:xfrm>
          <a:prstGeom prst="roundRect">
            <a:avLst>
              <a:gd name="adj" fmla="val 13793"/>
            </a:avLst>
          </a:prstGeom>
          <a:solidFill>
            <a:schemeClr val="accent1">
              <a:alpha val="10000"/>
            </a:schemeClr>
          </a:solidFill>
          <a:ln/>
        </p:spPr>
      </p:sp>
      <p:sp>
        <p:nvSpPr>
          <p:cNvPr id="43" name="Text 41"/>
          <p:cNvSpPr txBox="1"/>
          <p:nvPr/>
        </p:nvSpPr>
        <p:spPr>
          <a:xfrm>
            <a:off x="640080" y="5779008"/>
            <a:ext cx="1092708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tx1"/>
                </a:solidFill>
              </a:rPr>
              <a:t>Ни одна контрольная точка МЦЦТ не зависит от WEF:</a:t>
            </a:r>
            <a:r>
              <a:rPr lang="en-US" sz="1000" dirty="0">
                <a:solidFill>
                  <a:schemeClr val="tx1"/>
                </a:solidFill>
              </a:rPr>
              <a:t> если рецензия W3 не поступит к М5, пилот P2 продолжится без нее.</a:t>
            </a:r>
            <a:endParaRPr lang="en-US" sz="1000" dirty="0"/>
          </a:p>
        </p:txBody>
      </p:sp>
      <p:sp>
        <p:nvSpPr>
          <p:cNvPr id="44" name="Text 42"/>
          <p:cNvSpPr txBox="1"/>
          <p:nvPr/>
        </p:nvSpPr>
        <p:spPr>
          <a:xfrm>
            <a:off x="6286210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45" name="go:nav">
            <a:hlinkClick r:id="rId1" tooltip="Раздел: Меню" action="ppaction://hlinksldjump"/>
          </p:cNvPr>
          <p:cNvSpPr/>
          <p:nvPr/>
        </p:nvSpPr>
        <p:spPr>
          <a:xfrm>
            <a:off x="6286210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6816943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47" name="go:key5">
            <a:hlinkClick r:id="rId2" tooltip="Раздел: Главное" action="ppaction://hlinksldjump"/>
          </p:cNvPr>
          <p:cNvSpPr/>
          <p:nvPr/>
        </p:nvSpPr>
        <p:spPr>
          <a:xfrm>
            <a:off x="6816943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7511760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49" name="go:numbers">
            <a:hlinkClick r:id="rId3" tooltip="Раздел: Мир" action="ppaction://hlinksldjump"/>
          </p:cNvPr>
          <p:cNvSpPr/>
          <p:nvPr/>
        </p:nvSpPr>
        <p:spPr>
          <a:xfrm>
            <a:off x="7511760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794597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Кейсы</a:t>
            </a:r>
            <a:endParaRPr lang="en-US" sz="950" dirty="0"/>
          </a:p>
        </p:txBody>
      </p:sp>
      <p:sp>
        <p:nvSpPr>
          <p:cNvPr id="51" name="go:casemap">
            <a:hlinkClick r:id="rId4" tooltip="Раздел: Кейсы" action="ppaction://hlinksldjump"/>
          </p:cNvPr>
          <p:cNvSpPr/>
          <p:nvPr/>
        </p:nvSpPr>
        <p:spPr>
          <a:xfrm>
            <a:off x="794597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8541857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53" name="go:ecosystem">
            <a:hlinkClick r:id="rId5" tooltip="Раздел: Модель" action="ppaction://hlinksldjump"/>
          </p:cNvPr>
          <p:cNvSpPr/>
          <p:nvPr/>
        </p:nvSpPr>
        <p:spPr>
          <a:xfrm>
            <a:off x="8541857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17152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55" name="go:path">
            <a:hlinkClick r:id="rId6" tooltip="Раздел: Этапы" action="ppaction://hlinksldjump"/>
          </p:cNvPr>
          <p:cNvSpPr/>
          <p:nvPr/>
        </p:nvSpPr>
        <p:spPr>
          <a:xfrm>
            <a:off x="917152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9767407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57" name="go:criteria">
            <a:hlinkClick r:id="rId7" tooltip="Раздел: Защита" action="ppaction://hlinksldjump"/>
          </p:cNvPr>
          <p:cNvSpPr/>
          <p:nvPr/>
        </p:nvSpPr>
        <p:spPr>
          <a:xfrm>
            <a:off x="9767407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8" name="Shape 56"/>
          <p:cNvSpPr/>
          <p:nvPr/>
        </p:nvSpPr>
        <p:spPr>
          <a:xfrm>
            <a:off x="10428442" y="219456"/>
            <a:ext cx="760970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59" name="Text 57"/>
          <p:cNvSpPr txBox="1"/>
          <p:nvPr/>
        </p:nvSpPr>
        <p:spPr>
          <a:xfrm>
            <a:off x="10428442" y="219456"/>
            <a:ext cx="76097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Пилоты</a:t>
            </a:r>
            <a:endParaRPr lang="en-US" sz="950" dirty="0"/>
          </a:p>
        </p:txBody>
      </p:sp>
      <p:sp>
        <p:nvSpPr>
          <p:cNvPr id="60" name="go:pilots">
            <a:hlinkClick r:id="rId8" tooltip="Раздел: Пилоты" action="ppaction://hlinksldjump"/>
          </p:cNvPr>
          <p:cNvSpPr/>
          <p:nvPr/>
        </p:nvSpPr>
        <p:spPr>
          <a:xfrm>
            <a:off x="10428442" y="219456"/>
            <a:ext cx="76097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1" name="Text 59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62" name="go:plan90">
            <a:hlinkClick r:id="rId9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31</a:t>
            </a:fld>
            <a:endParaRPr lang="en-US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Первые 90 дней: критический путь к запуску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День 0 — принятие отчета Советом; День запуска (цель — День 90) — открытие Трека разъяснений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2286000"/>
            <a:ext cx="11183112" cy="0"/>
          </a:xfrm>
          <a:prstGeom prst="line">
            <a:avLst/>
          </a:prstGeom>
          <a:noFill/>
          <a:ln w="19050">
            <a:solidFill>
              <a:schemeClr val="accent1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1810512"/>
            <a:ext cx="1696212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10512"/>
            <a:ext cx="16962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Дни 20–25</a:t>
            </a:r>
            <a:endParaRPr lang="en-US" sz="1050" dirty="0"/>
          </a:p>
        </p:txBody>
      </p:sp>
      <p:sp>
        <p:nvSpPr>
          <p:cNvPr id="7" name="Shape 5"/>
          <p:cNvSpPr/>
          <p:nvPr/>
        </p:nvSpPr>
        <p:spPr>
          <a:xfrm>
            <a:off x="1314450" y="220370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8" name="Shape 6"/>
          <p:cNvSpPr/>
          <p:nvPr/>
        </p:nvSpPr>
        <p:spPr>
          <a:xfrm>
            <a:off x="502920" y="2487168"/>
            <a:ext cx="1787652" cy="822960"/>
          </a:xfrm>
          <a:prstGeom prst="roundRect">
            <a:avLst>
              <a:gd name="adj" fmla="val 6667"/>
            </a:avLst>
          </a:prstGeom>
          <a:solidFill>
            <a:schemeClr val="accent4">
              <a:alpha val="9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532888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accent4"/>
                </a:solidFill>
              </a:rPr>
              <a:t>№1 · критический</a:t>
            </a:r>
            <a:endParaRPr lang="en-US" sz="800" dirty="0"/>
          </a:p>
        </p:txBody>
      </p:sp>
      <p:sp>
        <p:nvSpPr>
          <p:cNvPr id="10" name="Text 8"/>
          <p:cNvSpPr txBox="1"/>
          <p:nvPr/>
        </p:nvSpPr>
        <p:spPr>
          <a:xfrm>
            <a:off x="594360" y="2715768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Изучить официальные тексты и положения о песочнице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502920" y="3383280"/>
            <a:ext cx="1787652" cy="822960"/>
          </a:xfrm>
          <a:prstGeom prst="roundRect">
            <a:avLst>
              <a:gd name="adj" fmla="val 6667"/>
            </a:avLst>
          </a:prstGeom>
          <a:solidFill>
            <a:schemeClr val="accent4">
              <a:alpha val="9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429000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accent4"/>
                </a:solidFill>
              </a:rPr>
              <a:t>№2 · критический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3611880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Заключение о полномочиях; ответ на правовой вопрос по каждому пилоту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27732" y="1810512"/>
            <a:ext cx="1696212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2427732" y="1810512"/>
            <a:ext cx="16962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День 30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3193542" y="220370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17" name="Shape 15"/>
          <p:cNvSpPr/>
          <p:nvPr/>
        </p:nvSpPr>
        <p:spPr>
          <a:xfrm>
            <a:off x="2382012" y="2487168"/>
            <a:ext cx="1787652" cy="822960"/>
          </a:xfrm>
          <a:prstGeom prst="roundRect">
            <a:avLst>
              <a:gd name="adj" fmla="val 6667"/>
            </a:avLst>
          </a:prstGeom>
          <a:solidFill>
            <a:schemeClr val="accent4">
              <a:alpha val="9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2473452" y="2532888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accent4"/>
                </a:solidFill>
              </a:rPr>
              <a:t>№3 · критический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2473452" y="2715768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Совет утверждает операционную модель, треки и полномочия по допуску (D1, D2)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306824" y="1810512"/>
            <a:ext cx="1696212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4306824" y="1810512"/>
            <a:ext cx="16962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День 45</a:t>
            </a:r>
            <a:endParaRPr lang="en-US" sz="1050" dirty="0"/>
          </a:p>
        </p:txBody>
      </p:sp>
      <p:sp>
        <p:nvSpPr>
          <p:cNvPr id="22" name="Shape 20"/>
          <p:cNvSpPr/>
          <p:nvPr/>
        </p:nvSpPr>
        <p:spPr>
          <a:xfrm>
            <a:off x="5072634" y="220370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23" name="Shape 21"/>
          <p:cNvSpPr/>
          <p:nvPr/>
        </p:nvSpPr>
        <p:spPr>
          <a:xfrm>
            <a:off x="4261104" y="2487168"/>
            <a:ext cx="1787652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4352544" y="2532888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№5 · высокий</a:t>
            </a:r>
            <a:endParaRPr lang="en-US" sz="800" dirty="0"/>
          </a:p>
        </p:txBody>
      </p:sp>
      <p:sp>
        <p:nvSpPr>
          <p:cNvPr id="25" name="Text 23"/>
          <p:cNvSpPr txBox="1"/>
          <p:nvPr/>
        </p:nvSpPr>
        <p:spPr>
          <a:xfrm>
            <a:off x="4352544" y="2715768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Руководитель песочницы и основная команда (~6 человек)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4261104" y="3383280"/>
            <a:ext cx="1787652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4352544" y="3429000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№10 · высокий</a:t>
            </a:r>
            <a:endParaRPr lang="en-US" sz="800" dirty="0"/>
          </a:p>
        </p:txBody>
      </p:sp>
      <p:sp>
        <p:nvSpPr>
          <p:cNvPr id="28" name="Text 26"/>
          <p:cNvSpPr txBox="1"/>
          <p:nvPr/>
        </p:nvSpPr>
        <p:spPr>
          <a:xfrm>
            <a:off x="4352544" y="3611880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Проверка спроса: интервью с потенциальными участниками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6185916" y="1810512"/>
            <a:ext cx="1696212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6185916" y="1810512"/>
            <a:ext cx="16962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День 60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6951726" y="220370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32" name="Shape 30"/>
          <p:cNvSpPr/>
          <p:nvPr/>
        </p:nvSpPr>
        <p:spPr>
          <a:xfrm>
            <a:off x="6140196" y="2487168"/>
            <a:ext cx="1787652" cy="822960"/>
          </a:xfrm>
          <a:prstGeom prst="roundRect">
            <a:avLst>
              <a:gd name="adj" fmla="val 6667"/>
            </a:avLst>
          </a:prstGeom>
          <a:solidFill>
            <a:schemeClr val="accent4">
              <a:alpha val="9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33" name="Text 31"/>
          <p:cNvSpPr txBox="1"/>
          <p:nvPr/>
        </p:nvSpPr>
        <p:spPr>
          <a:xfrm>
            <a:off x="6231636" y="2532888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accent4"/>
                </a:solidFill>
              </a:rPr>
              <a:t>№6 · критический</a:t>
            </a:r>
            <a:endParaRPr lang="en-US" sz="800" dirty="0"/>
          </a:p>
        </p:txBody>
      </p:sp>
      <p:sp>
        <p:nvSpPr>
          <p:cNvPr id="34" name="Text 32"/>
          <p:cNvSpPr txBox="1"/>
          <p:nvPr/>
        </p:nvSpPr>
        <p:spPr>
          <a:xfrm>
            <a:off x="6231636" y="2715768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Комитет: положение, члены, пул экспертов, конфликт интересов</a:t>
            </a:r>
            <a:endParaRPr lang="en-US" sz="900" dirty="0"/>
          </a:p>
        </p:txBody>
      </p:sp>
      <p:sp>
        <p:nvSpPr>
          <p:cNvPr id="35" name="Shape 33"/>
          <p:cNvSpPr/>
          <p:nvPr/>
        </p:nvSpPr>
        <p:spPr>
          <a:xfrm>
            <a:off x="6140196" y="3383280"/>
            <a:ext cx="1787652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6231636" y="3429000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№7 · высокий</a:t>
            </a:r>
            <a:endParaRPr lang="en-US" sz="800" dirty="0"/>
          </a:p>
        </p:txBody>
      </p:sp>
      <p:sp>
        <p:nvSpPr>
          <p:cNvPr id="37" name="Text 35"/>
          <p:cNvSpPr txBox="1"/>
          <p:nvPr/>
        </p:nvSpPr>
        <p:spPr>
          <a:xfrm>
            <a:off x="6231636" y="3611880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Органы по пилотам; протокол согласования и правила перенаправления</a:t>
            </a:r>
            <a:endParaRPr lang="en-US" sz="900" dirty="0"/>
          </a:p>
        </p:txBody>
      </p:sp>
      <p:sp>
        <p:nvSpPr>
          <p:cNvPr id="38" name="Shape 36"/>
          <p:cNvSpPr/>
          <p:nvPr/>
        </p:nvSpPr>
        <p:spPr>
          <a:xfrm>
            <a:off x="6140196" y="4279392"/>
            <a:ext cx="1787652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39" name="Text 37"/>
          <p:cNvSpPr txBox="1"/>
          <p:nvPr/>
        </p:nvSpPr>
        <p:spPr>
          <a:xfrm>
            <a:off x="6231636" y="4325112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№9 · высокий</a:t>
            </a:r>
            <a:endParaRPr lang="en-US" sz="800" dirty="0"/>
          </a:p>
        </p:txBody>
      </p:sp>
      <p:sp>
        <p:nvSpPr>
          <p:cNvPr id="40" name="Text 38"/>
          <p:cNvSpPr txBox="1"/>
          <p:nvPr/>
        </p:nvSpPr>
        <p:spPr>
          <a:xfrm>
            <a:off x="6231636" y="4507992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Состав MVP платформы и способ закупки</a:t>
            </a:r>
            <a:endParaRPr lang="en-US" sz="900" dirty="0"/>
          </a:p>
        </p:txBody>
      </p:sp>
      <p:sp>
        <p:nvSpPr>
          <p:cNvPr id="41" name="Shape 39"/>
          <p:cNvSpPr/>
          <p:nvPr/>
        </p:nvSpPr>
        <p:spPr>
          <a:xfrm>
            <a:off x="8065008" y="1810512"/>
            <a:ext cx="1696212" cy="310896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8065008" y="1810512"/>
            <a:ext cx="16962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День 75</a:t>
            </a:r>
            <a:endParaRPr lang="en-US" sz="1050" dirty="0"/>
          </a:p>
        </p:txBody>
      </p:sp>
      <p:sp>
        <p:nvSpPr>
          <p:cNvPr id="43" name="Shape 41"/>
          <p:cNvSpPr/>
          <p:nvPr/>
        </p:nvSpPr>
        <p:spPr>
          <a:xfrm>
            <a:off x="8830818" y="2203704"/>
            <a:ext cx="164592" cy="164592"/>
          </a:xfrm>
          <a:prstGeom prst="ellipse">
            <a:avLst/>
          </a:prstGeom>
          <a:solidFill>
            <a:schemeClr val="accent1"/>
          </a:solidFill>
          <a:ln/>
        </p:spPr>
      </p:sp>
      <p:sp>
        <p:nvSpPr>
          <p:cNvPr id="44" name="Shape 42"/>
          <p:cNvSpPr/>
          <p:nvPr/>
        </p:nvSpPr>
        <p:spPr>
          <a:xfrm>
            <a:off x="8019288" y="2487168"/>
            <a:ext cx="1787652" cy="822960"/>
          </a:xfrm>
          <a:prstGeom prst="roundRect">
            <a:avLst>
              <a:gd name="adj" fmla="val 6667"/>
            </a:avLst>
          </a:prstGeom>
          <a:solidFill>
            <a:schemeClr val="accent4">
              <a:alpha val="9000"/>
            </a:schemeClr>
          </a:solidFill>
          <a:ln w="9525">
            <a:solidFill>
              <a:schemeClr val="accent4"/>
            </a:solidFill>
            <a:prstDash val="solid"/>
          </a:ln>
        </p:spPr>
      </p:sp>
      <p:sp>
        <p:nvSpPr>
          <p:cNvPr id="45" name="Text 43"/>
          <p:cNvSpPr txBox="1"/>
          <p:nvPr/>
        </p:nvSpPr>
        <p:spPr>
          <a:xfrm>
            <a:off x="8110728" y="2532888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accent4"/>
                </a:solidFill>
              </a:rPr>
              <a:t>№4 · критический</a:t>
            </a:r>
            <a:endParaRPr lang="en-US" sz="800" dirty="0"/>
          </a:p>
        </p:txBody>
      </p:sp>
      <p:sp>
        <p:nvSpPr>
          <p:cNvPr id="46" name="Text 44"/>
          <p:cNvSpPr txBox="1"/>
          <p:nvPr/>
        </p:nvSpPr>
        <p:spPr>
          <a:xfrm>
            <a:off x="8110728" y="2715768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Проект Правил песочницы</a:t>
            </a:r>
            <a:endParaRPr lang="en-US" sz="900" dirty="0"/>
          </a:p>
        </p:txBody>
      </p:sp>
      <p:sp>
        <p:nvSpPr>
          <p:cNvPr id="47" name="Shape 45"/>
          <p:cNvSpPr/>
          <p:nvPr/>
        </p:nvSpPr>
        <p:spPr>
          <a:xfrm>
            <a:off x="8019288" y="3383280"/>
            <a:ext cx="1787652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8110728" y="3429000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№11 · высокий</a:t>
            </a:r>
            <a:endParaRPr lang="en-US" sz="800" dirty="0"/>
          </a:p>
        </p:txBody>
      </p:sp>
      <p:sp>
        <p:nvSpPr>
          <p:cNvPr id="49" name="Text 47"/>
          <p:cNvSpPr txBox="1"/>
          <p:nvPr/>
        </p:nvSpPr>
        <p:spPr>
          <a:xfrm>
            <a:off x="8110728" y="3611880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Выбор пилотов P1–P3 и внутреннего P4</a:t>
            </a:r>
            <a:endParaRPr lang="en-US" sz="900" dirty="0"/>
          </a:p>
        </p:txBody>
      </p:sp>
      <p:sp>
        <p:nvSpPr>
          <p:cNvPr id="50" name="Shape 48"/>
          <p:cNvSpPr/>
          <p:nvPr/>
        </p:nvSpPr>
        <p:spPr>
          <a:xfrm>
            <a:off x="8019288" y="4279392"/>
            <a:ext cx="1787652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51" name="Text 49"/>
          <p:cNvSpPr txBox="1"/>
          <p:nvPr/>
        </p:nvSpPr>
        <p:spPr>
          <a:xfrm>
            <a:off x="8110728" y="4325112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№12 · средний</a:t>
            </a:r>
            <a:endParaRPr lang="en-US" sz="800" dirty="0"/>
          </a:p>
        </p:txBody>
      </p:sp>
      <p:sp>
        <p:nvSpPr>
          <p:cNvPr id="52" name="Text 50"/>
          <p:cNvSpPr txBox="1"/>
          <p:nvPr/>
        </p:nvSpPr>
        <p:spPr>
          <a:xfrm>
            <a:off x="8110728" y="4507992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Рамки поддержки WEF и других партнеров</a:t>
            </a:r>
            <a:endParaRPr lang="en-US" sz="900" dirty="0"/>
          </a:p>
        </p:txBody>
      </p:sp>
      <p:sp>
        <p:nvSpPr>
          <p:cNvPr id="53" name="Shape 51"/>
          <p:cNvSpPr/>
          <p:nvPr/>
        </p:nvSpPr>
        <p:spPr>
          <a:xfrm>
            <a:off x="9944100" y="1810512"/>
            <a:ext cx="1696212" cy="310896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9944100" y="1810512"/>
            <a:ext cx="1696212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50" b="1" dirty="0">
                <a:solidFill>
                  <a:schemeClr val="bg1"/>
                </a:solidFill>
              </a:rPr>
              <a:t>День 90 · запуск</a:t>
            </a:r>
            <a:endParaRPr lang="en-US" sz="1050" dirty="0"/>
          </a:p>
        </p:txBody>
      </p:sp>
      <p:sp>
        <p:nvSpPr>
          <p:cNvPr id="55" name="Shape 53"/>
          <p:cNvSpPr/>
          <p:nvPr/>
        </p:nvSpPr>
        <p:spPr>
          <a:xfrm>
            <a:off x="10709910" y="2203704"/>
            <a:ext cx="164592" cy="164592"/>
          </a:xfrm>
          <a:prstGeom prst="ellipse">
            <a:avLst/>
          </a:prstGeom>
          <a:solidFill>
            <a:schemeClr val="accent5"/>
          </a:solidFill>
          <a:ln/>
        </p:spPr>
      </p:sp>
      <p:sp>
        <p:nvSpPr>
          <p:cNvPr id="56" name="Shape 54"/>
          <p:cNvSpPr/>
          <p:nvPr/>
        </p:nvSpPr>
        <p:spPr>
          <a:xfrm>
            <a:off x="9898380" y="2487168"/>
            <a:ext cx="1787652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57" name="Text 55"/>
          <p:cNvSpPr txBox="1"/>
          <p:nvPr/>
        </p:nvSpPr>
        <p:spPr>
          <a:xfrm>
            <a:off x="9989820" y="2532888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№8 · высокий</a:t>
            </a:r>
            <a:endParaRPr lang="en-US" sz="800" dirty="0"/>
          </a:p>
        </p:txBody>
      </p:sp>
      <p:sp>
        <p:nvSpPr>
          <p:cNvPr id="58" name="Text 56"/>
          <p:cNvSpPr txBox="1"/>
          <p:nvPr/>
        </p:nvSpPr>
        <p:spPr>
          <a:xfrm>
            <a:off x="9989820" y="2715768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Открыть Трек разъяснений</a:t>
            </a:r>
            <a:endParaRPr lang="en-US" sz="900" dirty="0"/>
          </a:p>
        </p:txBody>
      </p:sp>
      <p:sp>
        <p:nvSpPr>
          <p:cNvPr id="59" name="Shape 57"/>
          <p:cNvSpPr/>
          <p:nvPr/>
        </p:nvSpPr>
        <p:spPr>
          <a:xfrm>
            <a:off x="9898380" y="3383280"/>
            <a:ext cx="1787652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9989820" y="3429000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№13 · средний</a:t>
            </a:r>
            <a:endParaRPr lang="en-US" sz="800" dirty="0"/>
          </a:p>
        </p:txBody>
      </p:sp>
      <p:sp>
        <p:nvSpPr>
          <p:cNvPr id="61" name="Text 59"/>
          <p:cNvSpPr txBox="1"/>
          <p:nvPr/>
        </p:nvSpPr>
        <p:spPr>
          <a:xfrm>
            <a:off x="9989820" y="3611880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Словарь KPI и типовое соглашение о тестировании</a:t>
            </a:r>
            <a:endParaRPr lang="en-US" sz="900" dirty="0"/>
          </a:p>
        </p:txBody>
      </p:sp>
      <p:sp>
        <p:nvSpPr>
          <p:cNvPr id="62" name="Shape 60"/>
          <p:cNvSpPr/>
          <p:nvPr/>
        </p:nvSpPr>
        <p:spPr>
          <a:xfrm>
            <a:off x="9898380" y="4279392"/>
            <a:ext cx="1787652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63" name="Text 61"/>
          <p:cNvSpPr txBox="1"/>
          <p:nvPr/>
        </p:nvSpPr>
        <p:spPr>
          <a:xfrm>
            <a:off x="9989820" y="4325112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accent1"/>
                </a:solidFill>
              </a:rPr>
              <a:t>№14 · высокий</a:t>
            </a:r>
            <a:endParaRPr lang="en-US" sz="800" dirty="0"/>
          </a:p>
        </p:txBody>
      </p:sp>
      <p:sp>
        <p:nvSpPr>
          <p:cNvPr id="64" name="Text 62"/>
          <p:cNvSpPr txBox="1"/>
          <p:nvPr/>
        </p:nvSpPr>
        <p:spPr>
          <a:xfrm>
            <a:off x="9989820" y="4507992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Положение о рисках, кибербезопасности и комплаенсе</a:t>
            </a:r>
            <a:endParaRPr lang="en-US" sz="900" dirty="0"/>
          </a:p>
        </p:txBody>
      </p:sp>
      <p:sp>
        <p:nvSpPr>
          <p:cNvPr id="65" name="Shape 63"/>
          <p:cNvSpPr/>
          <p:nvPr/>
        </p:nvSpPr>
        <p:spPr>
          <a:xfrm>
            <a:off x="9898380" y="5175504"/>
            <a:ext cx="1787652" cy="822960"/>
          </a:xfrm>
          <a:prstGeom prst="roundRect">
            <a:avLst>
              <a:gd name="adj" fmla="val 6667"/>
            </a:avLst>
          </a:prstGeom>
          <a:solidFill>
            <a:schemeClr val="bg2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9989820" y="5221224"/>
            <a:ext cx="1604772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00" b="1" dirty="0">
                <a:solidFill>
                  <a:schemeClr val="tx2"/>
                </a:solidFill>
              </a:rPr>
              <a:t>№15 · средний</a:t>
            </a:r>
            <a:endParaRPr lang="en-US" sz="800" dirty="0"/>
          </a:p>
        </p:txBody>
      </p:sp>
      <p:sp>
        <p:nvSpPr>
          <p:cNvPr id="67" name="Text 65"/>
          <p:cNvSpPr txBox="1"/>
          <p:nvPr/>
        </p:nvSpPr>
        <p:spPr>
          <a:xfrm>
            <a:off x="9989820" y="5404104"/>
            <a:ext cx="160477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1"/>
                </a:solidFill>
              </a:rPr>
              <a:t>Проспект песочницы и объявление набора в когорту 1</a:t>
            </a:r>
            <a:endParaRPr lang="en-US" sz="900" dirty="0"/>
          </a:p>
        </p:txBody>
      </p:sp>
      <p:sp>
        <p:nvSpPr>
          <p:cNvPr id="68" name="source"/>
          <p:cNvSpPr txBox="1"/>
          <p:nvPr/>
        </p:nvSpPr>
        <p:spPr>
          <a:xfrm>
            <a:off x="502920" y="6400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Раздел 8.1 и Иллюстрация 22 отчета. Критические меры выделены; номера — меры плана на 90 дней.</a:t>
            </a:r>
            <a:endParaRPr lang="en-US" sz="800" dirty="0"/>
          </a:p>
        </p:txBody>
      </p:sp>
      <p:sp>
        <p:nvSpPr>
          <p:cNvPr id="69" name="Shape 67"/>
          <p:cNvSpPr/>
          <p:nvPr/>
        </p:nvSpPr>
        <p:spPr>
          <a:xfrm>
            <a:off x="9763184" y="6409944"/>
            <a:ext cx="1072456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70" name="Text 68"/>
          <p:cNvSpPr txBox="1"/>
          <p:nvPr/>
        </p:nvSpPr>
        <p:spPr>
          <a:xfrm>
            <a:off x="9763184" y="6409944"/>
            <a:ext cx="107245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12 месяцев  ›</a:t>
            </a:r>
            <a:endParaRPr lang="en-US" sz="900" dirty="0"/>
          </a:p>
        </p:txBody>
      </p:sp>
      <p:sp>
        <p:nvSpPr>
          <p:cNvPr id="71" name="go:plan12">
            <a:hlinkClick r:id="rId1" tooltip="12 месяцев  ›" action="ppaction://hlinksldjump"/>
          </p:cNvPr>
          <p:cNvSpPr/>
          <p:nvPr/>
        </p:nvSpPr>
        <p:spPr>
          <a:xfrm>
            <a:off x="9763184" y="6409944"/>
            <a:ext cx="1072456" cy="2560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2" name="Text 70"/>
          <p:cNvSpPr txBox="1"/>
          <p:nvPr/>
        </p:nvSpPr>
        <p:spPr>
          <a:xfrm>
            <a:off x="6297527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73" name="go:nav">
            <a:hlinkClick r:id="rId2" tooltip="Раздел: Меню" action="ppaction://hlinksldjump"/>
          </p:cNvPr>
          <p:cNvSpPr/>
          <p:nvPr/>
        </p:nvSpPr>
        <p:spPr>
          <a:xfrm>
            <a:off x="6297527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4" name="Text 72"/>
          <p:cNvSpPr txBox="1"/>
          <p:nvPr/>
        </p:nvSpPr>
        <p:spPr>
          <a:xfrm>
            <a:off x="6828260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75" name="go:key5">
            <a:hlinkClick r:id="rId3" tooltip="Раздел: Главное" action="ppaction://hlinksldjump"/>
          </p:cNvPr>
          <p:cNvSpPr/>
          <p:nvPr/>
        </p:nvSpPr>
        <p:spPr>
          <a:xfrm>
            <a:off x="6828260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7523077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77" name="go:numbers">
            <a:hlinkClick r:id="rId4" tooltip="Раздел: Мир" action="ppaction://hlinksldjump"/>
          </p:cNvPr>
          <p:cNvSpPr/>
          <p:nvPr/>
        </p:nvSpPr>
        <p:spPr>
          <a:xfrm>
            <a:off x="7523077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78" name="Text 76"/>
          <p:cNvSpPr txBox="1"/>
          <p:nvPr/>
        </p:nvSpPr>
        <p:spPr>
          <a:xfrm>
            <a:off x="7957290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Кейсы</a:t>
            </a:r>
            <a:endParaRPr lang="en-US" sz="950" dirty="0"/>
          </a:p>
        </p:txBody>
      </p:sp>
      <p:sp>
        <p:nvSpPr>
          <p:cNvPr id="79" name="go:casemap">
            <a:hlinkClick r:id="rId5" tooltip="Раздел: Кейсы" action="ppaction://hlinksldjump"/>
          </p:cNvPr>
          <p:cNvSpPr/>
          <p:nvPr/>
        </p:nvSpPr>
        <p:spPr>
          <a:xfrm>
            <a:off x="7957290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8553174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81" name="go:ecosystem">
            <a:hlinkClick r:id="rId6" tooltip="Раздел: Модель" action="ppaction://hlinksldjump"/>
          </p:cNvPr>
          <p:cNvSpPr/>
          <p:nvPr/>
        </p:nvSpPr>
        <p:spPr>
          <a:xfrm>
            <a:off x="8553174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2" name="Text 80"/>
          <p:cNvSpPr txBox="1"/>
          <p:nvPr/>
        </p:nvSpPr>
        <p:spPr>
          <a:xfrm>
            <a:off x="9182840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83" name="go:path">
            <a:hlinkClick r:id="rId7" tooltip="Раздел: Этапы" action="ppaction://hlinksldjump"/>
          </p:cNvPr>
          <p:cNvSpPr/>
          <p:nvPr/>
        </p:nvSpPr>
        <p:spPr>
          <a:xfrm>
            <a:off x="9182840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4" name="Text 82"/>
          <p:cNvSpPr txBox="1"/>
          <p:nvPr/>
        </p:nvSpPr>
        <p:spPr>
          <a:xfrm>
            <a:off x="9778724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85" name="go:criteria">
            <a:hlinkClick r:id="rId8" tooltip="Раздел: Защита" action="ppaction://hlinksldjump"/>
          </p:cNvPr>
          <p:cNvSpPr/>
          <p:nvPr/>
        </p:nvSpPr>
        <p:spPr>
          <a:xfrm>
            <a:off x="9778724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10439759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87" name="go:pilots">
            <a:hlinkClick r:id="rId9" tooltip="Раздел: Пилоты" action="ppaction://hlinksldjump"/>
          </p:cNvPr>
          <p:cNvSpPr/>
          <p:nvPr/>
        </p:nvSpPr>
        <p:spPr>
          <a:xfrm>
            <a:off x="10439759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88" name="Shape 86"/>
          <p:cNvSpPr/>
          <p:nvPr/>
        </p:nvSpPr>
        <p:spPr>
          <a:xfrm>
            <a:off x="11100794" y="219456"/>
            <a:ext cx="587982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89" name="Text 87"/>
          <p:cNvSpPr txBox="1"/>
          <p:nvPr/>
        </p:nvSpPr>
        <p:spPr>
          <a:xfrm>
            <a:off x="11100794" y="219456"/>
            <a:ext cx="587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План</a:t>
            </a:r>
            <a:endParaRPr lang="en-US" sz="950" dirty="0"/>
          </a:p>
        </p:txBody>
      </p:sp>
      <p:sp>
        <p:nvSpPr>
          <p:cNvPr id="90" name="go:plan90">
            <a:hlinkClick r:id="rId10" tooltip="Раздел: План" action="ppaction://hlinksldjump"/>
          </p:cNvPr>
          <p:cNvSpPr/>
          <p:nvPr/>
        </p:nvSpPr>
        <p:spPr>
          <a:xfrm>
            <a:off x="11100794" y="219456"/>
            <a:ext cx="587982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32</a:t>
            </a:fld>
            <a:endParaRPr lang="en-US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12 месяцев: четыре фазы и контрольные точки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Каждая фаза завершается решением; первые допуски — в 6-м месяце, ежегодный обзор Совета — в 12-м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2532888" y="1810512"/>
            <a:ext cx="2256282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2606040" y="1810512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1  Основа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4825746" y="1810512"/>
            <a:ext cx="2256282" cy="365760"/>
          </a:xfrm>
          <a:prstGeom prst="roundRect">
            <a:avLst>
              <a:gd name="adj" fmla="val 15000"/>
            </a:avLst>
          </a:prstGeom>
          <a:solidFill>
            <a:schemeClr val="accent1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4898898" y="1810512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2  Мягкий запуск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7118604" y="1810512"/>
            <a:ext cx="2256282" cy="365760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191756" y="1810512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3  Контролируемый запуск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9411462" y="1810512"/>
            <a:ext cx="2256282" cy="365760"/>
          </a:xfrm>
          <a:prstGeom prst="roundRect">
            <a:avLst>
              <a:gd name="adj" fmla="val 15000"/>
            </a:avLst>
          </a:prstGeom>
          <a:solidFill>
            <a:schemeClr val="accent5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9484614" y="1810512"/>
            <a:ext cx="210997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4  Оценка и расширение</a:t>
            </a:r>
            <a:endParaRPr lang="en-US" sz="1000" dirty="0"/>
          </a:p>
        </p:txBody>
      </p:sp>
      <p:sp>
        <p:nvSpPr>
          <p:cNvPr id="12" name="Text 10"/>
          <p:cNvSpPr txBox="1"/>
          <p:nvPr/>
        </p:nvSpPr>
        <p:spPr>
          <a:xfrm>
            <a:off x="2286000" y="2212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М0</a:t>
            </a:r>
            <a:endParaRPr lang="en-US" sz="800" dirty="0"/>
          </a:p>
        </p:txBody>
      </p:sp>
      <p:sp>
        <p:nvSpPr>
          <p:cNvPr id="13" name="Text 11"/>
          <p:cNvSpPr txBox="1"/>
          <p:nvPr/>
        </p:nvSpPr>
        <p:spPr>
          <a:xfrm>
            <a:off x="3050286" y="2212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М1</a:t>
            </a:r>
            <a:endParaRPr lang="en-US" sz="800" dirty="0"/>
          </a:p>
        </p:txBody>
      </p:sp>
      <p:sp>
        <p:nvSpPr>
          <p:cNvPr id="14" name="Text 12"/>
          <p:cNvSpPr txBox="1"/>
          <p:nvPr/>
        </p:nvSpPr>
        <p:spPr>
          <a:xfrm>
            <a:off x="3814572" y="2212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М2</a:t>
            </a:r>
            <a:endParaRPr lang="en-US" sz="800" dirty="0"/>
          </a:p>
        </p:txBody>
      </p:sp>
      <p:sp>
        <p:nvSpPr>
          <p:cNvPr id="15" name="Text 13"/>
          <p:cNvSpPr txBox="1"/>
          <p:nvPr/>
        </p:nvSpPr>
        <p:spPr>
          <a:xfrm>
            <a:off x="4578858" y="2212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М3</a:t>
            </a:r>
            <a:endParaRPr lang="en-US" sz="800" dirty="0"/>
          </a:p>
        </p:txBody>
      </p:sp>
      <p:sp>
        <p:nvSpPr>
          <p:cNvPr id="16" name="Text 14"/>
          <p:cNvSpPr txBox="1"/>
          <p:nvPr/>
        </p:nvSpPr>
        <p:spPr>
          <a:xfrm>
            <a:off x="5343144" y="2212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М4</a:t>
            </a:r>
            <a:endParaRPr lang="en-US" sz="800" dirty="0"/>
          </a:p>
        </p:txBody>
      </p:sp>
      <p:sp>
        <p:nvSpPr>
          <p:cNvPr id="17" name="Text 15"/>
          <p:cNvSpPr txBox="1"/>
          <p:nvPr/>
        </p:nvSpPr>
        <p:spPr>
          <a:xfrm>
            <a:off x="6107430" y="2212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М5</a:t>
            </a:r>
            <a:endParaRPr lang="en-US" sz="800" dirty="0"/>
          </a:p>
        </p:txBody>
      </p:sp>
      <p:sp>
        <p:nvSpPr>
          <p:cNvPr id="18" name="Text 16"/>
          <p:cNvSpPr txBox="1"/>
          <p:nvPr/>
        </p:nvSpPr>
        <p:spPr>
          <a:xfrm>
            <a:off x="6871716" y="2212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М6</a:t>
            </a:r>
            <a:endParaRPr lang="en-US" sz="800" dirty="0"/>
          </a:p>
        </p:txBody>
      </p:sp>
      <p:sp>
        <p:nvSpPr>
          <p:cNvPr id="19" name="Text 17"/>
          <p:cNvSpPr txBox="1"/>
          <p:nvPr/>
        </p:nvSpPr>
        <p:spPr>
          <a:xfrm>
            <a:off x="7636002" y="2212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М7</a:t>
            </a:r>
            <a:endParaRPr lang="en-US" sz="800" dirty="0"/>
          </a:p>
        </p:txBody>
      </p:sp>
      <p:sp>
        <p:nvSpPr>
          <p:cNvPr id="20" name="Text 18"/>
          <p:cNvSpPr txBox="1"/>
          <p:nvPr/>
        </p:nvSpPr>
        <p:spPr>
          <a:xfrm>
            <a:off x="8400288" y="2212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М8</a:t>
            </a:r>
            <a:endParaRPr lang="en-US" sz="800" dirty="0"/>
          </a:p>
        </p:txBody>
      </p:sp>
      <p:sp>
        <p:nvSpPr>
          <p:cNvPr id="21" name="Text 19"/>
          <p:cNvSpPr txBox="1"/>
          <p:nvPr/>
        </p:nvSpPr>
        <p:spPr>
          <a:xfrm>
            <a:off x="9164574" y="2212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М9</a:t>
            </a:r>
            <a:endParaRPr lang="en-US" sz="800" dirty="0"/>
          </a:p>
        </p:txBody>
      </p:sp>
      <p:sp>
        <p:nvSpPr>
          <p:cNvPr id="22" name="Text 20"/>
          <p:cNvSpPr txBox="1"/>
          <p:nvPr/>
        </p:nvSpPr>
        <p:spPr>
          <a:xfrm>
            <a:off x="9928860" y="2212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М10</a:t>
            </a:r>
            <a:endParaRPr lang="en-US" sz="800" dirty="0"/>
          </a:p>
        </p:txBody>
      </p:sp>
      <p:sp>
        <p:nvSpPr>
          <p:cNvPr id="23" name="Text 21"/>
          <p:cNvSpPr txBox="1"/>
          <p:nvPr/>
        </p:nvSpPr>
        <p:spPr>
          <a:xfrm>
            <a:off x="10693146" y="2212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М11</a:t>
            </a:r>
            <a:endParaRPr lang="en-US" sz="800" dirty="0"/>
          </a:p>
        </p:txBody>
      </p:sp>
      <p:sp>
        <p:nvSpPr>
          <p:cNvPr id="24" name="Text 22"/>
          <p:cNvSpPr txBox="1"/>
          <p:nvPr/>
        </p:nvSpPr>
        <p:spPr>
          <a:xfrm>
            <a:off x="11457432" y="2212848"/>
            <a:ext cx="4572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М12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502920" y="2487168"/>
            <a:ext cx="11183112" cy="32918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26" name="Text 24"/>
          <p:cNvSpPr txBox="1"/>
          <p:nvPr/>
        </p:nvSpPr>
        <p:spPr>
          <a:xfrm>
            <a:off x="566928" y="248716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Правовая основа и Правила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2514600" y="2523744"/>
            <a:ext cx="764286" cy="256032"/>
          </a:xfrm>
          <a:prstGeom prst="roundRect">
            <a:avLst>
              <a:gd name="adj" fmla="val 17857"/>
            </a:avLst>
          </a:prstGeom>
          <a:solidFill>
            <a:schemeClr val="accent4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2569464" y="2523744"/>
            <a:ext cx="67284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спринт</a:t>
            </a:r>
            <a:endParaRPr lang="en-US" sz="850" dirty="0"/>
          </a:p>
        </p:txBody>
      </p:sp>
      <p:sp>
        <p:nvSpPr>
          <p:cNvPr id="29" name="Shape 27"/>
          <p:cNvSpPr/>
          <p:nvPr/>
        </p:nvSpPr>
        <p:spPr>
          <a:xfrm>
            <a:off x="4425315" y="2523744"/>
            <a:ext cx="1146429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/>
        </p:spPr>
      </p:sp>
      <p:sp>
        <p:nvSpPr>
          <p:cNvPr id="30" name="Text 28"/>
          <p:cNvSpPr txBox="1"/>
          <p:nvPr/>
        </p:nvSpPr>
        <p:spPr>
          <a:xfrm>
            <a:off x="4480179" y="2523744"/>
            <a:ext cx="10549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Правила → М4</a:t>
            </a:r>
            <a:endParaRPr lang="en-US" sz="850" dirty="0"/>
          </a:p>
        </p:txBody>
      </p:sp>
      <p:sp>
        <p:nvSpPr>
          <p:cNvPr id="31" name="Shape 29"/>
          <p:cNvSpPr/>
          <p:nvPr/>
        </p:nvSpPr>
        <p:spPr>
          <a:xfrm>
            <a:off x="502920" y="2871216"/>
            <a:ext cx="11183112" cy="32918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566928" y="287121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Трек разъяснений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4807458" y="2907792"/>
            <a:ext cx="6878574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862322" y="2907792"/>
            <a:ext cx="678713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открыт с Дня запуска; позиции публикуются</a:t>
            </a:r>
            <a:endParaRPr lang="en-US" sz="850" dirty="0"/>
          </a:p>
        </p:txBody>
      </p:sp>
      <p:sp>
        <p:nvSpPr>
          <p:cNvPr id="35" name="Shape 33"/>
          <p:cNvSpPr/>
          <p:nvPr/>
        </p:nvSpPr>
        <p:spPr>
          <a:xfrm>
            <a:off x="502920" y="3255264"/>
            <a:ext cx="11183112" cy="32918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36" name="Text 34"/>
          <p:cNvSpPr txBox="1"/>
          <p:nvPr/>
        </p:nvSpPr>
        <p:spPr>
          <a:xfrm>
            <a:off x="566928" y="325526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Полноформатная песочница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5571744" y="3291840"/>
            <a:ext cx="1528572" cy="256032"/>
          </a:xfrm>
          <a:prstGeom prst="roundRect">
            <a:avLst>
              <a:gd name="adj" fmla="val 17857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5626608" y="3291840"/>
            <a:ext cx="14371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chemeClr val="accent5"/>
                </a:solidFill>
              </a:rPr>
              <a:t>набор, этапы 1–4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7100316" y="3291840"/>
            <a:ext cx="4585716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/>
        </p:spPr>
      </p:sp>
      <p:sp>
        <p:nvSpPr>
          <p:cNvPr id="40" name="Text 38"/>
          <p:cNvSpPr txBox="1"/>
          <p:nvPr/>
        </p:nvSpPr>
        <p:spPr>
          <a:xfrm>
            <a:off x="7155180" y="3291840"/>
            <a:ext cx="44942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тесты под ежемесячным мониторингом</a:t>
            </a:r>
            <a:endParaRPr lang="en-US" sz="850" dirty="0"/>
          </a:p>
        </p:txBody>
      </p:sp>
      <p:sp>
        <p:nvSpPr>
          <p:cNvPr id="41" name="Shape 39"/>
          <p:cNvSpPr/>
          <p:nvPr/>
        </p:nvSpPr>
        <p:spPr>
          <a:xfrm>
            <a:off x="502920" y="3639312"/>
            <a:ext cx="11183112" cy="32918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42" name="Text 40"/>
          <p:cNvSpPr txBox="1"/>
          <p:nvPr/>
        </p:nvSpPr>
        <p:spPr>
          <a:xfrm>
            <a:off x="566928" y="3639312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Пилоты P1–P3</a:t>
            </a:r>
            <a:endParaRPr lang="en-US" sz="950" dirty="0"/>
          </a:p>
        </p:txBody>
      </p:sp>
      <p:sp>
        <p:nvSpPr>
          <p:cNvPr id="43" name="Shape 41"/>
          <p:cNvSpPr/>
          <p:nvPr/>
        </p:nvSpPr>
        <p:spPr>
          <a:xfrm>
            <a:off x="4807458" y="3675888"/>
            <a:ext cx="2292858" cy="256032"/>
          </a:xfrm>
          <a:prstGeom prst="roundRect">
            <a:avLst>
              <a:gd name="adj" fmla="val 17857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44" name="Text 42"/>
          <p:cNvSpPr txBox="1"/>
          <p:nvPr/>
        </p:nvSpPr>
        <p:spPr>
          <a:xfrm>
            <a:off x="4862322" y="3675888"/>
            <a:ext cx="2201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chemeClr val="accent5"/>
                </a:solidFill>
              </a:rPr>
              <a:t>проектирование</a:t>
            </a:r>
            <a:endParaRPr lang="en-US" sz="850" dirty="0"/>
          </a:p>
        </p:txBody>
      </p:sp>
      <p:sp>
        <p:nvSpPr>
          <p:cNvPr id="45" name="Shape 43"/>
          <p:cNvSpPr/>
          <p:nvPr/>
        </p:nvSpPr>
        <p:spPr>
          <a:xfrm>
            <a:off x="7100316" y="3675888"/>
            <a:ext cx="4585716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/>
        </p:spPr>
      </p:sp>
      <p:sp>
        <p:nvSpPr>
          <p:cNvPr id="46" name="Text 44"/>
          <p:cNvSpPr txBox="1"/>
          <p:nvPr/>
        </p:nvSpPr>
        <p:spPr>
          <a:xfrm>
            <a:off x="7155180" y="3675888"/>
            <a:ext cx="44942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тестирование</a:t>
            </a:r>
            <a:endParaRPr lang="en-US" sz="850" dirty="0"/>
          </a:p>
        </p:txBody>
      </p:sp>
      <p:sp>
        <p:nvSpPr>
          <p:cNvPr id="47" name="Shape 45"/>
          <p:cNvSpPr/>
          <p:nvPr/>
        </p:nvSpPr>
        <p:spPr>
          <a:xfrm>
            <a:off x="502920" y="4023360"/>
            <a:ext cx="11183112" cy="32918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566928" y="4023360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Пилот P4 (внутренний)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4807458" y="4059936"/>
            <a:ext cx="1528572" cy="256032"/>
          </a:xfrm>
          <a:prstGeom prst="roundRect">
            <a:avLst>
              <a:gd name="adj" fmla="val 17857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4862322" y="4059936"/>
            <a:ext cx="14371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chemeClr val="accent5"/>
                </a:solidFill>
              </a:rPr>
              <a:t>проектирование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7100316" y="4059936"/>
            <a:ext cx="3821430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7155180" y="4059936"/>
            <a:ext cx="372999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тест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502920" y="4407408"/>
            <a:ext cx="11183112" cy="32918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566928" y="4407408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Платформа и тестовая среда</a:t>
            </a:r>
            <a:endParaRPr lang="en-US" sz="950" dirty="0"/>
          </a:p>
        </p:txBody>
      </p:sp>
      <p:sp>
        <p:nvSpPr>
          <p:cNvPr id="55" name="Shape 53"/>
          <p:cNvSpPr/>
          <p:nvPr/>
        </p:nvSpPr>
        <p:spPr>
          <a:xfrm>
            <a:off x="2514600" y="4443984"/>
            <a:ext cx="2292858" cy="256032"/>
          </a:xfrm>
          <a:prstGeom prst="roundRect">
            <a:avLst>
              <a:gd name="adj" fmla="val 17857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2569464" y="4443984"/>
            <a:ext cx="2201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chemeClr val="accent5"/>
                </a:solidFill>
              </a:rPr>
              <a:t>прием заявок</a:t>
            </a:r>
            <a:endParaRPr lang="en-US" sz="850" dirty="0"/>
          </a:p>
        </p:txBody>
      </p:sp>
      <p:sp>
        <p:nvSpPr>
          <p:cNvPr id="57" name="Shape 55"/>
          <p:cNvSpPr/>
          <p:nvPr/>
        </p:nvSpPr>
        <p:spPr>
          <a:xfrm>
            <a:off x="4807458" y="4443984"/>
            <a:ext cx="2292858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4862322" y="4443984"/>
            <a:ext cx="2201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тестовая среда → М6</a:t>
            </a:r>
            <a:endParaRPr lang="en-US" sz="850" dirty="0"/>
          </a:p>
        </p:txBody>
      </p:sp>
      <p:sp>
        <p:nvSpPr>
          <p:cNvPr id="59" name="Shape 57"/>
          <p:cNvSpPr/>
          <p:nvPr/>
        </p:nvSpPr>
        <p:spPr>
          <a:xfrm>
            <a:off x="502920" y="4791456"/>
            <a:ext cx="11183112" cy="329184"/>
          </a:xfrm>
          <a:prstGeom prst="rect">
            <a:avLst/>
          </a:prstGeom>
          <a:solidFill>
            <a:schemeClr val="bg2"/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566928" y="4791456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Экспресс-трек</a:t>
            </a:r>
            <a:endParaRPr lang="en-US" sz="950" dirty="0"/>
          </a:p>
        </p:txBody>
      </p:sp>
      <p:sp>
        <p:nvSpPr>
          <p:cNvPr id="61" name="Shape 59"/>
          <p:cNvSpPr/>
          <p:nvPr/>
        </p:nvSpPr>
        <p:spPr>
          <a:xfrm>
            <a:off x="9393174" y="4828032"/>
            <a:ext cx="2292858" cy="256032"/>
          </a:xfrm>
          <a:prstGeom prst="roundRect">
            <a:avLst>
              <a:gd name="adj" fmla="val 17857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9448038" y="4828032"/>
            <a:ext cx="220141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chemeClr val="accent5"/>
                </a:solidFill>
              </a:rPr>
              <a:t>стандартные условия для Совета</a:t>
            </a:r>
            <a:endParaRPr lang="en-US" sz="850" dirty="0"/>
          </a:p>
        </p:txBody>
      </p:sp>
      <p:sp>
        <p:nvSpPr>
          <p:cNvPr id="63" name="Shape 61"/>
          <p:cNvSpPr/>
          <p:nvPr/>
        </p:nvSpPr>
        <p:spPr>
          <a:xfrm>
            <a:off x="502920" y="5175504"/>
            <a:ext cx="11183112" cy="329184"/>
          </a:xfrm>
          <a:prstGeom prst="rect">
            <a:avLst/>
          </a:prstGeom>
          <a:solidFill>
            <a:schemeClr val="bg1"/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566928" y="5175504"/>
            <a:ext cx="19202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Отчетность</a:t>
            </a:r>
            <a:endParaRPr lang="en-US" sz="950" dirty="0"/>
          </a:p>
        </p:txBody>
      </p:sp>
      <p:sp>
        <p:nvSpPr>
          <p:cNvPr id="65" name="Shape 63"/>
          <p:cNvSpPr/>
          <p:nvPr/>
        </p:nvSpPr>
        <p:spPr>
          <a:xfrm>
            <a:off x="6794602" y="5212080"/>
            <a:ext cx="611429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6849466" y="5212080"/>
            <a:ext cx="5199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сроки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7406030" y="5212080"/>
            <a:ext cx="1987144" cy="256032"/>
          </a:xfrm>
          <a:prstGeom prst="roundRect">
            <a:avLst>
              <a:gd name="adj" fmla="val 17857"/>
            </a:avLst>
          </a:prstGeom>
          <a:solidFill>
            <a:schemeClr val="accent1">
              <a:alpha val="20000"/>
            </a:schemeClr>
          </a:solidFill>
          <a:ln/>
        </p:spPr>
      </p:sp>
      <p:sp>
        <p:nvSpPr>
          <p:cNvPr id="68" name="Text 66"/>
          <p:cNvSpPr txBox="1"/>
          <p:nvPr/>
        </p:nvSpPr>
        <p:spPr>
          <a:xfrm>
            <a:off x="7460894" y="5212080"/>
            <a:ext cx="18957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chemeClr val="accent5"/>
                </a:solidFill>
              </a:rPr>
              <a:t>форум регуляторов</a:t>
            </a:r>
            <a:endParaRPr lang="en-US" sz="850" dirty="0"/>
          </a:p>
        </p:txBody>
      </p:sp>
      <p:sp>
        <p:nvSpPr>
          <p:cNvPr id="69" name="Shape 67"/>
          <p:cNvSpPr/>
          <p:nvPr/>
        </p:nvSpPr>
        <p:spPr>
          <a:xfrm>
            <a:off x="11074603" y="5212080"/>
            <a:ext cx="611429" cy="256032"/>
          </a:xfrm>
          <a:prstGeom prst="roundRect">
            <a:avLst>
              <a:gd name="adj" fmla="val 17857"/>
            </a:avLst>
          </a:prstGeom>
          <a:solidFill>
            <a:schemeClr val="accent1"/>
          </a:solidFill>
          <a:ln/>
        </p:spPr>
      </p:sp>
      <p:sp>
        <p:nvSpPr>
          <p:cNvPr id="70" name="Text 68"/>
          <p:cNvSpPr txBox="1"/>
          <p:nvPr/>
        </p:nvSpPr>
        <p:spPr>
          <a:xfrm>
            <a:off x="11129467" y="5212080"/>
            <a:ext cx="519989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50" b="1" dirty="0">
                <a:solidFill>
                  <a:schemeClr val="bg1"/>
                </a:solidFill>
              </a:rPr>
              <a:t>год</a:t>
            </a:r>
            <a:endParaRPr lang="en-US" sz="850" dirty="0"/>
          </a:p>
        </p:txBody>
      </p:sp>
      <p:sp>
        <p:nvSpPr>
          <p:cNvPr id="71" name="Shape 69"/>
          <p:cNvSpPr/>
          <p:nvPr/>
        </p:nvSpPr>
        <p:spPr>
          <a:xfrm>
            <a:off x="2514600" y="2432304"/>
            <a:ext cx="0" cy="3145536"/>
          </a:xfrm>
          <a:prstGeom prst="line">
            <a:avLst/>
          </a:prstGeom>
          <a:noFill/>
          <a:ln w="6350">
            <a:solidFill>
              <a:schemeClr val="tx2">
                <a:alpha val="60000"/>
              </a:schemeClr>
            </a:solidFill>
            <a:prstDash val="dash"/>
          </a:ln>
        </p:spPr>
      </p:sp>
      <p:sp>
        <p:nvSpPr>
          <p:cNvPr id="72" name="Shape 70"/>
          <p:cNvSpPr/>
          <p:nvPr/>
        </p:nvSpPr>
        <p:spPr>
          <a:xfrm>
            <a:off x="4807458" y="2432304"/>
            <a:ext cx="0" cy="3145536"/>
          </a:xfrm>
          <a:prstGeom prst="line">
            <a:avLst/>
          </a:prstGeom>
          <a:noFill/>
          <a:ln w="6350">
            <a:solidFill>
              <a:schemeClr val="tx2">
                <a:alpha val="60000"/>
              </a:schemeClr>
            </a:solidFill>
            <a:prstDash val="dash"/>
          </a:ln>
        </p:spPr>
      </p:sp>
      <p:sp>
        <p:nvSpPr>
          <p:cNvPr id="73" name="Shape 71"/>
          <p:cNvSpPr/>
          <p:nvPr/>
        </p:nvSpPr>
        <p:spPr>
          <a:xfrm>
            <a:off x="7100316" y="2432304"/>
            <a:ext cx="0" cy="3145536"/>
          </a:xfrm>
          <a:prstGeom prst="line">
            <a:avLst/>
          </a:prstGeom>
          <a:noFill/>
          <a:ln w="6350">
            <a:solidFill>
              <a:schemeClr val="tx2">
                <a:alpha val="60000"/>
              </a:schemeClr>
            </a:solidFill>
            <a:prstDash val="dash"/>
          </a:ln>
        </p:spPr>
      </p:sp>
      <p:sp>
        <p:nvSpPr>
          <p:cNvPr id="74" name="Shape 72"/>
          <p:cNvSpPr/>
          <p:nvPr/>
        </p:nvSpPr>
        <p:spPr>
          <a:xfrm>
            <a:off x="9393174" y="2432304"/>
            <a:ext cx="0" cy="3145536"/>
          </a:xfrm>
          <a:prstGeom prst="line">
            <a:avLst/>
          </a:prstGeom>
          <a:noFill/>
          <a:ln w="6350">
            <a:solidFill>
              <a:schemeClr val="tx2">
                <a:alpha val="60000"/>
              </a:schemeClr>
            </a:solidFill>
            <a:prstDash val="dash"/>
          </a:ln>
        </p:spPr>
      </p:sp>
      <p:sp>
        <p:nvSpPr>
          <p:cNvPr id="75" name="Shape 73"/>
          <p:cNvSpPr/>
          <p:nvPr/>
        </p:nvSpPr>
        <p:spPr>
          <a:xfrm>
            <a:off x="11686032" y="2432304"/>
            <a:ext cx="0" cy="3145536"/>
          </a:xfrm>
          <a:prstGeom prst="line">
            <a:avLst/>
          </a:prstGeom>
          <a:noFill/>
          <a:ln w="6350">
            <a:solidFill>
              <a:schemeClr val="tx2">
                <a:alpha val="60000"/>
              </a:schemeClr>
            </a:solidFill>
            <a:prstDash val="dash"/>
          </a:ln>
        </p:spPr>
      </p:sp>
      <p:sp>
        <p:nvSpPr>
          <p:cNvPr id="76" name="Shape 74"/>
          <p:cNvSpPr/>
          <p:nvPr/>
        </p:nvSpPr>
        <p:spPr>
          <a:xfrm>
            <a:off x="4679442" y="5596128"/>
            <a:ext cx="256032" cy="256032"/>
          </a:xfrm>
          <a:prstGeom prst="diamond">
            <a:avLst/>
          </a:prstGeom>
          <a:solidFill>
            <a:schemeClr val="accent4"/>
          </a:solidFill>
          <a:ln/>
        </p:spPr>
      </p:sp>
      <p:sp>
        <p:nvSpPr>
          <p:cNvPr id="77" name="Text 75"/>
          <p:cNvSpPr txBox="1"/>
          <p:nvPr/>
        </p:nvSpPr>
        <p:spPr>
          <a:xfrm>
            <a:off x="4030218" y="58704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4"/>
                </a:solidFill>
              </a:rPr>
              <a:t>День запуска</a:t>
            </a:r>
            <a:endParaRPr lang="en-US" sz="900" dirty="0"/>
          </a:p>
        </p:txBody>
      </p:sp>
      <p:sp>
        <p:nvSpPr>
          <p:cNvPr id="78" name="Text 76"/>
          <p:cNvSpPr txBox="1"/>
          <p:nvPr/>
        </p:nvSpPr>
        <p:spPr>
          <a:xfrm>
            <a:off x="4030218" y="60624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tx2"/>
                </a:solidFill>
              </a:rPr>
              <a:t>Исполнительный директор — Совету</a:t>
            </a:r>
            <a:endParaRPr lang="en-US" sz="750" dirty="0"/>
          </a:p>
        </p:txBody>
      </p:sp>
      <p:sp>
        <p:nvSpPr>
          <p:cNvPr id="79" name="Shape 77"/>
          <p:cNvSpPr/>
          <p:nvPr/>
        </p:nvSpPr>
        <p:spPr>
          <a:xfrm>
            <a:off x="6972300" y="5596128"/>
            <a:ext cx="256032" cy="256032"/>
          </a:xfrm>
          <a:prstGeom prst="diamond">
            <a:avLst/>
          </a:prstGeom>
          <a:solidFill>
            <a:schemeClr val="accent4"/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6323076" y="58704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4"/>
                </a:solidFill>
              </a:rPr>
              <a:t>Первые допуски</a:t>
            </a:r>
            <a:endParaRPr lang="en-US" sz="900" dirty="0"/>
          </a:p>
        </p:txBody>
      </p:sp>
      <p:sp>
        <p:nvSpPr>
          <p:cNvPr id="81" name="Text 79"/>
          <p:cNvSpPr txBox="1"/>
          <p:nvPr/>
        </p:nvSpPr>
        <p:spPr>
          <a:xfrm>
            <a:off x="6323076" y="60624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tx2"/>
                </a:solidFill>
              </a:rPr>
              <a:t>Комитет по заключению о готовности</a:t>
            </a:r>
            <a:endParaRPr lang="en-US" sz="750" dirty="0"/>
          </a:p>
        </p:txBody>
      </p:sp>
      <p:sp>
        <p:nvSpPr>
          <p:cNvPr id="82" name="Shape 80"/>
          <p:cNvSpPr/>
          <p:nvPr/>
        </p:nvSpPr>
        <p:spPr>
          <a:xfrm>
            <a:off x="9265158" y="5596128"/>
            <a:ext cx="256032" cy="256032"/>
          </a:xfrm>
          <a:prstGeom prst="diamond">
            <a:avLst/>
          </a:prstGeom>
          <a:solidFill>
            <a:schemeClr val="accent4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8615934" y="58704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4"/>
                </a:solidFill>
              </a:rPr>
              <a:t>Среднесрочный обзор</a:t>
            </a:r>
            <a:endParaRPr lang="en-US" sz="900" dirty="0"/>
          </a:p>
        </p:txBody>
      </p:sp>
      <p:sp>
        <p:nvSpPr>
          <p:cNvPr id="84" name="Text 82"/>
          <p:cNvSpPr txBox="1"/>
          <p:nvPr/>
        </p:nvSpPr>
        <p:spPr>
          <a:xfrm>
            <a:off x="8615934" y="60624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750" dirty="0">
                <a:solidFill>
                  <a:schemeClr val="tx2"/>
                </a:solidFill>
              </a:rPr>
              <a:t>Совет — по отчету Комитета</a:t>
            </a:r>
            <a:endParaRPr lang="en-US" sz="750" dirty="0"/>
          </a:p>
        </p:txBody>
      </p:sp>
      <p:sp>
        <p:nvSpPr>
          <p:cNvPr id="85" name="Shape 83"/>
          <p:cNvSpPr/>
          <p:nvPr/>
        </p:nvSpPr>
        <p:spPr>
          <a:xfrm>
            <a:off x="11558016" y="5596128"/>
            <a:ext cx="256032" cy="256032"/>
          </a:xfrm>
          <a:prstGeom prst="diamond">
            <a:avLst/>
          </a:prstGeom>
          <a:solidFill>
            <a:schemeClr val="accent4"/>
          </a:solidFill>
          <a:ln/>
        </p:spPr>
      </p:sp>
      <p:sp>
        <p:nvSpPr>
          <p:cNvPr id="86" name="Text 84"/>
          <p:cNvSpPr txBox="1"/>
          <p:nvPr/>
        </p:nvSpPr>
        <p:spPr>
          <a:xfrm>
            <a:off x="10259568" y="5870448"/>
            <a:ext cx="15544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900" b="1" dirty="0">
                <a:solidFill>
                  <a:schemeClr val="accent4"/>
                </a:solidFill>
              </a:rPr>
              <a:t>Ежегодный обзор</a:t>
            </a:r>
            <a:endParaRPr lang="en-US" sz="900" dirty="0"/>
          </a:p>
        </p:txBody>
      </p:sp>
      <p:sp>
        <p:nvSpPr>
          <p:cNvPr id="87" name="Text 85"/>
          <p:cNvSpPr txBox="1"/>
          <p:nvPr/>
        </p:nvSpPr>
        <p:spPr>
          <a:xfrm>
            <a:off x="10259568" y="6062472"/>
            <a:ext cx="1554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r" indent="0" marL="0">
              <a:buNone/>
            </a:pPr>
            <a:r>
              <a:rPr lang="en-US" sz="750" dirty="0">
                <a:solidFill>
                  <a:schemeClr val="tx2"/>
                </a:solidFill>
              </a:rPr>
              <a:t>Совет</a:t>
            </a:r>
            <a:endParaRPr lang="en-US" sz="750" dirty="0"/>
          </a:p>
        </p:txBody>
      </p:sp>
      <p:sp>
        <p:nvSpPr>
          <p:cNvPr id="88" name="Text 86"/>
          <p:cNvSpPr txBox="1"/>
          <p:nvPr/>
        </p:nvSpPr>
        <p:spPr>
          <a:xfrm>
            <a:off x="566928" y="5596128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b="1" dirty="0">
                <a:solidFill>
                  <a:schemeClr val="accent4"/>
                </a:solidFill>
              </a:rPr>
              <a:t>КОНТРОЛЬНЫЕ ТОЧКИ</a:t>
            </a:r>
            <a:endParaRPr lang="en-US" sz="900" dirty="0"/>
          </a:p>
        </p:txBody>
      </p:sp>
      <p:sp>
        <p:nvSpPr>
          <p:cNvPr id="89" name="Text 87"/>
          <p:cNvSpPr txBox="1"/>
          <p:nvPr/>
        </p:nvSpPr>
        <p:spPr>
          <a:xfrm>
            <a:off x="6297527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90" name="go:nav">
            <a:hlinkClick r:id="rId1" tooltip="Раздел: Меню" action="ppaction://hlinksldjump"/>
          </p:cNvPr>
          <p:cNvSpPr/>
          <p:nvPr/>
        </p:nvSpPr>
        <p:spPr>
          <a:xfrm>
            <a:off x="6297527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1" name="Text 89"/>
          <p:cNvSpPr txBox="1"/>
          <p:nvPr/>
        </p:nvSpPr>
        <p:spPr>
          <a:xfrm>
            <a:off x="6828260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92" name="go:key5">
            <a:hlinkClick r:id="rId2" tooltip="Раздел: Главное" action="ppaction://hlinksldjump"/>
          </p:cNvPr>
          <p:cNvSpPr/>
          <p:nvPr/>
        </p:nvSpPr>
        <p:spPr>
          <a:xfrm>
            <a:off x="6828260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3" name="Text 91"/>
          <p:cNvSpPr txBox="1"/>
          <p:nvPr/>
        </p:nvSpPr>
        <p:spPr>
          <a:xfrm>
            <a:off x="7523077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94" name="go:numbers">
            <a:hlinkClick r:id="rId3" tooltip="Раздел: Мир" action="ppaction://hlinksldjump"/>
          </p:cNvPr>
          <p:cNvSpPr/>
          <p:nvPr/>
        </p:nvSpPr>
        <p:spPr>
          <a:xfrm>
            <a:off x="7523077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5" name="Text 93"/>
          <p:cNvSpPr txBox="1"/>
          <p:nvPr/>
        </p:nvSpPr>
        <p:spPr>
          <a:xfrm>
            <a:off x="7957290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Кейсы</a:t>
            </a:r>
            <a:endParaRPr lang="en-US" sz="950" dirty="0"/>
          </a:p>
        </p:txBody>
      </p:sp>
      <p:sp>
        <p:nvSpPr>
          <p:cNvPr id="96" name="go:casemap">
            <a:hlinkClick r:id="rId4" tooltip="Раздел: Кейсы" action="ppaction://hlinksldjump"/>
          </p:cNvPr>
          <p:cNvSpPr/>
          <p:nvPr/>
        </p:nvSpPr>
        <p:spPr>
          <a:xfrm>
            <a:off x="7957290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7" name="Text 95"/>
          <p:cNvSpPr txBox="1"/>
          <p:nvPr/>
        </p:nvSpPr>
        <p:spPr>
          <a:xfrm>
            <a:off x="8553174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98" name="go:ecosystem">
            <a:hlinkClick r:id="rId5" tooltip="Раздел: Модель" action="ppaction://hlinksldjump"/>
          </p:cNvPr>
          <p:cNvSpPr/>
          <p:nvPr/>
        </p:nvSpPr>
        <p:spPr>
          <a:xfrm>
            <a:off x="8553174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99" name="Text 97"/>
          <p:cNvSpPr txBox="1"/>
          <p:nvPr/>
        </p:nvSpPr>
        <p:spPr>
          <a:xfrm>
            <a:off x="9182840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100" name="go:path">
            <a:hlinkClick r:id="rId6" tooltip="Раздел: Этапы" action="ppaction://hlinksldjump"/>
          </p:cNvPr>
          <p:cNvSpPr/>
          <p:nvPr/>
        </p:nvSpPr>
        <p:spPr>
          <a:xfrm>
            <a:off x="9182840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1" name="Text 99"/>
          <p:cNvSpPr txBox="1"/>
          <p:nvPr/>
        </p:nvSpPr>
        <p:spPr>
          <a:xfrm>
            <a:off x="9778724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102" name="go:criteria">
            <a:hlinkClick r:id="rId7" tooltip="Раздел: Защита" action="ppaction://hlinksldjump"/>
          </p:cNvPr>
          <p:cNvSpPr/>
          <p:nvPr/>
        </p:nvSpPr>
        <p:spPr>
          <a:xfrm>
            <a:off x="9778724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3" name="Text 101"/>
          <p:cNvSpPr txBox="1"/>
          <p:nvPr/>
        </p:nvSpPr>
        <p:spPr>
          <a:xfrm>
            <a:off x="10439759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104" name="go:pilots">
            <a:hlinkClick r:id="rId8" tooltip="Раздел: Пилоты" action="ppaction://hlinksldjump"/>
          </p:cNvPr>
          <p:cNvSpPr/>
          <p:nvPr/>
        </p:nvSpPr>
        <p:spPr>
          <a:xfrm>
            <a:off x="10439759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5" name="Shape 103"/>
          <p:cNvSpPr/>
          <p:nvPr/>
        </p:nvSpPr>
        <p:spPr>
          <a:xfrm>
            <a:off x="11100794" y="219456"/>
            <a:ext cx="587982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06" name="Text 104"/>
          <p:cNvSpPr txBox="1"/>
          <p:nvPr/>
        </p:nvSpPr>
        <p:spPr>
          <a:xfrm>
            <a:off x="11100794" y="219456"/>
            <a:ext cx="587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План</a:t>
            </a:r>
            <a:endParaRPr lang="en-US" sz="950" dirty="0"/>
          </a:p>
        </p:txBody>
      </p:sp>
      <p:sp>
        <p:nvSpPr>
          <p:cNvPr id="107" name="go:plan90">
            <a:hlinkClick r:id="rId9" tooltip="Раздел: План" action="ppaction://hlinksldjump"/>
          </p:cNvPr>
          <p:cNvSpPr/>
          <p:nvPr/>
        </p:nvSpPr>
        <p:spPr>
          <a:xfrm>
            <a:off x="11100794" y="219456"/>
            <a:ext cx="587982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33</a:t>
            </a:fld>
            <a:endParaRPr lang="en-US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KPI: 15 показателей; 1-й год — по выполнению плана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Базовых значений у МЦЦТ пока нет: числовые цели — плановые допущения; данные об итогах — примерно с 14-го месяца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10512"/>
            <a:ext cx="3630168" cy="749808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5" name="Shape 3"/>
          <p:cNvSpPr/>
          <p:nvPr/>
        </p:nvSpPr>
        <p:spPr>
          <a:xfrm>
            <a:off x="502920" y="1810512"/>
            <a:ext cx="73152" cy="7498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810512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87452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Срок решения (полноформатная песочница)</a:t>
            </a:r>
            <a:endParaRPr lang="en-US" sz="950" dirty="0"/>
          </a:p>
        </p:txBody>
      </p:sp>
      <p:sp>
        <p:nvSpPr>
          <p:cNvPr id="8" name="Text 6"/>
          <p:cNvSpPr txBox="1"/>
          <p:nvPr/>
        </p:nvSpPr>
        <p:spPr>
          <a:xfrm>
            <a:off x="1005840" y="226771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медиана р. д.; норматив — 50 р. д.</a:t>
            </a:r>
            <a:endParaRPr lang="en-US" sz="850" dirty="0"/>
          </a:p>
        </p:txBody>
      </p:sp>
      <p:sp>
        <p:nvSpPr>
          <p:cNvPr id="9" name="Shape 7"/>
          <p:cNvSpPr/>
          <p:nvPr/>
        </p:nvSpPr>
        <p:spPr>
          <a:xfrm>
            <a:off x="3264408" y="2057400"/>
            <a:ext cx="777240" cy="256032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3264408" y="20574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М6</a:t>
            </a:r>
            <a:endParaRPr lang="en-US" sz="850" dirty="0"/>
          </a:p>
        </p:txBody>
      </p:sp>
      <p:sp>
        <p:nvSpPr>
          <p:cNvPr id="11" name="Shape 9"/>
          <p:cNvSpPr/>
          <p:nvPr/>
        </p:nvSpPr>
        <p:spPr>
          <a:xfrm>
            <a:off x="4279392" y="1810512"/>
            <a:ext cx="3630168" cy="749808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12" name="Shape 10"/>
          <p:cNvSpPr/>
          <p:nvPr/>
        </p:nvSpPr>
        <p:spPr>
          <a:xfrm>
            <a:off x="4279392" y="1810512"/>
            <a:ext cx="73152" cy="7498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4416552" y="1810512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2</a:t>
            </a:r>
            <a:endParaRPr lang="en-US" sz="1500" dirty="0"/>
          </a:p>
        </p:txBody>
      </p:sp>
      <p:sp>
        <p:nvSpPr>
          <p:cNvPr id="14" name="Text 12"/>
          <p:cNvSpPr txBox="1"/>
          <p:nvPr/>
        </p:nvSpPr>
        <p:spPr>
          <a:xfrm>
            <a:off x="4782312" y="187452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Срок предварительной проверки</a:t>
            </a:r>
            <a:endParaRPr lang="en-US" sz="950" dirty="0"/>
          </a:p>
        </p:txBody>
      </p:sp>
      <p:sp>
        <p:nvSpPr>
          <p:cNvPr id="15" name="Text 13"/>
          <p:cNvSpPr txBox="1"/>
          <p:nvPr/>
        </p:nvSpPr>
        <p:spPr>
          <a:xfrm>
            <a:off x="4782312" y="226771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доля в нормативе 10 р. д.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7040880" y="2057400"/>
            <a:ext cx="777240" cy="256032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040880" y="20574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Запуск</a:t>
            </a:r>
            <a:endParaRPr lang="en-US" sz="850" dirty="0"/>
          </a:p>
        </p:txBody>
      </p:sp>
      <p:sp>
        <p:nvSpPr>
          <p:cNvPr id="18" name="Shape 16"/>
          <p:cNvSpPr/>
          <p:nvPr/>
        </p:nvSpPr>
        <p:spPr>
          <a:xfrm>
            <a:off x="8055864" y="1810512"/>
            <a:ext cx="3630168" cy="749808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19" name="Shape 17"/>
          <p:cNvSpPr/>
          <p:nvPr/>
        </p:nvSpPr>
        <p:spPr>
          <a:xfrm>
            <a:off x="8055864" y="1810512"/>
            <a:ext cx="73152" cy="7498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8193024" y="1810512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3</a:t>
            </a:r>
            <a:endParaRPr lang="en-US" sz="1500" dirty="0"/>
          </a:p>
        </p:txBody>
      </p:sp>
      <p:sp>
        <p:nvSpPr>
          <p:cNvPr id="21" name="Text 19"/>
          <p:cNvSpPr txBox="1"/>
          <p:nvPr/>
        </p:nvSpPr>
        <p:spPr>
          <a:xfrm>
            <a:off x="8558784" y="187452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Своевременность разъяснений</a:t>
            </a:r>
            <a:endParaRPr lang="en-US" sz="950" dirty="0"/>
          </a:p>
        </p:txBody>
      </p:sp>
      <p:sp>
        <p:nvSpPr>
          <p:cNvPr id="22" name="Text 20"/>
          <p:cNvSpPr txBox="1"/>
          <p:nvPr/>
        </p:nvSpPr>
        <p:spPr>
          <a:xfrm>
            <a:off x="8558784" y="226771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цель — после первых 20 дел</a:t>
            </a:r>
            <a:endParaRPr lang="en-US" sz="850" dirty="0"/>
          </a:p>
        </p:txBody>
      </p:sp>
      <p:sp>
        <p:nvSpPr>
          <p:cNvPr id="23" name="Shape 21"/>
          <p:cNvSpPr/>
          <p:nvPr/>
        </p:nvSpPr>
        <p:spPr>
          <a:xfrm>
            <a:off x="10817352" y="2057400"/>
            <a:ext cx="777240" cy="256032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10817352" y="205740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≈ М5</a:t>
            </a:r>
            <a:endParaRPr lang="en-US" sz="850" dirty="0"/>
          </a:p>
        </p:txBody>
      </p:sp>
      <p:sp>
        <p:nvSpPr>
          <p:cNvPr id="25" name="Shape 23"/>
          <p:cNvSpPr/>
          <p:nvPr/>
        </p:nvSpPr>
        <p:spPr>
          <a:xfrm>
            <a:off x="502920" y="2633472"/>
            <a:ext cx="3630168" cy="749808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26" name="Shape 24"/>
          <p:cNvSpPr/>
          <p:nvPr/>
        </p:nvSpPr>
        <p:spPr>
          <a:xfrm>
            <a:off x="502920" y="2633472"/>
            <a:ext cx="73152" cy="7498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40080" y="2633472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4</a:t>
            </a:r>
            <a:endParaRPr lang="en-US" sz="1500" dirty="0"/>
          </a:p>
        </p:txBody>
      </p:sp>
      <p:sp>
        <p:nvSpPr>
          <p:cNvPr id="28" name="Text 26"/>
          <p:cNvSpPr txBox="1"/>
          <p:nvPr/>
        </p:nvSpPr>
        <p:spPr>
          <a:xfrm>
            <a:off x="1005840" y="269748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Запущенные пилоты</a:t>
            </a:r>
            <a:endParaRPr lang="en-US" sz="950" dirty="0"/>
          </a:p>
        </p:txBody>
      </p:sp>
      <p:sp>
        <p:nvSpPr>
          <p:cNvPr id="29" name="Text 27"/>
          <p:cNvSpPr txBox="1"/>
          <p:nvPr/>
        </p:nvSpPr>
        <p:spPr>
          <a:xfrm>
            <a:off x="1005840" y="309067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плановый диапазон — 3–4 в 1-й год</a:t>
            </a:r>
            <a:endParaRPr lang="en-US" sz="850" dirty="0"/>
          </a:p>
        </p:txBody>
      </p:sp>
      <p:sp>
        <p:nvSpPr>
          <p:cNvPr id="30" name="Shape 28"/>
          <p:cNvSpPr/>
          <p:nvPr/>
        </p:nvSpPr>
        <p:spPr>
          <a:xfrm>
            <a:off x="3264408" y="2880360"/>
            <a:ext cx="777240" cy="256032"/>
          </a:xfrm>
          <a:prstGeom prst="roundRect">
            <a:avLst>
              <a:gd name="adj" fmla="val 50000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3264408" y="28803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2"/>
                </a:solidFill>
              </a:rPr>
              <a:t>М6</a:t>
            </a:r>
            <a:endParaRPr lang="en-US" sz="850" dirty="0"/>
          </a:p>
        </p:txBody>
      </p:sp>
      <p:sp>
        <p:nvSpPr>
          <p:cNvPr id="32" name="Shape 30"/>
          <p:cNvSpPr/>
          <p:nvPr/>
        </p:nvSpPr>
        <p:spPr>
          <a:xfrm>
            <a:off x="4279392" y="2633472"/>
            <a:ext cx="3630168" cy="749808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33" name="Shape 31"/>
          <p:cNvSpPr/>
          <p:nvPr/>
        </p:nvSpPr>
        <p:spPr>
          <a:xfrm>
            <a:off x="4279392" y="2633472"/>
            <a:ext cx="73152" cy="749808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4416552" y="2633472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2"/>
                </a:solidFill>
              </a:rPr>
              <a:t>5</a:t>
            </a:r>
            <a:endParaRPr lang="en-US" sz="1500" dirty="0"/>
          </a:p>
        </p:txBody>
      </p:sp>
      <p:sp>
        <p:nvSpPr>
          <p:cNvPr id="35" name="Text 33"/>
          <p:cNvSpPr txBox="1"/>
          <p:nvPr/>
        </p:nvSpPr>
        <p:spPr>
          <a:xfrm>
            <a:off x="4782312" y="269748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Тесты, завершенные с доказательной базой</a:t>
            </a:r>
            <a:endParaRPr lang="en-US" sz="950" dirty="0"/>
          </a:p>
        </p:txBody>
      </p:sp>
      <p:sp>
        <p:nvSpPr>
          <p:cNvPr id="36" name="Text 34"/>
          <p:cNvSpPr txBox="1"/>
          <p:nvPr/>
        </p:nvSpPr>
        <p:spPr>
          <a:xfrm>
            <a:off x="4782312" y="309067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цель — все тесты, включая остановленные</a:t>
            </a:r>
            <a:endParaRPr lang="en-US" sz="850" dirty="0"/>
          </a:p>
        </p:txBody>
      </p:sp>
      <p:sp>
        <p:nvSpPr>
          <p:cNvPr id="37" name="Shape 35"/>
          <p:cNvSpPr/>
          <p:nvPr/>
        </p:nvSpPr>
        <p:spPr>
          <a:xfrm>
            <a:off x="7040880" y="2880360"/>
            <a:ext cx="777240" cy="256032"/>
          </a:xfrm>
          <a:prstGeom prst="roundRect">
            <a:avLst>
              <a:gd name="adj" fmla="val 50000"/>
            </a:avLst>
          </a:prstGeom>
          <a:solidFill>
            <a:schemeClr val="accent2">
              <a:alpha val="12000"/>
            </a:schemeClr>
          </a:solidFill>
          <a:ln/>
        </p:spPr>
      </p:sp>
      <p:sp>
        <p:nvSpPr>
          <p:cNvPr id="38" name="Text 36"/>
          <p:cNvSpPr txBox="1"/>
          <p:nvPr/>
        </p:nvSpPr>
        <p:spPr>
          <a:xfrm>
            <a:off x="7040880" y="28803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2"/>
                </a:solidFill>
              </a:rPr>
              <a:t>≈ М14</a:t>
            </a:r>
            <a:endParaRPr lang="en-US" sz="850" dirty="0"/>
          </a:p>
        </p:txBody>
      </p:sp>
      <p:sp>
        <p:nvSpPr>
          <p:cNvPr id="39" name="Shape 37"/>
          <p:cNvSpPr/>
          <p:nvPr/>
        </p:nvSpPr>
        <p:spPr>
          <a:xfrm>
            <a:off x="8055864" y="2633472"/>
            <a:ext cx="3630168" cy="749808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40" name="Shape 38"/>
          <p:cNvSpPr/>
          <p:nvPr/>
        </p:nvSpPr>
        <p:spPr>
          <a:xfrm>
            <a:off x="8055864" y="2633472"/>
            <a:ext cx="73152" cy="74980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41" name="Text 39"/>
          <p:cNvSpPr txBox="1"/>
          <p:nvPr/>
        </p:nvSpPr>
        <p:spPr>
          <a:xfrm>
            <a:off x="8193024" y="2633472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6</a:t>
            </a:r>
            <a:endParaRPr lang="en-US" sz="1500" dirty="0"/>
          </a:p>
        </p:txBody>
      </p:sp>
      <p:sp>
        <p:nvSpPr>
          <p:cNvPr id="42" name="Text 40"/>
          <p:cNvSpPr txBox="1"/>
          <p:nvPr/>
        </p:nvSpPr>
        <p:spPr>
          <a:xfrm>
            <a:off x="8558784" y="269748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Переход на постоянный режим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558784" y="309067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в течение 12 мес. после выхода</a:t>
            </a:r>
            <a:endParaRPr lang="en-US" sz="850" dirty="0"/>
          </a:p>
        </p:txBody>
      </p:sp>
      <p:sp>
        <p:nvSpPr>
          <p:cNvPr id="44" name="Shape 42"/>
          <p:cNvSpPr/>
          <p:nvPr/>
        </p:nvSpPr>
        <p:spPr>
          <a:xfrm>
            <a:off x="10817352" y="2880360"/>
            <a:ext cx="777240" cy="256032"/>
          </a:xfrm>
          <a:prstGeom prst="roundRect">
            <a:avLst>
              <a:gd name="adj" fmla="val 50000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45" name="Text 43"/>
          <p:cNvSpPr txBox="1"/>
          <p:nvPr/>
        </p:nvSpPr>
        <p:spPr>
          <a:xfrm>
            <a:off x="10817352" y="288036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5"/>
                </a:solidFill>
              </a:rPr>
              <a:t>≈ М26</a:t>
            </a:r>
            <a:endParaRPr lang="en-US" sz="850" dirty="0"/>
          </a:p>
        </p:txBody>
      </p:sp>
      <p:sp>
        <p:nvSpPr>
          <p:cNvPr id="46" name="Shape 44"/>
          <p:cNvSpPr/>
          <p:nvPr/>
        </p:nvSpPr>
        <p:spPr>
          <a:xfrm>
            <a:off x="502920" y="3456432"/>
            <a:ext cx="3630168" cy="749808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47" name="Shape 45"/>
          <p:cNvSpPr/>
          <p:nvPr/>
        </p:nvSpPr>
        <p:spPr>
          <a:xfrm>
            <a:off x="502920" y="3456432"/>
            <a:ext cx="73152" cy="7498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48" name="Text 46"/>
          <p:cNvSpPr txBox="1"/>
          <p:nvPr/>
        </p:nvSpPr>
        <p:spPr>
          <a:xfrm>
            <a:off x="640080" y="3456432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7</a:t>
            </a:r>
            <a:endParaRPr lang="en-US" sz="1500" dirty="0"/>
          </a:p>
        </p:txBody>
      </p:sp>
      <p:sp>
        <p:nvSpPr>
          <p:cNvPr id="49" name="Text 47"/>
          <p:cNvSpPr txBox="1"/>
          <p:nvPr/>
        </p:nvSpPr>
        <p:spPr>
          <a:xfrm>
            <a:off x="1005840" y="352044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Устраненные регуляторные неопределенности</a:t>
            </a:r>
            <a:endParaRPr lang="en-US" sz="950" dirty="0"/>
          </a:p>
        </p:txBody>
      </p:sp>
      <p:sp>
        <p:nvSpPr>
          <p:cNvPr id="50" name="Text 48"/>
          <p:cNvSpPr txBox="1"/>
          <p:nvPr/>
        </p:nvSpPr>
        <p:spPr>
          <a:xfrm>
            <a:off x="1005840" y="391363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цель — после первых 20</a:t>
            </a:r>
            <a:endParaRPr lang="en-US" sz="850" dirty="0"/>
          </a:p>
        </p:txBody>
      </p:sp>
      <p:sp>
        <p:nvSpPr>
          <p:cNvPr id="51" name="Shape 49"/>
          <p:cNvSpPr/>
          <p:nvPr/>
        </p:nvSpPr>
        <p:spPr>
          <a:xfrm>
            <a:off x="3264408" y="3703320"/>
            <a:ext cx="777240" cy="256032"/>
          </a:xfrm>
          <a:prstGeom prst="roundRect">
            <a:avLst>
              <a:gd name="adj" fmla="val 50000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3264408" y="37033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3"/>
                </a:solidFill>
              </a:rPr>
              <a:t>≈ М5</a:t>
            </a:r>
            <a:endParaRPr lang="en-US" sz="850" dirty="0"/>
          </a:p>
        </p:txBody>
      </p:sp>
      <p:sp>
        <p:nvSpPr>
          <p:cNvPr id="53" name="Shape 51"/>
          <p:cNvSpPr/>
          <p:nvPr/>
        </p:nvSpPr>
        <p:spPr>
          <a:xfrm>
            <a:off x="4279392" y="3456432"/>
            <a:ext cx="3630168" cy="749808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54" name="Shape 52"/>
          <p:cNvSpPr/>
          <p:nvPr/>
        </p:nvSpPr>
        <p:spPr>
          <a:xfrm>
            <a:off x="4279392" y="3456432"/>
            <a:ext cx="73152" cy="7498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55" name="Text 53"/>
          <p:cNvSpPr txBox="1"/>
          <p:nvPr/>
        </p:nvSpPr>
        <p:spPr>
          <a:xfrm>
            <a:off x="4416552" y="3456432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8</a:t>
            </a:r>
            <a:endParaRPr lang="en-US" sz="1500" dirty="0"/>
          </a:p>
        </p:txBody>
      </p:sp>
      <p:sp>
        <p:nvSpPr>
          <p:cNvPr id="56" name="Text 54"/>
          <p:cNvSpPr txBox="1"/>
          <p:nvPr/>
        </p:nvSpPr>
        <p:spPr>
          <a:xfrm>
            <a:off x="4782312" y="352044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Записки о выводах для регулирования</a:t>
            </a:r>
            <a:endParaRPr lang="en-US" sz="950" dirty="0"/>
          </a:p>
        </p:txBody>
      </p:sp>
      <p:sp>
        <p:nvSpPr>
          <p:cNvPr id="57" name="Text 55"/>
          <p:cNvSpPr txBox="1"/>
          <p:nvPr/>
        </p:nvSpPr>
        <p:spPr>
          <a:xfrm>
            <a:off x="4782312" y="391363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все тесты; 60 календарных дней</a:t>
            </a:r>
            <a:endParaRPr lang="en-US" sz="850" dirty="0"/>
          </a:p>
        </p:txBody>
      </p:sp>
      <p:sp>
        <p:nvSpPr>
          <p:cNvPr id="58" name="Shape 56"/>
          <p:cNvSpPr/>
          <p:nvPr/>
        </p:nvSpPr>
        <p:spPr>
          <a:xfrm>
            <a:off x="7040880" y="3703320"/>
            <a:ext cx="777240" cy="256032"/>
          </a:xfrm>
          <a:prstGeom prst="roundRect">
            <a:avLst>
              <a:gd name="adj" fmla="val 50000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59" name="Text 57"/>
          <p:cNvSpPr txBox="1"/>
          <p:nvPr/>
        </p:nvSpPr>
        <p:spPr>
          <a:xfrm>
            <a:off x="7040880" y="37033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3"/>
                </a:solidFill>
              </a:rPr>
              <a:t>≈ М16</a:t>
            </a:r>
            <a:endParaRPr lang="en-US" sz="850" dirty="0"/>
          </a:p>
        </p:txBody>
      </p:sp>
      <p:sp>
        <p:nvSpPr>
          <p:cNvPr id="60" name="Shape 58"/>
          <p:cNvSpPr/>
          <p:nvPr/>
        </p:nvSpPr>
        <p:spPr>
          <a:xfrm>
            <a:off x="8055864" y="3456432"/>
            <a:ext cx="3630168" cy="749808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61" name="Shape 59"/>
          <p:cNvSpPr/>
          <p:nvPr/>
        </p:nvSpPr>
        <p:spPr>
          <a:xfrm>
            <a:off x="8055864" y="3456432"/>
            <a:ext cx="73152" cy="74980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8193024" y="3456432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9</a:t>
            </a:r>
            <a:endParaRPr lang="en-US" sz="1500" dirty="0"/>
          </a:p>
        </p:txBody>
      </p:sp>
      <p:sp>
        <p:nvSpPr>
          <p:cNvPr id="63" name="Text 61"/>
          <p:cNvSpPr txBox="1"/>
          <p:nvPr/>
        </p:nvSpPr>
        <p:spPr>
          <a:xfrm>
            <a:off x="8558784" y="352044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Частные инвестиции</a:t>
            </a:r>
            <a:endParaRPr lang="en-US" sz="950" dirty="0"/>
          </a:p>
        </p:txBody>
      </p:sp>
      <p:sp>
        <p:nvSpPr>
          <p:cNvPr id="64" name="Text 62"/>
          <p:cNvSpPr txBox="1"/>
          <p:nvPr/>
        </p:nvSpPr>
        <p:spPr>
          <a:xfrm>
            <a:off x="8558784" y="391363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только отчетность, без цели</a:t>
            </a:r>
            <a:endParaRPr lang="en-US" sz="850" dirty="0"/>
          </a:p>
        </p:txBody>
      </p:sp>
      <p:sp>
        <p:nvSpPr>
          <p:cNvPr id="65" name="Shape 63"/>
          <p:cNvSpPr/>
          <p:nvPr/>
        </p:nvSpPr>
        <p:spPr>
          <a:xfrm>
            <a:off x="10817352" y="3703320"/>
            <a:ext cx="777240" cy="256032"/>
          </a:xfrm>
          <a:prstGeom prst="roundRect">
            <a:avLst>
              <a:gd name="adj" fmla="val 50000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0817352" y="370332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5"/>
                </a:solidFill>
              </a:rPr>
              <a:t>≈ М30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502920" y="4279392"/>
            <a:ext cx="3630168" cy="749808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68" name="Shape 66"/>
          <p:cNvSpPr/>
          <p:nvPr/>
        </p:nvSpPr>
        <p:spPr>
          <a:xfrm>
            <a:off x="502920" y="4279392"/>
            <a:ext cx="73152" cy="74980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69" name="Text 67"/>
          <p:cNvSpPr txBox="1"/>
          <p:nvPr/>
        </p:nvSpPr>
        <p:spPr>
          <a:xfrm>
            <a:off x="640080" y="4279392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10</a:t>
            </a:r>
            <a:endParaRPr lang="en-US" sz="1500" dirty="0"/>
          </a:p>
        </p:txBody>
      </p:sp>
      <p:sp>
        <p:nvSpPr>
          <p:cNvPr id="70" name="Text 68"/>
          <p:cNvSpPr txBox="1"/>
          <p:nvPr/>
        </p:nvSpPr>
        <p:spPr>
          <a:xfrm>
            <a:off x="1005840" y="434340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Охват иностранных компаний</a:t>
            </a:r>
            <a:endParaRPr lang="en-US" sz="950" dirty="0"/>
          </a:p>
        </p:txBody>
      </p:sp>
      <p:sp>
        <p:nvSpPr>
          <p:cNvPr id="71" name="Text 69"/>
          <p:cNvSpPr txBox="1"/>
          <p:nvPr/>
        </p:nvSpPr>
        <p:spPr>
          <a:xfrm>
            <a:off x="1005840" y="473659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цель — после проверки спроса</a:t>
            </a:r>
            <a:endParaRPr lang="en-US" sz="850" dirty="0"/>
          </a:p>
        </p:txBody>
      </p:sp>
      <p:sp>
        <p:nvSpPr>
          <p:cNvPr id="72" name="Shape 70"/>
          <p:cNvSpPr/>
          <p:nvPr/>
        </p:nvSpPr>
        <p:spPr>
          <a:xfrm>
            <a:off x="3264408" y="4526280"/>
            <a:ext cx="777240" cy="256032"/>
          </a:xfrm>
          <a:prstGeom prst="roundRect">
            <a:avLst>
              <a:gd name="adj" fmla="val 50000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73" name="Text 71"/>
          <p:cNvSpPr txBox="1"/>
          <p:nvPr/>
        </p:nvSpPr>
        <p:spPr>
          <a:xfrm>
            <a:off x="3264408" y="45262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5"/>
                </a:solidFill>
              </a:rPr>
              <a:t>≈ М5</a:t>
            </a:r>
            <a:endParaRPr lang="en-US" sz="850" dirty="0"/>
          </a:p>
        </p:txBody>
      </p:sp>
      <p:sp>
        <p:nvSpPr>
          <p:cNvPr id="74" name="Shape 72"/>
          <p:cNvSpPr/>
          <p:nvPr/>
        </p:nvSpPr>
        <p:spPr>
          <a:xfrm>
            <a:off x="4279392" y="4279392"/>
            <a:ext cx="3630168" cy="749808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75" name="Shape 73"/>
          <p:cNvSpPr/>
          <p:nvPr/>
        </p:nvSpPr>
        <p:spPr>
          <a:xfrm>
            <a:off x="4279392" y="4279392"/>
            <a:ext cx="73152" cy="749808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76" name="Text 74"/>
          <p:cNvSpPr txBox="1"/>
          <p:nvPr/>
        </p:nvSpPr>
        <p:spPr>
          <a:xfrm>
            <a:off x="4416552" y="4279392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3"/>
                </a:solidFill>
              </a:rPr>
              <a:t>11</a:t>
            </a:r>
            <a:endParaRPr lang="en-US" sz="1500" dirty="0"/>
          </a:p>
        </p:txBody>
      </p:sp>
      <p:sp>
        <p:nvSpPr>
          <p:cNvPr id="77" name="Text 75"/>
          <p:cNvSpPr txBox="1"/>
          <p:nvPr/>
        </p:nvSpPr>
        <p:spPr>
          <a:xfrm>
            <a:off x="4782312" y="434340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Трансграничные эксперименты</a:t>
            </a:r>
            <a:endParaRPr lang="en-US" sz="950" dirty="0"/>
          </a:p>
        </p:txBody>
      </p:sp>
      <p:sp>
        <p:nvSpPr>
          <p:cNvPr id="78" name="Text 76"/>
          <p:cNvSpPr txBox="1"/>
          <p:nvPr/>
        </p:nvSpPr>
        <p:spPr>
          <a:xfrm>
            <a:off x="4782312" y="473659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в 1-й год не ожидаются</a:t>
            </a:r>
            <a:endParaRPr lang="en-US" sz="850" dirty="0"/>
          </a:p>
        </p:txBody>
      </p:sp>
      <p:sp>
        <p:nvSpPr>
          <p:cNvPr id="79" name="Shape 77"/>
          <p:cNvSpPr/>
          <p:nvPr/>
        </p:nvSpPr>
        <p:spPr>
          <a:xfrm>
            <a:off x="7040880" y="4526280"/>
            <a:ext cx="777240" cy="256032"/>
          </a:xfrm>
          <a:prstGeom prst="roundRect">
            <a:avLst>
              <a:gd name="adj" fmla="val 50000"/>
            </a:avLst>
          </a:prstGeom>
          <a:solidFill>
            <a:schemeClr val="accent3">
              <a:alpha val="12000"/>
            </a:schemeClr>
          </a:solidFill>
          <a:ln/>
        </p:spPr>
      </p:sp>
      <p:sp>
        <p:nvSpPr>
          <p:cNvPr id="80" name="Text 78"/>
          <p:cNvSpPr txBox="1"/>
          <p:nvPr/>
        </p:nvSpPr>
        <p:spPr>
          <a:xfrm>
            <a:off x="7040880" y="45262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3"/>
                </a:solidFill>
              </a:rPr>
              <a:t>2-й год</a:t>
            </a:r>
            <a:endParaRPr lang="en-US" sz="850" dirty="0"/>
          </a:p>
        </p:txBody>
      </p:sp>
      <p:sp>
        <p:nvSpPr>
          <p:cNvPr id="81" name="Shape 79"/>
          <p:cNvSpPr/>
          <p:nvPr/>
        </p:nvSpPr>
        <p:spPr>
          <a:xfrm>
            <a:off x="8055864" y="4279392"/>
            <a:ext cx="3630168" cy="749808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82" name="Shape 80"/>
          <p:cNvSpPr/>
          <p:nvPr/>
        </p:nvSpPr>
        <p:spPr>
          <a:xfrm>
            <a:off x="8055864" y="4279392"/>
            <a:ext cx="73152" cy="74980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83" name="Text 81"/>
          <p:cNvSpPr txBox="1"/>
          <p:nvPr/>
        </p:nvSpPr>
        <p:spPr>
          <a:xfrm>
            <a:off x="8193024" y="4279392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12</a:t>
            </a:r>
            <a:endParaRPr lang="en-US" sz="1500" dirty="0"/>
          </a:p>
        </p:txBody>
      </p:sp>
      <p:sp>
        <p:nvSpPr>
          <p:cNvPr id="84" name="Text 82"/>
          <p:cNvSpPr txBox="1"/>
          <p:nvPr/>
        </p:nvSpPr>
        <p:spPr>
          <a:xfrm>
            <a:off x="8558784" y="434340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Отзывы участников</a:t>
            </a:r>
            <a:endParaRPr lang="en-US" sz="950" dirty="0"/>
          </a:p>
        </p:txBody>
      </p:sp>
      <p:sp>
        <p:nvSpPr>
          <p:cNvPr id="85" name="Text 83"/>
          <p:cNvSpPr txBox="1"/>
          <p:nvPr/>
        </p:nvSpPr>
        <p:spPr>
          <a:xfrm>
            <a:off x="8558784" y="473659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распределение и n; динамика по когортам</a:t>
            </a:r>
            <a:endParaRPr lang="en-US" sz="850" dirty="0"/>
          </a:p>
        </p:txBody>
      </p:sp>
      <p:sp>
        <p:nvSpPr>
          <p:cNvPr id="86" name="Shape 84"/>
          <p:cNvSpPr/>
          <p:nvPr/>
        </p:nvSpPr>
        <p:spPr>
          <a:xfrm>
            <a:off x="10817352" y="4526280"/>
            <a:ext cx="777240" cy="256032"/>
          </a:xfrm>
          <a:prstGeom prst="roundRect">
            <a:avLst>
              <a:gd name="adj" fmla="val 50000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87" name="Text 85"/>
          <p:cNvSpPr txBox="1"/>
          <p:nvPr/>
        </p:nvSpPr>
        <p:spPr>
          <a:xfrm>
            <a:off x="10817352" y="452628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4"/>
                </a:solidFill>
              </a:rPr>
              <a:t>≈ М14</a:t>
            </a:r>
            <a:endParaRPr lang="en-US" sz="850" dirty="0"/>
          </a:p>
        </p:txBody>
      </p:sp>
      <p:sp>
        <p:nvSpPr>
          <p:cNvPr id="88" name="Shape 86"/>
          <p:cNvSpPr/>
          <p:nvPr/>
        </p:nvSpPr>
        <p:spPr>
          <a:xfrm>
            <a:off x="502920" y="5102352"/>
            <a:ext cx="3630168" cy="749808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89" name="Shape 87"/>
          <p:cNvSpPr/>
          <p:nvPr/>
        </p:nvSpPr>
        <p:spPr>
          <a:xfrm>
            <a:off x="502920" y="5102352"/>
            <a:ext cx="73152" cy="749808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90" name="Text 88"/>
          <p:cNvSpPr txBox="1"/>
          <p:nvPr/>
        </p:nvSpPr>
        <p:spPr>
          <a:xfrm>
            <a:off x="640080" y="5102352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5"/>
                </a:solidFill>
              </a:rPr>
              <a:t>13</a:t>
            </a:r>
            <a:endParaRPr lang="en-US" sz="1500" dirty="0"/>
          </a:p>
        </p:txBody>
      </p:sp>
      <p:sp>
        <p:nvSpPr>
          <p:cNvPr id="91" name="Text 89"/>
          <p:cNvSpPr txBox="1"/>
          <p:nvPr/>
        </p:nvSpPr>
        <p:spPr>
          <a:xfrm>
            <a:off x="1005840" y="516636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Экономия затрат и времени</a:t>
            </a:r>
            <a:endParaRPr lang="en-US" sz="950" dirty="0"/>
          </a:p>
        </p:txBody>
      </p:sp>
      <p:sp>
        <p:nvSpPr>
          <p:cNvPr id="92" name="Text 90"/>
          <p:cNvSpPr txBox="1"/>
          <p:nvPr/>
        </p:nvSpPr>
        <p:spPr>
          <a:xfrm>
            <a:off x="1005840" y="555955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оценка участника; без экстраполяции</a:t>
            </a:r>
            <a:endParaRPr lang="en-US" sz="850" dirty="0"/>
          </a:p>
        </p:txBody>
      </p:sp>
      <p:sp>
        <p:nvSpPr>
          <p:cNvPr id="93" name="Shape 91"/>
          <p:cNvSpPr/>
          <p:nvPr/>
        </p:nvSpPr>
        <p:spPr>
          <a:xfrm>
            <a:off x="3264408" y="5349240"/>
            <a:ext cx="777240" cy="256032"/>
          </a:xfrm>
          <a:prstGeom prst="roundRect">
            <a:avLst>
              <a:gd name="adj" fmla="val 50000"/>
            </a:avLst>
          </a:prstGeom>
          <a:solidFill>
            <a:schemeClr val="accent5">
              <a:alpha val="12000"/>
            </a:schemeClr>
          </a:solidFill>
          <a:ln/>
        </p:spPr>
      </p:sp>
      <p:sp>
        <p:nvSpPr>
          <p:cNvPr id="94" name="Text 92"/>
          <p:cNvSpPr txBox="1"/>
          <p:nvPr/>
        </p:nvSpPr>
        <p:spPr>
          <a:xfrm>
            <a:off x="3264408" y="53492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5"/>
                </a:solidFill>
              </a:rPr>
              <a:t>≈ М14</a:t>
            </a:r>
            <a:endParaRPr lang="en-US" sz="850" dirty="0"/>
          </a:p>
        </p:txBody>
      </p:sp>
      <p:sp>
        <p:nvSpPr>
          <p:cNvPr id="95" name="Shape 93"/>
          <p:cNvSpPr/>
          <p:nvPr/>
        </p:nvSpPr>
        <p:spPr>
          <a:xfrm>
            <a:off x="4279392" y="5102352"/>
            <a:ext cx="3630168" cy="749808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96" name="Shape 94"/>
          <p:cNvSpPr/>
          <p:nvPr/>
        </p:nvSpPr>
        <p:spPr>
          <a:xfrm>
            <a:off x="4279392" y="5102352"/>
            <a:ext cx="73152" cy="749808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97" name="Text 95"/>
          <p:cNvSpPr txBox="1"/>
          <p:nvPr/>
        </p:nvSpPr>
        <p:spPr>
          <a:xfrm>
            <a:off x="4416552" y="5102352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4"/>
                </a:solidFill>
              </a:rPr>
              <a:t>14</a:t>
            </a:r>
            <a:endParaRPr lang="en-US" sz="1500" dirty="0"/>
          </a:p>
        </p:txBody>
      </p:sp>
      <p:sp>
        <p:nvSpPr>
          <p:cNvPr id="98" name="Text 96"/>
          <p:cNvSpPr txBox="1"/>
          <p:nvPr/>
        </p:nvSpPr>
        <p:spPr>
          <a:xfrm>
            <a:off x="4782312" y="516636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Инциденты с ущербом</a:t>
            </a:r>
            <a:endParaRPr lang="en-US" sz="950" dirty="0"/>
          </a:p>
        </p:txBody>
      </p:sp>
      <p:sp>
        <p:nvSpPr>
          <p:cNvPr id="99" name="Text 97"/>
          <p:cNvSpPr txBox="1"/>
          <p:nvPr/>
        </p:nvSpPr>
        <p:spPr>
          <a:xfrm>
            <a:off x="4782312" y="555955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порог — в системе управления рисками</a:t>
            </a:r>
            <a:endParaRPr lang="en-US" sz="850" dirty="0"/>
          </a:p>
        </p:txBody>
      </p:sp>
      <p:sp>
        <p:nvSpPr>
          <p:cNvPr id="100" name="Shape 98"/>
          <p:cNvSpPr/>
          <p:nvPr/>
        </p:nvSpPr>
        <p:spPr>
          <a:xfrm>
            <a:off x="7040880" y="5349240"/>
            <a:ext cx="777240" cy="256032"/>
          </a:xfrm>
          <a:prstGeom prst="roundRect">
            <a:avLst>
              <a:gd name="adj" fmla="val 50000"/>
            </a:avLst>
          </a:prstGeom>
          <a:solidFill>
            <a:schemeClr val="accent4">
              <a:alpha val="12000"/>
            </a:schemeClr>
          </a:solidFill>
          <a:ln/>
        </p:spPr>
      </p:sp>
      <p:sp>
        <p:nvSpPr>
          <p:cNvPr id="101" name="Text 99"/>
          <p:cNvSpPr txBox="1"/>
          <p:nvPr/>
        </p:nvSpPr>
        <p:spPr>
          <a:xfrm>
            <a:off x="7040880" y="53492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4"/>
                </a:solidFill>
              </a:rPr>
              <a:t>М6</a:t>
            </a:r>
            <a:endParaRPr lang="en-US" sz="850" dirty="0"/>
          </a:p>
        </p:txBody>
      </p:sp>
      <p:sp>
        <p:nvSpPr>
          <p:cNvPr id="102" name="Shape 100"/>
          <p:cNvSpPr/>
          <p:nvPr/>
        </p:nvSpPr>
        <p:spPr>
          <a:xfrm>
            <a:off x="8055864" y="5102352"/>
            <a:ext cx="3630168" cy="749808"/>
          </a:xfrm>
          <a:prstGeom prst="roundRect">
            <a:avLst>
              <a:gd name="adj" fmla="val 7317"/>
            </a:avLst>
          </a:prstGeom>
          <a:solidFill>
            <a:schemeClr val="bg2"/>
          </a:solidFill>
          <a:ln/>
        </p:spPr>
      </p:sp>
      <p:sp>
        <p:nvSpPr>
          <p:cNvPr id="103" name="Shape 101"/>
          <p:cNvSpPr/>
          <p:nvPr/>
        </p:nvSpPr>
        <p:spPr>
          <a:xfrm>
            <a:off x="8055864" y="5102352"/>
            <a:ext cx="73152" cy="749808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04" name="Text 102"/>
          <p:cNvSpPr txBox="1"/>
          <p:nvPr/>
        </p:nvSpPr>
        <p:spPr>
          <a:xfrm>
            <a:off x="8193024" y="5102352"/>
            <a:ext cx="347472" cy="7498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500" b="1" dirty="0">
                <a:solidFill>
                  <a:schemeClr val="accent1"/>
                </a:solidFill>
              </a:rPr>
              <a:t>15</a:t>
            </a:r>
            <a:endParaRPr lang="en-US" sz="1500" dirty="0"/>
          </a:p>
        </p:txBody>
      </p:sp>
      <p:sp>
        <p:nvSpPr>
          <p:cNvPr id="105" name="Text 103"/>
          <p:cNvSpPr txBox="1"/>
          <p:nvPr/>
        </p:nvSpPr>
        <p:spPr>
          <a:xfrm>
            <a:off x="8558784" y="5166360"/>
            <a:ext cx="22128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Срок согласий регуляторов</a:t>
            </a:r>
            <a:endParaRPr lang="en-US" sz="950" dirty="0"/>
          </a:p>
        </p:txBody>
      </p:sp>
      <p:sp>
        <p:nvSpPr>
          <p:cNvPr id="106" name="Text 104"/>
          <p:cNvSpPr txBox="1"/>
          <p:nvPr/>
        </p:nvSpPr>
        <p:spPr>
          <a:xfrm>
            <a:off x="8558784" y="5559552"/>
            <a:ext cx="22128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850" dirty="0">
                <a:solidFill>
                  <a:schemeClr val="tx2"/>
                </a:solidFill>
              </a:rPr>
              <a:t>медиана по каждому органу; срок — в MoU</a:t>
            </a:r>
            <a:endParaRPr lang="en-US" sz="850" dirty="0"/>
          </a:p>
        </p:txBody>
      </p:sp>
      <p:sp>
        <p:nvSpPr>
          <p:cNvPr id="107" name="Shape 105"/>
          <p:cNvSpPr/>
          <p:nvPr/>
        </p:nvSpPr>
        <p:spPr>
          <a:xfrm>
            <a:off x="10817352" y="5349240"/>
            <a:ext cx="777240" cy="256032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/>
        </p:spPr>
      </p:sp>
      <p:sp>
        <p:nvSpPr>
          <p:cNvPr id="108" name="Text 106"/>
          <p:cNvSpPr txBox="1"/>
          <p:nvPr/>
        </p:nvSpPr>
        <p:spPr>
          <a:xfrm>
            <a:off x="10817352" y="5349240"/>
            <a:ext cx="777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50" b="1" dirty="0">
                <a:solidFill>
                  <a:schemeClr val="accent1"/>
                </a:solidFill>
              </a:rPr>
              <a:t>≈ М5</a:t>
            </a:r>
            <a:endParaRPr lang="en-US" sz="850" dirty="0"/>
          </a:p>
        </p:txBody>
      </p:sp>
      <p:sp>
        <p:nvSpPr>
          <p:cNvPr id="109" name="Shape 107"/>
          <p:cNvSpPr/>
          <p:nvPr/>
        </p:nvSpPr>
        <p:spPr>
          <a:xfrm>
            <a:off x="502920" y="6062472"/>
            <a:ext cx="146304" cy="146304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110" name="Text 108"/>
          <p:cNvSpPr txBox="1"/>
          <p:nvPr/>
        </p:nvSpPr>
        <p:spPr>
          <a:xfrm>
            <a:off x="704088" y="60167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Скорость</a:t>
            </a:r>
            <a:endParaRPr lang="en-US" sz="900" dirty="0"/>
          </a:p>
        </p:txBody>
      </p:sp>
      <p:sp>
        <p:nvSpPr>
          <p:cNvPr id="111" name="Shape 109"/>
          <p:cNvSpPr/>
          <p:nvPr/>
        </p:nvSpPr>
        <p:spPr>
          <a:xfrm>
            <a:off x="1271016" y="6062472"/>
            <a:ext cx="146304" cy="146304"/>
          </a:xfrm>
          <a:prstGeom prst="rect">
            <a:avLst/>
          </a:prstGeom>
          <a:solidFill>
            <a:schemeClr val="accent2"/>
          </a:solidFill>
          <a:ln/>
        </p:spPr>
      </p:sp>
      <p:sp>
        <p:nvSpPr>
          <p:cNvPr id="112" name="Text 110"/>
          <p:cNvSpPr txBox="1"/>
          <p:nvPr/>
        </p:nvSpPr>
        <p:spPr>
          <a:xfrm>
            <a:off x="1472184" y="60167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Пропускная способность</a:t>
            </a:r>
            <a:endParaRPr lang="en-US" sz="900" dirty="0"/>
          </a:p>
        </p:txBody>
      </p:sp>
      <p:sp>
        <p:nvSpPr>
          <p:cNvPr id="113" name="Shape 111"/>
          <p:cNvSpPr/>
          <p:nvPr/>
        </p:nvSpPr>
        <p:spPr>
          <a:xfrm>
            <a:off x="2871216" y="6062472"/>
            <a:ext cx="146304" cy="146304"/>
          </a:xfrm>
          <a:prstGeom prst="rect">
            <a:avLst/>
          </a:prstGeom>
          <a:solidFill>
            <a:schemeClr val="accent5"/>
          </a:solidFill>
          <a:ln/>
        </p:spPr>
      </p:sp>
      <p:sp>
        <p:nvSpPr>
          <p:cNvPr id="114" name="Text 112"/>
          <p:cNvSpPr txBox="1"/>
          <p:nvPr/>
        </p:nvSpPr>
        <p:spPr>
          <a:xfrm>
            <a:off x="3072384" y="60167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Итоги</a:t>
            </a:r>
            <a:endParaRPr lang="en-US" sz="900" dirty="0"/>
          </a:p>
        </p:txBody>
      </p:sp>
      <p:sp>
        <p:nvSpPr>
          <p:cNvPr id="115" name="Shape 113"/>
          <p:cNvSpPr/>
          <p:nvPr/>
        </p:nvSpPr>
        <p:spPr>
          <a:xfrm>
            <a:off x="3461004" y="6062472"/>
            <a:ext cx="146304" cy="146304"/>
          </a:xfrm>
          <a:prstGeom prst="rect">
            <a:avLst/>
          </a:prstGeom>
          <a:solidFill>
            <a:schemeClr val="accent3"/>
          </a:solidFill>
          <a:ln/>
        </p:spPr>
      </p:sp>
      <p:sp>
        <p:nvSpPr>
          <p:cNvPr id="116" name="Text 114"/>
          <p:cNvSpPr txBox="1"/>
          <p:nvPr/>
        </p:nvSpPr>
        <p:spPr>
          <a:xfrm>
            <a:off x="3662172" y="60167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Регуляторный эффект</a:t>
            </a:r>
            <a:endParaRPr lang="en-US" sz="900" dirty="0"/>
          </a:p>
        </p:txBody>
      </p:sp>
      <p:sp>
        <p:nvSpPr>
          <p:cNvPr id="117" name="Shape 115"/>
          <p:cNvSpPr/>
          <p:nvPr/>
        </p:nvSpPr>
        <p:spPr>
          <a:xfrm>
            <a:off x="4882896" y="6062472"/>
            <a:ext cx="146304" cy="146304"/>
          </a:xfrm>
          <a:prstGeom prst="rect">
            <a:avLst/>
          </a:prstGeom>
          <a:solidFill>
            <a:schemeClr val="accent4"/>
          </a:solidFill>
          <a:ln/>
        </p:spPr>
      </p:sp>
      <p:sp>
        <p:nvSpPr>
          <p:cNvPr id="118" name="Text 116"/>
          <p:cNvSpPr txBox="1"/>
          <p:nvPr/>
        </p:nvSpPr>
        <p:spPr>
          <a:xfrm>
            <a:off x="5084064" y="6016752"/>
            <a:ext cx="21031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Безопасность и качество</a:t>
            </a:r>
            <a:endParaRPr lang="en-US" sz="900" dirty="0"/>
          </a:p>
        </p:txBody>
      </p:sp>
      <p:sp>
        <p:nvSpPr>
          <p:cNvPr id="119" name="Text 117"/>
          <p:cNvSpPr txBox="1"/>
          <p:nvPr/>
        </p:nvSpPr>
        <p:spPr>
          <a:xfrm>
            <a:off x="8686800" y="6016752"/>
            <a:ext cx="299923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Справа — месяц первых данных</a:t>
            </a:r>
            <a:endParaRPr lang="en-US" sz="900" dirty="0"/>
          </a:p>
        </p:txBody>
      </p:sp>
      <p:sp>
        <p:nvSpPr>
          <p:cNvPr id="120" name="source"/>
          <p:cNvSpPr txBox="1"/>
          <p:nvPr/>
        </p:nvSpPr>
        <p:spPr>
          <a:xfrm>
            <a:off x="502920" y="6400800"/>
            <a:ext cx="85039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chemeClr val="tx2"/>
                </a:solidFill>
              </a:rPr>
              <a:t>Раздел 8.4 и Иллюстрация 24 отчета. MAS: 15 из 19 — только для справки, не цель.</a:t>
            </a:r>
            <a:endParaRPr lang="en-US" sz="800" dirty="0"/>
          </a:p>
        </p:txBody>
      </p:sp>
      <p:sp>
        <p:nvSpPr>
          <p:cNvPr id="121" name="Text 119"/>
          <p:cNvSpPr txBox="1"/>
          <p:nvPr/>
        </p:nvSpPr>
        <p:spPr>
          <a:xfrm>
            <a:off x="6297527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122" name="go:nav">
            <a:hlinkClick r:id="rId1" tooltip="Раздел: Меню" action="ppaction://hlinksldjump"/>
          </p:cNvPr>
          <p:cNvSpPr/>
          <p:nvPr/>
        </p:nvSpPr>
        <p:spPr>
          <a:xfrm>
            <a:off x="6297527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3" name="Text 121"/>
          <p:cNvSpPr txBox="1"/>
          <p:nvPr/>
        </p:nvSpPr>
        <p:spPr>
          <a:xfrm>
            <a:off x="6828260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124" name="go:key5">
            <a:hlinkClick r:id="rId2" tooltip="Раздел: Главное" action="ppaction://hlinksldjump"/>
          </p:cNvPr>
          <p:cNvSpPr/>
          <p:nvPr/>
        </p:nvSpPr>
        <p:spPr>
          <a:xfrm>
            <a:off x="6828260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5" name="Text 123"/>
          <p:cNvSpPr txBox="1"/>
          <p:nvPr/>
        </p:nvSpPr>
        <p:spPr>
          <a:xfrm>
            <a:off x="7523077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126" name="go:numbers">
            <a:hlinkClick r:id="rId3" tooltip="Раздел: Мир" action="ppaction://hlinksldjump"/>
          </p:cNvPr>
          <p:cNvSpPr/>
          <p:nvPr/>
        </p:nvSpPr>
        <p:spPr>
          <a:xfrm>
            <a:off x="7523077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7" name="Text 125"/>
          <p:cNvSpPr txBox="1"/>
          <p:nvPr/>
        </p:nvSpPr>
        <p:spPr>
          <a:xfrm>
            <a:off x="7957290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Кейсы</a:t>
            </a:r>
            <a:endParaRPr lang="en-US" sz="950" dirty="0"/>
          </a:p>
        </p:txBody>
      </p:sp>
      <p:sp>
        <p:nvSpPr>
          <p:cNvPr id="128" name="go:casemap">
            <a:hlinkClick r:id="rId4" tooltip="Раздел: Кейсы" action="ppaction://hlinksldjump"/>
          </p:cNvPr>
          <p:cNvSpPr/>
          <p:nvPr/>
        </p:nvSpPr>
        <p:spPr>
          <a:xfrm>
            <a:off x="7957290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9" name="Text 127"/>
          <p:cNvSpPr txBox="1"/>
          <p:nvPr/>
        </p:nvSpPr>
        <p:spPr>
          <a:xfrm>
            <a:off x="8553174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130" name="go:ecosystem">
            <a:hlinkClick r:id="rId5" tooltip="Раздел: Модель" action="ppaction://hlinksldjump"/>
          </p:cNvPr>
          <p:cNvSpPr/>
          <p:nvPr/>
        </p:nvSpPr>
        <p:spPr>
          <a:xfrm>
            <a:off x="8553174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1" name="Text 129"/>
          <p:cNvSpPr txBox="1"/>
          <p:nvPr/>
        </p:nvSpPr>
        <p:spPr>
          <a:xfrm>
            <a:off x="9182840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132" name="go:path">
            <a:hlinkClick r:id="rId6" tooltip="Раздел: Этапы" action="ppaction://hlinksldjump"/>
          </p:cNvPr>
          <p:cNvSpPr/>
          <p:nvPr/>
        </p:nvSpPr>
        <p:spPr>
          <a:xfrm>
            <a:off x="9182840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3" name="Text 131"/>
          <p:cNvSpPr txBox="1"/>
          <p:nvPr/>
        </p:nvSpPr>
        <p:spPr>
          <a:xfrm>
            <a:off x="9778724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134" name="go:criteria">
            <a:hlinkClick r:id="rId7" tooltip="Раздел: Защита" action="ppaction://hlinksldjump"/>
          </p:cNvPr>
          <p:cNvSpPr/>
          <p:nvPr/>
        </p:nvSpPr>
        <p:spPr>
          <a:xfrm>
            <a:off x="9778724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5" name="Text 133"/>
          <p:cNvSpPr txBox="1"/>
          <p:nvPr/>
        </p:nvSpPr>
        <p:spPr>
          <a:xfrm>
            <a:off x="10439759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136" name="go:pilots">
            <a:hlinkClick r:id="rId8" tooltip="Раздел: Пилоты" action="ppaction://hlinksldjump"/>
          </p:cNvPr>
          <p:cNvSpPr/>
          <p:nvPr/>
        </p:nvSpPr>
        <p:spPr>
          <a:xfrm>
            <a:off x="10439759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37" name="Shape 135"/>
          <p:cNvSpPr/>
          <p:nvPr/>
        </p:nvSpPr>
        <p:spPr>
          <a:xfrm>
            <a:off x="11100794" y="219456"/>
            <a:ext cx="587982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138" name="Text 136"/>
          <p:cNvSpPr txBox="1"/>
          <p:nvPr/>
        </p:nvSpPr>
        <p:spPr>
          <a:xfrm>
            <a:off x="11100794" y="219456"/>
            <a:ext cx="587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План</a:t>
            </a:r>
            <a:endParaRPr lang="en-US" sz="950" dirty="0"/>
          </a:p>
        </p:txBody>
      </p:sp>
      <p:sp>
        <p:nvSpPr>
          <p:cNvPr id="139" name="go:plan90">
            <a:hlinkClick r:id="rId9" tooltip="Раздел: План" action="ppaction://hlinksldjump"/>
          </p:cNvPr>
          <p:cNvSpPr/>
          <p:nvPr/>
        </p:nvSpPr>
        <p:spPr>
          <a:xfrm>
            <a:off x="11100794" y="219456"/>
            <a:ext cx="587982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34</a:t>
            </a:fld>
            <a:endParaRPr lang="en-US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Матрица решений D1–D12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Правовая верификация — к Дню 20; затем операционная модель и полномочия по допуску — к Дню 30</a:t>
            </a:r>
            <a:endParaRPr lang="en-US" sz="1400" dirty="0"/>
          </a:p>
        </p:txBody>
      </p:sp>
      <p:graphicFrame>
        <p:nvGraphicFramePr>
          <p:cNvPr id="36" name="table decisions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02920" y="1810512"/>
          <a:ext cx="11183112" cy="914400"/>
        </p:xfrm>
        <a:graphic>
          <a:graphicData uri="http://schemas.openxmlformats.org/drawingml/2006/table">
            <a:tbl>
              <a:tblPr/>
              <a:tblGrid>
                <a:gridCol w="502920"/>
                <a:gridCol w="2194560"/>
                <a:gridCol w="5120640"/>
                <a:gridCol w="2103120"/>
                <a:gridCol w="1261872"/>
              </a:tblGrid>
              <a:tr h="30175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#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66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Решение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66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Рекомендуемый вариант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66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Кто решает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665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</a:rPr>
                        <a:t>Срок</a:t>
                      </a:r>
                      <a:endParaRPr lang="en-US" sz="90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2665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D1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2925"/>
                          </a:solidFill>
                        </a:rPr>
                        <a:t>Операционная модель и очередность треков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2925"/>
                          </a:solidFill>
                        </a:rPr>
                        <a:t>Два трека при запуске: разъяснения — в День запуска, набор в полноформатную песочницу — М4; Экспресс и прототипирование — после когорты 1 (≈ М13–М14); трансграничный — 2-й год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2925"/>
                          </a:solidFill>
                        </a:rPr>
                        <a:t>Управляющий совет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64E3B"/>
                          </a:solidFill>
                        </a:rPr>
                        <a:t>День 30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D2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2925"/>
                          </a:solidFill>
                        </a:rPr>
                        <a:t>Полномочия по допуску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2925"/>
                          </a:solidFill>
                        </a:rPr>
                        <a:t>Делегировать Комитету, если подтвердят юристы; иначе — решения Совета в заочном порядке; порядок работы Комитета, включая срочное приостановление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2925"/>
                          </a:solidFill>
                        </a:rPr>
                        <a:t>Управляющий совет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64E3B"/>
                          </a:solidFill>
                        </a:rPr>
                        <a:t>День 30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D3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2925"/>
                          </a:solidFill>
                        </a:rPr>
                        <a:t>Секретариат, штат и бюджет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2925"/>
                          </a:solidFill>
                        </a:rPr>
                        <a:t>~6 человек во главе с руководителем песочницы (плановое допущение); смета к Дню 45; без платы в 1-й год; два транша финансирования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2925"/>
                          </a:solidFill>
                        </a:rPr>
                        <a:t>Совет — смета; Исп. директор — назначения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64E3B"/>
                          </a:solidFill>
                        </a:rPr>
                        <a:t>День 45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D4a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2925"/>
                          </a:solidFill>
                        </a:rPr>
                        <a:t>Правовая верификация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2925"/>
                          </a:solidFill>
                        </a:rPr>
                        <a:t>Юристы изучают официальные тексты до разработки любых правил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2925"/>
                          </a:solidFill>
                        </a:rPr>
                        <a:t>Главный юрисконсульт по поручению Председателя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64E3B"/>
                          </a:solidFill>
                        </a:rPr>
                        <a:t>День 20 / 25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64E3B"/>
                          </a:solidFill>
                        </a:rPr>
                        <a:t>D4b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2925"/>
                          </a:solidFill>
                        </a:rPr>
                        <a:t>Правила песочницы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2925"/>
                          </a:solidFill>
                        </a:rPr>
                        <a:t>Проект для консультаций — День 75; окончательные Правила — М4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2925"/>
                          </a:solidFill>
                        </a:rPr>
                        <a:t>Управляющий совет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64E3B"/>
                          </a:solidFill>
                        </a:rPr>
                        <a:t>День 75 / М4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64E3B"/>
                          </a:solidFill>
                        </a:rPr>
                        <a:t>D5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2925"/>
                          </a:solidFill>
                        </a:rPr>
                        <a:t>Меры защиты, ответственность, комплаенс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2925"/>
                          </a:solidFill>
                        </a:rPr>
                        <a:t>Лимиты, информирование, стоп-лосс и инциденты в каждом тесте; ответственность участника; проверка благонадежности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2925"/>
                          </a:solidFill>
                        </a:rPr>
                        <a:t>Управляющий совет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64E3B"/>
                          </a:solidFill>
                        </a:rPr>
                        <a:t>День 60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D6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2925"/>
                          </a:solidFill>
                        </a:rPr>
                        <a:t>Портфель пилотов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2925"/>
                          </a:solidFill>
                        </a:rPr>
                        <a:t>Критерии — сейчас; P1–P3 и P4 — День 75; допуск — Комитетом после принятия Правил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2925"/>
                          </a:solidFill>
                        </a:rPr>
                        <a:t>Совет — портфель; Комитет — допуск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64E3B"/>
                          </a:solidFill>
                        </a:rPr>
                        <a:t>День 75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64E3B"/>
                          </a:solidFill>
                        </a:rPr>
                        <a:t>D7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2925"/>
                          </a:solidFill>
                        </a:rPr>
                        <a:t>Цифровая платформа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2925"/>
                          </a:solidFill>
                        </a:rPr>
                        <a:t>MVP; открытый тендер; сначала синтетические данные; временная система ведения дел к запуску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2925"/>
                          </a:solidFill>
                        </a:rPr>
                        <a:t>Исполнительный директор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64E3B"/>
                          </a:solidFill>
                        </a:rPr>
                        <a:t>День 60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D8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2925"/>
                          </a:solidFill>
                        </a:rPr>
                        <a:t>Международные партнеры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2925"/>
                          </a:solidFill>
                        </a:rPr>
                        <a:t>WEF — организация диалога (W1); прямые MoU с регуляторами; условия W1–W5 и 1–6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2925"/>
                          </a:solidFill>
                        </a:rPr>
                        <a:t>Совет; подписывает Председатель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64E3B"/>
                          </a:solidFill>
                        </a:rPr>
                        <a:t>День 75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64E3B"/>
                          </a:solidFill>
                        </a:rPr>
                        <a:t>D9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2925"/>
                          </a:solidFill>
                        </a:rPr>
                        <a:t>Политика публикации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2925"/>
                          </a:solidFill>
                        </a:rPr>
                        <a:t>Сроки и их соблюдение, обезличенный реестр дел, отчеты о выходе и выводах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2925"/>
                          </a:solidFill>
                        </a:rPr>
                        <a:t>Управляющий совет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64E3B"/>
                          </a:solidFill>
                        </a:rPr>
                        <a:t>День 60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64E3B"/>
                          </a:solidFill>
                        </a:rPr>
                        <a:t>D10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2925"/>
                          </a:solidFill>
                        </a:rPr>
                        <a:t>Система KPI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2925"/>
                          </a:solidFill>
                        </a:rPr>
                        <a:t>Карта из 15 показателей; базовые значения — после когорты 1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2925"/>
                          </a:solidFill>
                        </a:rPr>
                        <a:t>Исполнительный директор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64E3B"/>
                          </a:solidFill>
                        </a:rPr>
                        <a:t>День 75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FFFFFF"/>
                          </a:solidFill>
                        </a:rPr>
                        <a:t>D11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59669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2925"/>
                          </a:solidFill>
                        </a:rPr>
                        <a:t>Английская редакция отчета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2925"/>
                          </a:solidFill>
                        </a:rPr>
                        <a:t>Выпуск после шагов 1–3 плана верификации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2925"/>
                          </a:solidFill>
                        </a:rPr>
                        <a:t>Председатель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64E3B"/>
                          </a:solidFill>
                        </a:rPr>
                        <a:t>Дата — на заседании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3017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850" b="1" dirty="0">
                          <a:solidFill>
                            <a:srgbClr val="064E3B"/>
                          </a:solidFill>
                        </a:rPr>
                        <a:t>D12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1F6F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F2925"/>
                          </a:solidFill>
                        </a:rPr>
                        <a:t>Согласие регуляторов и перенаправление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2925"/>
                          </a:solidFill>
                        </a:rPr>
                        <a:t>Согласие не презюмируется; один допуск на вид деятельности; правила перенаправления с ЦБ и NAPP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dirty="0">
                          <a:solidFill>
                            <a:srgbClr val="0F2925"/>
                          </a:solidFill>
                        </a:rPr>
                        <a:t>Управляющий совет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850" b="1" dirty="0">
                          <a:solidFill>
                            <a:srgbClr val="064E3B"/>
                          </a:solidFill>
                        </a:rPr>
                        <a:t>День 60</a:t>
                      </a:r>
                      <a:endParaRPr lang="en-US" sz="850" dirty="0"/>
                    </a:p>
                  </a:txBody>
                  <a:tcPr marL="54864" marR="54864" marT="27432" marB="27432" anchor="ctr">
                    <a:lnL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E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502920" y="6144768"/>
            <a:ext cx="182880" cy="182880"/>
          </a:xfrm>
          <a:prstGeom prst="rect">
            <a:avLst/>
          </a:prstGeom>
          <a:solidFill>
            <a:schemeClr val="accent1"/>
          </a:solidFill>
          <a:ln/>
        </p:spPr>
      </p:sp>
      <p:sp>
        <p:nvSpPr>
          <p:cNvPr id="6" name="Text 3"/>
          <p:cNvSpPr txBox="1"/>
          <p:nvPr/>
        </p:nvSpPr>
        <p:spPr>
          <a:xfrm>
            <a:off x="749808" y="6108192"/>
            <a:ext cx="3657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chemeClr val="tx2"/>
                </a:solidFill>
              </a:rPr>
              <a:t>— вносится на данном заседании</a:t>
            </a:r>
            <a:endParaRPr lang="en-US" sz="900" dirty="0"/>
          </a:p>
        </p:txBody>
      </p:sp>
      <p:sp>
        <p:nvSpPr>
          <p:cNvPr id="7" name="Shape 4"/>
          <p:cNvSpPr/>
          <p:nvPr/>
        </p:nvSpPr>
        <p:spPr>
          <a:xfrm>
            <a:off x="9417316" y="6409944"/>
            <a:ext cx="1418324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8" name="Text 5"/>
          <p:cNvSpPr txBox="1"/>
          <p:nvPr/>
        </p:nvSpPr>
        <p:spPr>
          <a:xfrm>
            <a:off x="9417316" y="6409944"/>
            <a:ext cx="141832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‹  Решения сегодня</a:t>
            </a:r>
            <a:endParaRPr lang="en-US" sz="900" dirty="0"/>
          </a:p>
        </p:txBody>
      </p:sp>
      <p:sp>
        <p:nvSpPr>
          <p:cNvPr id="9" name="go:decide">
            <a:hlinkClick r:id="rId1" tooltip="‹  Решения сегодня" action="ppaction://hlinksldjump"/>
          </p:cNvPr>
          <p:cNvSpPr/>
          <p:nvPr/>
        </p:nvSpPr>
        <p:spPr>
          <a:xfrm>
            <a:off x="9417316" y="6409944"/>
            <a:ext cx="1418324" cy="2560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0" name="Text 7"/>
          <p:cNvSpPr txBox="1"/>
          <p:nvPr/>
        </p:nvSpPr>
        <p:spPr>
          <a:xfrm>
            <a:off x="6297527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11" name="go:nav">
            <a:hlinkClick r:id="rId2" tooltip="Раздел: Меню" action="ppaction://hlinksldjump"/>
          </p:cNvPr>
          <p:cNvSpPr/>
          <p:nvPr/>
        </p:nvSpPr>
        <p:spPr>
          <a:xfrm>
            <a:off x="6297527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2" name="Text 9"/>
          <p:cNvSpPr txBox="1"/>
          <p:nvPr/>
        </p:nvSpPr>
        <p:spPr>
          <a:xfrm>
            <a:off x="6828260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13" name="go:key5">
            <a:hlinkClick r:id="rId3" tooltip="Раздел: Главное" action="ppaction://hlinksldjump"/>
          </p:cNvPr>
          <p:cNvSpPr/>
          <p:nvPr/>
        </p:nvSpPr>
        <p:spPr>
          <a:xfrm>
            <a:off x="6828260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4" name="Text 11"/>
          <p:cNvSpPr txBox="1"/>
          <p:nvPr/>
        </p:nvSpPr>
        <p:spPr>
          <a:xfrm>
            <a:off x="7523077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15" name="go:numbers">
            <a:hlinkClick r:id="rId4" tooltip="Раздел: Мир" action="ppaction://hlinksldjump"/>
          </p:cNvPr>
          <p:cNvSpPr/>
          <p:nvPr/>
        </p:nvSpPr>
        <p:spPr>
          <a:xfrm>
            <a:off x="7523077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6" name="Text 13"/>
          <p:cNvSpPr txBox="1"/>
          <p:nvPr/>
        </p:nvSpPr>
        <p:spPr>
          <a:xfrm>
            <a:off x="7957290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Кейсы</a:t>
            </a:r>
            <a:endParaRPr lang="en-US" sz="950" dirty="0"/>
          </a:p>
        </p:txBody>
      </p:sp>
      <p:sp>
        <p:nvSpPr>
          <p:cNvPr id="17" name="go:casemap">
            <a:hlinkClick r:id="rId5" tooltip="Раздел: Кейсы" action="ppaction://hlinksldjump"/>
          </p:cNvPr>
          <p:cNvSpPr/>
          <p:nvPr/>
        </p:nvSpPr>
        <p:spPr>
          <a:xfrm>
            <a:off x="7957290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18" name="Text 15"/>
          <p:cNvSpPr txBox="1"/>
          <p:nvPr/>
        </p:nvSpPr>
        <p:spPr>
          <a:xfrm>
            <a:off x="8553174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19" name="go:ecosystem">
            <a:hlinkClick r:id="rId6" tooltip="Раздел: Модель" action="ppaction://hlinksldjump"/>
          </p:cNvPr>
          <p:cNvSpPr/>
          <p:nvPr/>
        </p:nvSpPr>
        <p:spPr>
          <a:xfrm>
            <a:off x="8553174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0" name="Text 17"/>
          <p:cNvSpPr txBox="1"/>
          <p:nvPr/>
        </p:nvSpPr>
        <p:spPr>
          <a:xfrm>
            <a:off x="9182840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21" name="go:path">
            <a:hlinkClick r:id="rId7" tooltip="Раздел: Этапы" action="ppaction://hlinksldjump"/>
          </p:cNvPr>
          <p:cNvSpPr/>
          <p:nvPr/>
        </p:nvSpPr>
        <p:spPr>
          <a:xfrm>
            <a:off x="9182840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2" name="Text 19"/>
          <p:cNvSpPr txBox="1"/>
          <p:nvPr/>
        </p:nvSpPr>
        <p:spPr>
          <a:xfrm>
            <a:off x="9778724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23" name="go:criteria">
            <a:hlinkClick r:id="rId8" tooltip="Раздел: Защита" action="ppaction://hlinksldjump"/>
          </p:cNvPr>
          <p:cNvSpPr/>
          <p:nvPr/>
        </p:nvSpPr>
        <p:spPr>
          <a:xfrm>
            <a:off x="9778724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4" name="Text 21"/>
          <p:cNvSpPr txBox="1"/>
          <p:nvPr/>
        </p:nvSpPr>
        <p:spPr>
          <a:xfrm>
            <a:off x="10439759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25" name="go:pilots">
            <a:hlinkClick r:id="rId9" tooltip="Раздел: Пилоты" action="ppaction://hlinksldjump"/>
          </p:cNvPr>
          <p:cNvSpPr/>
          <p:nvPr/>
        </p:nvSpPr>
        <p:spPr>
          <a:xfrm>
            <a:off x="10439759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6" name="Shape 23"/>
          <p:cNvSpPr/>
          <p:nvPr/>
        </p:nvSpPr>
        <p:spPr>
          <a:xfrm>
            <a:off x="11100794" y="219456"/>
            <a:ext cx="587982" cy="274320"/>
          </a:xfrm>
          <a:prstGeom prst="roundRect">
            <a:avLst>
              <a:gd name="adj" fmla="val 50000"/>
            </a:avLst>
          </a:prstGeom>
          <a:solidFill>
            <a:schemeClr val="accent1">
              <a:alpha val="12000"/>
            </a:schemeClr>
          </a:solidFill>
          <a:ln w="9525">
            <a:solidFill>
              <a:schemeClr val="accent1">
                <a:alpha val="60000"/>
              </a:schemeClr>
            </a:solidFill>
            <a:prstDash val="solid"/>
          </a:ln>
        </p:spPr>
      </p:sp>
      <p:sp>
        <p:nvSpPr>
          <p:cNvPr id="27" name="Text 24"/>
          <p:cNvSpPr txBox="1"/>
          <p:nvPr/>
        </p:nvSpPr>
        <p:spPr>
          <a:xfrm>
            <a:off x="11100794" y="219456"/>
            <a:ext cx="58798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b="1" dirty="0">
                <a:solidFill>
                  <a:schemeClr val="accent1"/>
                </a:solidFill>
              </a:rPr>
              <a:t>● План</a:t>
            </a:r>
            <a:endParaRPr lang="en-US" sz="950" dirty="0"/>
          </a:p>
        </p:txBody>
      </p:sp>
      <p:sp>
        <p:nvSpPr>
          <p:cNvPr id="28" name="go:plan90">
            <a:hlinkClick r:id="rId10" tooltip="Раздел: План" action="ppaction://hlinksldjump"/>
          </p:cNvPr>
          <p:cNvSpPr/>
          <p:nvPr/>
        </p:nvSpPr>
        <p:spPr>
          <a:xfrm>
            <a:off x="11100794" y="219456"/>
            <a:ext cx="587982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35</a:t>
            </a:fld>
            <a:endParaRPr lang="en-US"/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1"/>
          <p:cNvSpPr/>
          <p:nvPr>
            <p:ph idx="102" type="title" hasCustomPrompt="1"/>
          </p:nvPr>
        </p:nvSpPr>
        <p:spPr>
          <a:xfrm>
            <a:off x="502920" y="704088"/>
            <a:ext cx="1118311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chemeClr val="tx1"/>
                </a:solidFill>
              </a:rPr>
              <a:t>Статус данных и что согласовать с моделью МЦЦТ</a:t>
            </a:r>
            <a:endParaRPr lang="en-US" sz="2800" dirty="0"/>
          </a:p>
        </p:txBody>
      </p:sp>
      <p:sp>
        <p:nvSpPr>
          <p:cNvPr id="3" name="Text 1"/>
          <p:cNvSpPr/>
          <p:nvPr>
            <p:ph idx="103" type="body" hasCustomPrompt="1"/>
          </p:nvPr>
        </p:nvSpPr>
        <p:spPr>
          <a:xfrm>
            <a:off x="502920" y="1252728"/>
            <a:ext cx="111831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chemeClr val="tx2"/>
                </a:solidFill>
              </a:rPr>
              <a:t>Отчет — проект для принятия решения: до внешнего цитирования цифр нужен верификационный спринт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02920" y="1810512"/>
            <a:ext cx="3566160" cy="4498848"/>
          </a:xfrm>
          <a:prstGeom prst="roundRect">
            <a:avLst>
              <a:gd name="adj" fmla="val 2564"/>
            </a:avLst>
          </a:prstGeom>
          <a:solidFill>
            <a:schemeClr val="bg2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685800" y="19202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МЕТКИ ТИПА ПОДТВЕРЖДЕНИЯ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685800" y="2295144"/>
            <a:ext cx="329184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685800" y="229514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R</a:t>
            </a:r>
            <a:endParaRPr lang="en-US" sz="1000" dirty="0"/>
          </a:p>
        </p:txBody>
      </p:sp>
      <p:sp>
        <p:nvSpPr>
          <p:cNvPr id="8" name="Text 6"/>
          <p:cNvSpPr txBox="1"/>
          <p:nvPr/>
        </p:nvSpPr>
        <p:spPr>
          <a:xfrm>
            <a:off x="1115568" y="224028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Результат, о котором сообщил регулятор или правительство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685800" y="2788920"/>
            <a:ext cx="329184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685800" y="278892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I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1115568" y="273405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Независимая оценка (наибольший вес)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685800" y="3282696"/>
            <a:ext cx="329184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328269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P</a:t>
            </a:r>
            <a:endParaRPr lang="en-US" sz="1000" dirty="0"/>
          </a:p>
        </p:txBody>
      </p:sp>
      <p:sp>
        <p:nvSpPr>
          <p:cNvPr id="14" name="Text 12"/>
          <p:cNvSpPr txBox="1"/>
          <p:nvPr/>
        </p:nvSpPr>
        <p:spPr>
          <a:xfrm>
            <a:off x="1115568" y="322783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По данным участника, поставщика или организатора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685800" y="3776472"/>
            <a:ext cx="329184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685800" y="3776472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S</a:t>
            </a:r>
            <a:endParaRPr lang="en-US" sz="1000" dirty="0"/>
          </a:p>
        </p:txBody>
      </p:sp>
      <p:sp>
        <p:nvSpPr>
          <p:cNvPr id="17" name="Text 15"/>
          <p:cNvSpPr txBox="1"/>
          <p:nvPr/>
        </p:nvSpPr>
        <p:spPr>
          <a:xfrm>
            <a:off x="1115568" y="3721608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Только вторичный источник (СМИ, обзоры)</a:t>
            </a:r>
            <a:endParaRPr lang="en-US" sz="950" dirty="0"/>
          </a:p>
        </p:txBody>
      </p:sp>
      <p:sp>
        <p:nvSpPr>
          <p:cNvPr id="18" name="Shape 16"/>
          <p:cNvSpPr/>
          <p:nvPr/>
        </p:nvSpPr>
        <p:spPr>
          <a:xfrm>
            <a:off x="685800" y="4270248"/>
            <a:ext cx="329184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85800" y="4270248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T</a:t>
            </a:r>
            <a:endParaRPr lang="en-US" sz="1000" dirty="0"/>
          </a:p>
        </p:txBody>
      </p:sp>
      <p:sp>
        <p:nvSpPr>
          <p:cNvPr id="20" name="Text 18"/>
          <p:cNvSpPr txBox="1"/>
          <p:nvPr/>
        </p:nvSpPr>
        <p:spPr>
          <a:xfrm>
            <a:off x="1115568" y="4215384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Цель или намерение, а не результат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685800" y="4764024"/>
            <a:ext cx="329184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85800" y="4764024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D</a:t>
            </a:r>
            <a:endParaRPr lang="en-US" sz="1000" dirty="0"/>
          </a:p>
        </p:txBody>
      </p:sp>
      <p:sp>
        <p:nvSpPr>
          <p:cNvPr id="23" name="Text 21"/>
          <p:cNvSpPr txBox="1"/>
          <p:nvPr/>
        </p:nvSpPr>
        <p:spPr>
          <a:xfrm>
            <a:off x="1115568" y="4709160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Расчет на основе заявленных данных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685800" y="5257800"/>
            <a:ext cx="329184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5" name="Text 23"/>
          <p:cNvSpPr txBox="1"/>
          <p:nvPr/>
        </p:nvSpPr>
        <p:spPr>
          <a:xfrm>
            <a:off x="685800" y="5257800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A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1115568" y="5202936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Интерпретация или рекомендация аналитика</a:t>
            </a:r>
            <a:endParaRPr lang="en-US" sz="950" dirty="0"/>
          </a:p>
        </p:txBody>
      </p:sp>
      <p:sp>
        <p:nvSpPr>
          <p:cNvPr id="27" name="Shape 25"/>
          <p:cNvSpPr/>
          <p:nvPr/>
        </p:nvSpPr>
        <p:spPr>
          <a:xfrm>
            <a:off x="685800" y="5751576"/>
            <a:ext cx="329184" cy="274320"/>
          </a:xfrm>
          <a:prstGeom prst="roundRect">
            <a:avLst>
              <a:gd name="adj" fmla="val 50000"/>
            </a:avLst>
          </a:prstGeom>
          <a:solidFill>
            <a:schemeClr val="accent5"/>
          </a:solidFill>
          <a:ln/>
        </p:spPr>
      </p:sp>
      <p:sp>
        <p:nvSpPr>
          <p:cNvPr id="28" name="Text 26"/>
          <p:cNvSpPr txBox="1"/>
          <p:nvPr/>
        </p:nvSpPr>
        <p:spPr>
          <a:xfrm>
            <a:off x="685800" y="5751576"/>
            <a:ext cx="32918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b="1" dirty="0">
                <a:solidFill>
                  <a:schemeClr val="bg1"/>
                </a:solidFill>
              </a:rPr>
              <a:t>W</a:t>
            </a:r>
            <a:endParaRPr lang="en-US" sz="1000" dirty="0"/>
          </a:p>
        </p:txBody>
      </p:sp>
      <p:sp>
        <p:nvSpPr>
          <p:cNvPr id="29" name="Text 27"/>
          <p:cNvSpPr txBox="1"/>
          <p:nvPr/>
        </p:nvSpPr>
        <p:spPr>
          <a:xfrm>
            <a:off x="1115568" y="5696712"/>
            <a:ext cx="2834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50" dirty="0">
                <a:solidFill>
                  <a:schemeClr val="tx1"/>
                </a:solidFill>
              </a:rPr>
              <a:t>Рабочие материалы МЦЦТ (проект, не проверено)</a:t>
            </a:r>
            <a:endParaRPr lang="en-US" sz="950" dirty="0"/>
          </a:p>
        </p:txBody>
      </p:sp>
      <p:sp>
        <p:nvSpPr>
          <p:cNvPr id="30" name="Shape 28"/>
          <p:cNvSpPr/>
          <p:nvPr/>
        </p:nvSpPr>
        <p:spPr>
          <a:xfrm>
            <a:off x="4206240" y="1810512"/>
            <a:ext cx="3611880" cy="4498848"/>
          </a:xfrm>
          <a:prstGeom prst="roundRect">
            <a:avLst>
              <a:gd name="adj" fmla="val 2532"/>
            </a:avLst>
          </a:prstGeom>
          <a:solidFill>
            <a:schemeClr val="bg2"/>
          </a:solidFill>
          <a:ln/>
        </p:spPr>
      </p:sp>
      <p:sp>
        <p:nvSpPr>
          <p:cNvPr id="31" name="Text 29"/>
          <p:cNvSpPr txBox="1"/>
          <p:nvPr/>
        </p:nvSpPr>
        <p:spPr>
          <a:xfrm>
            <a:off x="4389120" y="1920240"/>
            <a:ext cx="320040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spc="100" kern="0" dirty="0">
                <a:solidFill>
                  <a:schemeClr val="accent1"/>
                </a:solidFill>
              </a:rPr>
              <a:t>СТАТУС ПРОВЕРКИ</a:t>
            </a:r>
            <a:endParaRPr lang="en-US" sz="950" dirty="0"/>
          </a:p>
        </p:txBody>
      </p:sp>
      <p:sp>
        <p:nvSpPr>
          <p:cNvPr id="32" name="Text 30"/>
          <p:cNvSpPr txBox="1"/>
          <p:nvPr/>
        </p:nvSpPr>
        <p:spPr>
          <a:xfrm>
            <a:off x="4389120" y="2212848"/>
            <a:ext cx="3291840" cy="4023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Исследование источников проведено 20 октября 2026 г.</a:t>
            </a:r>
            <a:endParaRPr lang="en-US" sz="100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Большинство сайтов первоисточников не открылись напрямую: цифры взяты из пересказов в поисковой выдаче или вторичных источников</a:t>
            </a:r>
            <a:endParaRPr lang="en-US" sz="100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00" b="1" dirty="0">
                <a:solidFill>
                  <a:schemeClr val="tx1"/>
                </a:solidFill>
              </a:rPr>
              <a:t>Ни одна цифра не сверена с полным текстом первоисточника</a:t>
            </a:r>
            <a:r>
              <a:rPr lang="en-US" sz="1000" dirty="0">
                <a:solidFill>
                  <a:schemeClr val="tx1"/>
                </a:solidFill>
              </a:rPr>
              <a:t> (Приложение D, шаг 2)</a:t>
            </a:r>
            <a:endParaRPr lang="en-US" sz="100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Официальные тексты УП-233 и ЗРУ-1169 еще не изучены (шаг 1)</a:t>
            </a:r>
            <a:endParaRPr lang="en-US" sz="1000" dirty="0"/>
          </a:p>
          <a:p>
            <a:pPr marL="139700" indent="-139700">
              <a:spcAft>
                <a:spcPts val="600"/>
              </a:spcAft>
              <a:buSzPct val="100000"/>
              <a:buChar char="•"/>
            </a:pPr>
            <a:r>
              <a:rPr lang="en-US" sz="1000" dirty="0">
                <a:solidFill>
                  <a:schemeClr val="tx1"/>
                </a:solidFill>
              </a:rPr>
              <a:t>Плановые допущения — сроки, штат, цели — не являются базовыми значениями МЦЦТ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7955280" y="1810512"/>
            <a:ext cx="3730752" cy="4498848"/>
          </a:xfrm>
          <a:prstGeom prst="roundRect">
            <a:avLst>
              <a:gd name="adj" fmla="val 2451"/>
            </a:avLst>
          </a:prstGeom>
          <a:solidFill>
            <a:schemeClr val="accent4">
              <a:alpha val="8000"/>
            </a:schemeClr>
          </a:solidFill>
          <a:ln/>
        </p:spPr>
      </p:sp>
      <p:sp>
        <p:nvSpPr>
          <p:cNvPr id="34" name="Text 32"/>
          <p:cNvSpPr txBox="1"/>
          <p:nvPr/>
        </p:nvSpPr>
        <p:spPr>
          <a:xfrm>
            <a:off x="8138160" y="1920240"/>
            <a:ext cx="338328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00" b="1" spc="50" kern="0" dirty="0">
                <a:solidFill>
                  <a:schemeClr val="accent4"/>
                </a:solidFill>
              </a:rPr>
              <a:t>ЧТО СОГЛАСОВАТЬ С МОДЕЛЬЮ МЦЦТ</a:t>
            </a:r>
            <a:endParaRPr lang="en-US" sz="900" dirty="0"/>
          </a:p>
        </p:txBody>
      </p:sp>
      <p:sp>
        <p:nvSpPr>
          <p:cNvPr id="35" name="Text 33"/>
          <p:cNvSpPr txBox="1"/>
          <p:nvPr/>
        </p:nvSpPr>
        <p:spPr>
          <a:xfrm>
            <a:off x="8138160" y="224028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1</a:t>
            </a:r>
            <a:endParaRPr lang="en-US" sz="1100" dirty="0"/>
          </a:p>
        </p:txBody>
      </p:sp>
      <p:sp>
        <p:nvSpPr>
          <p:cNvPr id="36" name="Text 34"/>
          <p:cNvSpPr txBox="1"/>
          <p:nvPr/>
        </p:nvSpPr>
        <p:spPr>
          <a:xfrm>
            <a:off x="8430768" y="224028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Этапы:</a:t>
            </a:r>
            <a:r>
              <a:rPr lang="en-US" sz="950" dirty="0">
                <a:solidFill>
                  <a:schemeClr val="tx1"/>
                </a:solidFill>
              </a:rPr>
              <a:t> девять этапов отчета сведены к семи этапам МЦЦТ; сроки сохранены. Трек разъяснений — дополнение отчета</a:t>
            </a:r>
            <a:endParaRPr lang="en-US" sz="950" dirty="0"/>
          </a:p>
        </p:txBody>
      </p:sp>
      <p:sp>
        <p:nvSpPr>
          <p:cNvPr id="37" name="Text 35"/>
          <p:cNvSpPr txBox="1"/>
          <p:nvPr/>
        </p:nvSpPr>
        <p:spPr>
          <a:xfrm>
            <a:off x="8138160" y="2907792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2</a:t>
            </a:r>
            <a:endParaRPr lang="en-US" sz="1100" dirty="0"/>
          </a:p>
        </p:txBody>
      </p:sp>
      <p:sp>
        <p:nvSpPr>
          <p:cNvPr id="38" name="Text 36"/>
          <p:cNvSpPr txBox="1"/>
          <p:nvPr/>
        </p:nvSpPr>
        <p:spPr>
          <a:xfrm>
            <a:off x="8430768" y="2907792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Допуск:</a:t>
            </a:r>
            <a:r>
              <a:rPr lang="en-US" sz="950" dirty="0">
                <a:solidFill>
                  <a:schemeClr val="tx1"/>
                </a:solidFill>
              </a:rPr>
              <a:t> в модели МЦЦТ — Администрация; в отчете — Комитет по делегированию Совета. Предлагаем Комитет при Администрации</a:t>
            </a:r>
            <a:endParaRPr lang="en-US" sz="950" dirty="0"/>
          </a:p>
        </p:txBody>
      </p:sp>
      <p:sp>
        <p:nvSpPr>
          <p:cNvPr id="39" name="Text 37"/>
          <p:cNvSpPr txBox="1"/>
          <p:nvPr/>
        </p:nvSpPr>
        <p:spPr>
          <a:xfrm>
            <a:off x="8138160" y="3575304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3</a:t>
            </a:r>
            <a:endParaRPr lang="en-US" sz="1100" dirty="0"/>
          </a:p>
        </p:txBody>
      </p:sp>
      <p:sp>
        <p:nvSpPr>
          <p:cNvPr id="40" name="Text 38"/>
          <p:cNvSpPr txBox="1"/>
          <p:nvPr/>
        </p:nvSpPr>
        <p:spPr>
          <a:xfrm>
            <a:off x="8430768" y="3575304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Ст. 39–43, 41, 43</a:t>
            </a:r>
            <a:r>
              <a:rPr lang="en-US" sz="950" dirty="0">
                <a:solidFill>
                  <a:schemeClr val="tx1"/>
                </a:solidFill>
              </a:rPr>
              <a:t> — по материалам МЦЦТ; с текстом закона не сверены</a:t>
            </a:r>
            <a:endParaRPr lang="en-US" sz="950" dirty="0"/>
          </a:p>
        </p:txBody>
      </p:sp>
      <p:sp>
        <p:nvSpPr>
          <p:cNvPr id="41" name="Text 39"/>
          <p:cNvSpPr txBox="1"/>
          <p:nvPr/>
        </p:nvSpPr>
        <p:spPr>
          <a:xfrm>
            <a:off x="8138160" y="4242816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4</a:t>
            </a:r>
            <a:endParaRPr lang="en-US" sz="1100" dirty="0"/>
          </a:p>
        </p:txBody>
      </p:sp>
      <p:sp>
        <p:nvSpPr>
          <p:cNvPr id="42" name="Text 40"/>
          <p:cNvSpPr txBox="1"/>
          <p:nvPr/>
        </p:nvSpPr>
        <p:spPr>
          <a:xfrm>
            <a:off x="8430768" y="4242816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AFSA</a:t>
            </a:r>
            <a:r>
              <a:rPr lang="en-US" sz="950" dirty="0">
                <a:solidFill>
                  <a:schemeClr val="tx1"/>
                </a:solidFill>
              </a:rPr>
              <a:t> в отчете — лишь кратко (илл. 20, прил. A); </a:t>
            </a:r>
            <a:r>
              <a:rPr lang="en-US" sz="950" b="1" dirty="0">
                <a:solidFill>
                  <a:schemeClr val="tx1"/>
                </a:solidFill>
              </a:rPr>
              <a:t>ЦБ Ирландии</a:t>
            </a:r>
            <a:r>
              <a:rPr lang="en-US" sz="950" dirty="0">
                <a:solidFill>
                  <a:schemeClr val="tx1"/>
                </a:solidFill>
              </a:rPr>
              <a:t> нет</a:t>
            </a:r>
            <a:endParaRPr lang="en-US" sz="950" dirty="0"/>
          </a:p>
        </p:txBody>
      </p:sp>
      <p:sp>
        <p:nvSpPr>
          <p:cNvPr id="43" name="Text 41"/>
          <p:cNvSpPr txBox="1"/>
          <p:nvPr/>
        </p:nvSpPr>
        <p:spPr>
          <a:xfrm>
            <a:off x="8138160" y="4910328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5</a:t>
            </a:r>
            <a:endParaRPr lang="en-US" sz="1100" dirty="0"/>
          </a:p>
        </p:txBody>
      </p:sp>
      <p:sp>
        <p:nvSpPr>
          <p:cNvPr id="44" name="Text 42"/>
          <p:cNvSpPr txBox="1"/>
          <p:nvPr/>
        </p:nvSpPr>
        <p:spPr>
          <a:xfrm>
            <a:off x="8430768" y="4910328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IT Park</a:t>
            </a:r>
            <a:r>
              <a:rPr lang="en-US" sz="950" dirty="0">
                <a:solidFill>
                  <a:schemeClr val="tx1"/>
                </a:solidFill>
              </a:rPr>
              <a:t> — предлагаемая возможность, а не заключенное соглашение</a:t>
            </a:r>
            <a:endParaRPr lang="en-US" sz="950" dirty="0"/>
          </a:p>
        </p:txBody>
      </p:sp>
      <p:sp>
        <p:nvSpPr>
          <p:cNvPr id="45" name="Text 43"/>
          <p:cNvSpPr txBox="1"/>
          <p:nvPr/>
        </p:nvSpPr>
        <p:spPr>
          <a:xfrm>
            <a:off x="8138160" y="557784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00" b="1" dirty="0">
                <a:solidFill>
                  <a:schemeClr val="accent4"/>
                </a:solidFill>
              </a:rPr>
              <a:t>6</a:t>
            </a:r>
            <a:endParaRPr lang="en-US" sz="1100" dirty="0"/>
          </a:p>
        </p:txBody>
      </p:sp>
      <p:sp>
        <p:nvSpPr>
          <p:cNvPr id="46" name="Text 44"/>
          <p:cNvSpPr txBox="1"/>
          <p:nvPr/>
        </p:nvSpPr>
        <p:spPr>
          <a:xfrm>
            <a:off x="8430768" y="5577840"/>
            <a:ext cx="3154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950" b="1" dirty="0">
                <a:solidFill>
                  <a:schemeClr val="tx1"/>
                </a:solidFill>
              </a:rPr>
              <a:t>Название:</a:t>
            </a:r>
            <a:r>
              <a:rPr lang="en-US" sz="950" dirty="0">
                <a:solidFill>
                  <a:schemeClr val="tx1"/>
                </a:solidFill>
              </a:rPr>
              <a:t> МЦЦТ в презентации и EUz (Enterprise Uzbekistan) в отчете — одна организация</a:t>
            </a:r>
            <a:endParaRPr lang="en-US" sz="950" dirty="0"/>
          </a:p>
        </p:txBody>
      </p:sp>
      <p:sp>
        <p:nvSpPr>
          <p:cNvPr id="47" name="Shape 45"/>
          <p:cNvSpPr/>
          <p:nvPr/>
        </p:nvSpPr>
        <p:spPr>
          <a:xfrm>
            <a:off x="9813327" y="6409944"/>
            <a:ext cx="1022313" cy="256032"/>
          </a:xfrm>
          <a:prstGeom prst="roundRect">
            <a:avLst>
              <a:gd name="adj" fmla="val 50000"/>
            </a:avLst>
          </a:prstGeom>
          <a:solidFill>
            <a:schemeClr val="bg1"/>
          </a:solidFill>
          <a:ln w="9525">
            <a:solidFill>
              <a:schemeClr val="accent1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9813327" y="6409944"/>
            <a:ext cx="1022313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chemeClr val="accent1"/>
                </a:solidFill>
              </a:rPr>
              <a:t>‹  Навигатор</a:t>
            </a:r>
            <a:endParaRPr lang="en-US" sz="900" dirty="0"/>
          </a:p>
        </p:txBody>
      </p:sp>
      <p:sp>
        <p:nvSpPr>
          <p:cNvPr id="49" name="go:nav">
            <a:hlinkClick r:id="rId1" tooltip="‹  Навигатор" action="ppaction://hlinksldjump"/>
          </p:cNvPr>
          <p:cNvSpPr/>
          <p:nvPr/>
        </p:nvSpPr>
        <p:spPr>
          <a:xfrm>
            <a:off x="9813327" y="6409944"/>
            <a:ext cx="1022313" cy="256032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0" name="Text 48"/>
          <p:cNvSpPr txBox="1"/>
          <p:nvPr/>
        </p:nvSpPr>
        <p:spPr>
          <a:xfrm>
            <a:off x="6422720" y="219456"/>
            <a:ext cx="49415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Меню</a:t>
            </a:r>
            <a:endParaRPr lang="en-US" sz="950" dirty="0"/>
          </a:p>
        </p:txBody>
      </p:sp>
      <p:sp>
        <p:nvSpPr>
          <p:cNvPr id="51" name="go:nav">
            <a:hlinkClick r:id="rId2" tooltip="Раздел: Меню" action="ppaction://hlinksldjump"/>
          </p:cNvPr>
          <p:cNvSpPr/>
          <p:nvPr/>
        </p:nvSpPr>
        <p:spPr>
          <a:xfrm>
            <a:off x="6422720" y="219456"/>
            <a:ext cx="49415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2" name="Text 50"/>
          <p:cNvSpPr txBox="1"/>
          <p:nvPr/>
        </p:nvSpPr>
        <p:spPr>
          <a:xfrm>
            <a:off x="6953453" y="219456"/>
            <a:ext cx="658241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Главное</a:t>
            </a:r>
            <a:endParaRPr lang="en-US" sz="950" dirty="0"/>
          </a:p>
        </p:txBody>
      </p:sp>
      <p:sp>
        <p:nvSpPr>
          <p:cNvPr id="53" name="go:key5">
            <a:hlinkClick r:id="rId3" tooltip="Раздел: Главное" action="ppaction://hlinksldjump"/>
          </p:cNvPr>
          <p:cNvSpPr/>
          <p:nvPr/>
        </p:nvSpPr>
        <p:spPr>
          <a:xfrm>
            <a:off x="6953453" y="219456"/>
            <a:ext cx="658241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4" name="Text 52"/>
          <p:cNvSpPr txBox="1"/>
          <p:nvPr/>
        </p:nvSpPr>
        <p:spPr>
          <a:xfrm>
            <a:off x="7648270" y="219456"/>
            <a:ext cx="397637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Мир</a:t>
            </a:r>
            <a:endParaRPr lang="en-US" sz="950" dirty="0"/>
          </a:p>
        </p:txBody>
      </p:sp>
      <p:sp>
        <p:nvSpPr>
          <p:cNvPr id="55" name="go:numbers">
            <a:hlinkClick r:id="rId4" tooltip="Раздел: Мир" action="ppaction://hlinksldjump"/>
          </p:cNvPr>
          <p:cNvSpPr/>
          <p:nvPr/>
        </p:nvSpPr>
        <p:spPr>
          <a:xfrm>
            <a:off x="7648270" y="219456"/>
            <a:ext cx="397637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6" name="Text 54"/>
          <p:cNvSpPr txBox="1"/>
          <p:nvPr/>
        </p:nvSpPr>
        <p:spPr>
          <a:xfrm>
            <a:off x="808248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Кейсы</a:t>
            </a:r>
            <a:endParaRPr lang="en-US" sz="950" dirty="0"/>
          </a:p>
        </p:txBody>
      </p:sp>
      <p:sp>
        <p:nvSpPr>
          <p:cNvPr id="57" name="go:casemap">
            <a:hlinkClick r:id="rId5" tooltip="Раздел: Кейсы" action="ppaction://hlinksldjump"/>
          </p:cNvPr>
          <p:cNvSpPr/>
          <p:nvPr/>
        </p:nvSpPr>
        <p:spPr>
          <a:xfrm>
            <a:off x="808248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58" name="Text 56"/>
          <p:cNvSpPr txBox="1"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Модель</a:t>
            </a:r>
            <a:endParaRPr lang="en-US" sz="950" dirty="0"/>
          </a:p>
        </p:txBody>
      </p:sp>
      <p:sp>
        <p:nvSpPr>
          <p:cNvPr id="59" name="go:ecosystem">
            <a:hlinkClick r:id="rId6" tooltip="Раздел: Модель" action="ppaction://hlinksldjump"/>
          </p:cNvPr>
          <p:cNvSpPr/>
          <p:nvPr/>
        </p:nvSpPr>
        <p:spPr>
          <a:xfrm>
            <a:off x="8678367" y="219456"/>
            <a:ext cx="593090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0" name="Text 58"/>
          <p:cNvSpPr txBox="1"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Этапы</a:t>
            </a:r>
            <a:endParaRPr lang="en-US" sz="950" dirty="0"/>
          </a:p>
        </p:txBody>
      </p:sp>
      <p:sp>
        <p:nvSpPr>
          <p:cNvPr id="61" name="go:path">
            <a:hlinkClick r:id="rId7" tooltip="Раздел: Этапы" action="ppaction://hlinksldjump"/>
          </p:cNvPr>
          <p:cNvSpPr/>
          <p:nvPr/>
        </p:nvSpPr>
        <p:spPr>
          <a:xfrm>
            <a:off x="9308033" y="219456"/>
            <a:ext cx="55930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2" name="Text 60"/>
          <p:cNvSpPr txBox="1"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Защита</a:t>
            </a:r>
            <a:endParaRPr lang="en-US" sz="950" dirty="0"/>
          </a:p>
        </p:txBody>
      </p:sp>
      <p:sp>
        <p:nvSpPr>
          <p:cNvPr id="63" name="go:criteria">
            <a:hlinkClick r:id="rId8" tooltip="Раздел: Защита" action="ppaction://hlinksldjump"/>
          </p:cNvPr>
          <p:cNvSpPr/>
          <p:nvPr/>
        </p:nvSpPr>
        <p:spPr>
          <a:xfrm>
            <a:off x="9903917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4" name="Text 62"/>
          <p:cNvSpPr txBox="1"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Пилоты</a:t>
            </a:r>
            <a:endParaRPr lang="en-US" sz="950" dirty="0"/>
          </a:p>
        </p:txBody>
      </p:sp>
      <p:sp>
        <p:nvSpPr>
          <p:cNvPr id="65" name="go:pilots">
            <a:hlinkClick r:id="rId9" tooltip="Раздел: Пилоты" action="ppaction://hlinksldjump"/>
          </p:cNvPr>
          <p:cNvSpPr/>
          <p:nvPr/>
        </p:nvSpPr>
        <p:spPr>
          <a:xfrm>
            <a:off x="10564952" y="219456"/>
            <a:ext cx="624459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66" name="Text 64"/>
          <p:cNvSpPr txBox="1"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50" dirty="0">
                <a:solidFill>
                  <a:schemeClr val="tx2"/>
                </a:solidFill>
              </a:rPr>
              <a:t>План</a:t>
            </a:r>
            <a:endParaRPr lang="en-US" sz="950" dirty="0"/>
          </a:p>
        </p:txBody>
      </p:sp>
      <p:sp>
        <p:nvSpPr>
          <p:cNvPr id="67" name="go:plan90">
            <a:hlinkClick r:id="rId10" tooltip="Раздел: План" action="ppaction://hlinksldjump"/>
          </p:cNvPr>
          <p:cNvSpPr/>
          <p:nvPr/>
        </p:nvSpPr>
        <p:spPr>
          <a:xfrm>
            <a:off x="11225987" y="219456"/>
            <a:ext cx="462788" cy="274320"/>
          </a:xfrm>
          <a:prstGeom prst="rect">
            <a:avLst/>
          </a:prstGeom>
          <a:solidFill>
            <a:srgbClr val="FFFFFF">
              <a:alpha val="0"/>
            </a:srgbClr>
          </a:solidFill>
          <a:ln/>
        </p:spPr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0972800" y="6400800"/>
            <a:ext cx="420624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 lIns="0" tIns="0" rIns="0" bIns="0" anchor="ctr"/>
          <a:lstStyle>
            <a:lvl1pPr>
              <a:defRPr sz="1000">
                <a:solidFill>
                  <a:schemeClr val="accent1"/>
                </a:solidFill>
              </a:defRPr>
            </a:lvl1pPr>
          </a:lstStyle>
          <a:p>
            <a:pPr algn="r"/>
            <a:fld id="{F7021451-1387-4CA6-816F-3879F97B5CBC}" type="slidenum">
              <a:rPr b="1" lang="en-US"/>
              <a:t>36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nterprise Uzbekistan Sandbox">
  <a:themeElements>
    <a:clrScheme name="Enterprise Uzbekistan Sandbox">
      <a:dk1>
        <a:srgbClr val="0F2925"/>
      </a:dk1>
      <a:lt1>
        <a:srgbClr val="FFFFFF"/>
      </a:lt1>
      <a:dk2>
        <a:srgbClr val="52665F"/>
      </a:dk2>
      <a:lt2>
        <a:srgbClr val="F1F6F4"/>
      </a:lt2>
      <a:accent1>
        <a:srgbClr val="059669"/>
      </a:accent1>
      <a:accent2>
        <a:srgbClr val="2563EB"/>
      </a:accent2>
      <a:accent3>
        <a:srgbClr val="7C3AED"/>
      </a:accent3>
      <a:accent4>
        <a:srgbClr val="D9480F"/>
      </a:accent4>
      <a:accent5>
        <a:srgbClr val="064E3B"/>
      </a:accent5>
      <a:accent6>
        <a:srgbClr val="10B981"/>
      </a:accent6>
      <a:hlink>
        <a:srgbClr val="047857"/>
      </a:hlink>
      <a:folHlink>
        <a:srgbClr val="52665F"/>
      </a:folHlink>
    </a:clrScheme>
    <a:fontScheme name="Enterprise Uzbekistan Sandbox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36</Slides>
  <Notes>36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3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  <vt:lpstr>Slide 29</vt:lpstr>
      <vt:lpstr>Slide 30</vt:lpstr>
      <vt:lpstr>Slide 31</vt:lpstr>
      <vt:lpstr>Slide 32</vt:lpstr>
      <vt:lpstr>Slide 33</vt:lpstr>
      <vt:lpstr>Slide 34</vt:lpstr>
      <vt:lpstr>Slide 35</vt:lpstr>
      <vt:lpstr>Slide 36</vt:lpstr>
    </vt:vector>
  </TitlesOfParts>
  <Company>Enterprise Uzbekistan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Регуляторная песочница МЦЦТ: международный опыт и модель запуска</dc:title>
  <dc:subject>Интерактивная презентация к стратегическому отчету</dc:subject>
  <dc:creator>Enterprise Uzbekistan</dc:creator>
  <cp:lastModifiedBy>Enterprise Uzbekistan</cp:lastModifiedBy>
  <cp:revision>1</cp:revision>
  <dcterms:created xsi:type="dcterms:W3CDTF">2026-10-21T06:32:00Z</dcterms:created>
  <dcterms:modified xsi:type="dcterms:W3CDTF">2026-10-21T06:32:00Z</dcterms:modified>
</cp:coreProperties>
</file>